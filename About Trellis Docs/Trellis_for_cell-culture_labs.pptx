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10287000" cx="18288000"/>
  <p:notesSz cx="10287000" cy="1828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9" roundtripDataSignature="AMtx7mg4LGGUdKZ8bcLzeJmhT67o5tM7G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customschemas.google.com/relationships/presentationmetadata" Target="metadata"/><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not a generic AI deck. It is about one specific high-value workflow: bioprocess development. Keep the cover quiet and premium.</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AI is not remaining scarce — the cost curve is bending fast enough that every serious company will have access to powerful intelligence. Not a claim that AI and PCs are equivalent. Transition: if intelligence becomes widely available, access to AI will not be enough.</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 name="Google Shape;4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bottleneck shifts from 'Can we use AI?' to 'Do we know where and how to embed AI inside our core work?' Large companies keep assets, data, brands, facilities and regulatory depth — but headcount and legacy IT are less protective when AI-native teams coordinate expert work with fewer handoffs. Transition: this pattern has happened before.</a:t>
            </a:r>
            <a:endParaRPr/>
          </a:p>
        </p:txBody>
      </p:sp>
      <p:sp>
        <p:nvSpPr>
          <p:cNvPr id="42" name="Google Shape;4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 name="Google Shape;6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answer to the previous slide. Which problem should biotech use AI to solve? The bioprocess. Full-bleed statement slide, deliberately quiet, to mark the narrative turn from the general AI thesis into bioprocess development.</a:t>
            </a:r>
            <a:endParaRPr/>
          </a:p>
        </p:txBody>
      </p:sp>
      <p:sp>
        <p:nvSpPr>
          <p:cNvPr id="65" name="Google Shape;6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molecule creates the therapeutic promise; the process determines whether it becomes a reliable medicine. Situation: discovery finds a molecule, but patients receive a product manufactured repeatedly across batches, scales and sites. Complication: in biologics the manufacturing environment influences the product itself and weak process understanding surfaces later as CMC delays, comparability burden, failed tech transfers and supply risk.</a:t>
            </a:r>
            <a:endParaRPr/>
          </a:p>
        </p:txBody>
      </p:sp>
      <p:sp>
        <p:nvSpPr>
          <p:cNvPr id="79" name="Google Shape;7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role of experimentation changes. Informative experiments — different feed profiles, temperature shifts, medium changes, boundary probes, replicates — are chosen because they estimate parameters, discriminate mechanisms and reveal interactions. Together with prior knowledge and existing process data they calibrate and challenge a predictive process model: mechanistic, statistical or hybrid, with quantified uncertainty. The model is then used to explore the process virtually — predicting untested conditions, locating the optimum and the robust operating region within a validated model domain, and quantifying the probability of meeting targets. The decisive point is the loop: the model directs which experiment is run next, to learn, to challenge, or to confirm. Only a mature model-based recommendation is taken to experimental confirmation at the optimum and its boundaries. Every run should either reduce decision-relevant uncertainty or confirm a model-based decision.</a:t>
            </a:r>
            <a:endParaRPr/>
          </a:p>
        </p:txBody>
      </p:sp>
      <p:sp>
        <p:nvSpPr>
          <p:cNvPr id="105" name="Google Shape;10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Model-centric development needs a complete multidisciplinary capability stack. First barrier: it is hard to assemble — the specialists are scarce, shared across programs and pulled by competing priorities. Second barrier: even where the expertise exists, it is hard to use as one system. On the right, every specialist interaction passes through the scientist: context goes out, disconnected output comes back, and nothing connects specialist to specialist. The consequence: the bioprocess scientist becomes the manual integration layer — repeatedly transferring context, coordinating analyses and reconciling disconnected outputs.</a:t>
            </a:r>
            <a:endParaRPr/>
          </a:p>
        </p:txBody>
      </p:sp>
      <p:sp>
        <p:nvSpPr>
          <p:cNvPr id="122" name="Google Shape;12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4" name="Google Shape;16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That is why we built Trellis. On the left are the five specialist agents Trellis brings into the workflow — DoE and statistics, protocols, data engineering, modelling, and ML and optimization — each doing real scientific work. On the right, those same capabilities run as one closed loop with the bioprocess scientist firmly at the centre: the scientist defines objectives, reviews the evidence and makes the decisions, while the agents support each stage. All of them operate on one shared, continuously evolving representation of the process. AI orchestrates the workflow; validated tools do the scientific work; the scientist remains in control.</a:t>
            </a:r>
            <a:endParaRPr/>
          </a:p>
        </p:txBody>
      </p:sp>
      <p:sp>
        <p:nvSpPr>
          <p:cNvPr id="165" name="Google Shape;16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biopharma use case at L1. A repeatable CHO process exists, but interacting media, feed and operating choices limit performance. Three scientific decisions: design one joint search across media, feed, schedule, pH and the temperature shift; learn how interventions move cell, metabolite and titer behaviour and the measured quality responses; then recommend and confirm a candidate. Underneath, the scientist sets the objective and constraints, Trellis agents run the learning cycle, and the scientist approves the next experiment. Volumetric productivity is the single objective; culture health and measured quality are guardrails. All plots are illustrative, not results.</a:t>
            </a:r>
            <a:endParaRPr/>
          </a:p>
        </p:txBody>
      </p:sp>
      <p:sp>
        <p:nvSpPr>
          <p:cNvPr id="218" name="Google Shape;21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Where else Trellis creates value in CHO upstream development, beyond the media and feed example. Three recurring decisions: adapt a platform process to a new production clone, recover low or variable performance through ranked and tested hypotheses, and define a candidate operating window before formal process characterization. Quality is treated as measured responses, never continuous trajectories, and nothing here implies a validated range or a regulatory design space.</a:t>
            </a:r>
            <a:endParaRPr/>
          </a:p>
        </p:txBody>
      </p:sp>
      <p:sp>
        <p:nvSpPr>
          <p:cNvPr id="249" name="Google Shape;24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is about partnership and delivery credibility, not biography. The takeaway: the customer's scientists work directly with a multidisciplinary team that understands bioprocess science, modelling, AI, data and software. Two leadership profiles, three technical profiles. The logo line is proof of relevant experience, not an endorsement.</a:t>
            </a:r>
            <a:endParaRPr/>
          </a:p>
        </p:txBody>
      </p:sp>
      <p:sp>
        <p:nvSpPr>
          <p:cNvPr id="276" name="Google Shape;27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 not ask the customer to transform all process development at once — start with one important problem and prove measurable value. Duration 8–12 weeks depending on data and scope. Recommended design-partner fee (keep OUT of the deck if early): India INR 15–30 lakh; international USD 25k–60k. Deliverables: configured Trellis workflow, structured dataset, DOE/protocol/analysis workflow, predictive model with uncertainty, next-experiment recommendations, final readout with measured impact and roadmap.</a:t>
            </a:r>
            <a:endParaRPr/>
          </a:p>
        </p:txBody>
      </p:sp>
      <p:sp>
        <p:nvSpPr>
          <p:cNvPr id="332" name="Google Shape;332;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Judge the pilot on measurable operational and scientific outcomes, not AI novelty. The baseline and readout columns describe how each KPI is established — no numerical claims are made before kickoff. Business value: shorter decision cycles, fewer low-information experiments, greater confidence before scale-up, knowledge preserved across teams.</a:t>
            </a:r>
            <a:endParaRPr/>
          </a:p>
        </p:txBody>
      </p:sp>
      <p:sp>
        <p:nvSpPr>
          <p:cNvPr id="377" name="Google Shape;37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5" name="Google Shape;44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Close on the commercial ask. One process, one high-value objective, one 8–12 week paid pilot. Ask the room to name the first process-development problem before the meeting ends.</a:t>
            </a:r>
            <a:endParaRPr/>
          </a:p>
        </p:txBody>
      </p:sp>
      <p:sp>
        <p:nvSpPr>
          <p:cNvPr id="446" name="Google Shape;44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2.png"/><Relationship Id="rId5" Type="http://schemas.openxmlformats.org/officeDocument/2006/relationships/image" Target="../media/image4.png"/><Relationship Id="rId6" Type="http://schemas.openxmlformats.org/officeDocument/2006/relationships/image" Target="../media/image10.png"/><Relationship Id="rId7" Type="http://schemas.openxmlformats.org/officeDocument/2006/relationships/image" Target="../media/image9.png"/><Relationship Id="rId8"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1.png"/><Relationship Id="rId10" Type="http://schemas.openxmlformats.org/officeDocument/2006/relationships/image" Target="../media/image1.png"/><Relationship Id="rId9" Type="http://schemas.openxmlformats.org/officeDocument/2006/relationships/image" Target="../media/image2.png"/><Relationship Id="rId5" Type="http://schemas.openxmlformats.org/officeDocument/2006/relationships/image" Target="../media/image8.png"/><Relationship Id="rId6" Type="http://schemas.openxmlformats.org/officeDocument/2006/relationships/image" Target="../media/image4.png"/><Relationship Id="rId7" Type="http://schemas.openxmlformats.org/officeDocument/2006/relationships/image" Target="../media/image10.png"/><Relationship Id="rId8"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0.png"/><Relationship Id="rId4" Type="http://schemas.openxmlformats.org/officeDocument/2006/relationships/image" Target="../media/image23.png"/><Relationship Id="rId5" Type="http://schemas.openxmlformats.org/officeDocument/2006/relationships/image" Target="../media/image21.png"/><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2.png"/><Relationship Id="rId4" Type="http://schemas.openxmlformats.org/officeDocument/2006/relationships/image" Target="../media/image29.png"/><Relationship Id="rId5" Type="http://schemas.openxmlformats.org/officeDocument/2006/relationships/image" Target="../media/image17.png"/><Relationship Id="rId6" Type="http://schemas.openxmlformats.org/officeDocument/2006/relationships/image" Target="../media/image2.png"/></Relationships>
</file>

<file path=ppt/slides/_rels/slide11.xml.rels><?xml version="1.0" encoding="UTF-8" standalone="yes"?><Relationships xmlns="http://schemas.openxmlformats.org/package/2006/relationships"><Relationship Id="rId20" Type="http://schemas.openxmlformats.org/officeDocument/2006/relationships/image" Target="../media/image34.png"/><Relationship Id="rId11" Type="http://schemas.openxmlformats.org/officeDocument/2006/relationships/image" Target="../media/image25.jpg"/><Relationship Id="rId22" Type="http://schemas.openxmlformats.org/officeDocument/2006/relationships/image" Target="../media/image2.png"/><Relationship Id="rId10" Type="http://schemas.openxmlformats.org/officeDocument/2006/relationships/hyperlink" Target="https://www.linkedin.com/in/anmol-goel-iitd/" TargetMode="External"/><Relationship Id="rId21" Type="http://schemas.openxmlformats.org/officeDocument/2006/relationships/image" Target="../media/image38.png"/><Relationship Id="rId13" Type="http://schemas.openxmlformats.org/officeDocument/2006/relationships/image" Target="../media/image33.png"/><Relationship Id="rId12" Type="http://schemas.openxmlformats.org/officeDocument/2006/relationships/hyperlink" Target="https://www.linkedin.com/in/nikhil-bhamwani/" TargetMode="External"/><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jpg"/><Relationship Id="rId4" Type="http://schemas.openxmlformats.org/officeDocument/2006/relationships/hyperlink" Target="https://www.linkedin.com/in/pushkar-pendse/" TargetMode="External"/><Relationship Id="rId9" Type="http://schemas.openxmlformats.org/officeDocument/2006/relationships/image" Target="../media/image24.jpg"/><Relationship Id="rId15" Type="http://schemas.openxmlformats.org/officeDocument/2006/relationships/image" Target="../media/image31.png"/><Relationship Id="rId14" Type="http://schemas.openxmlformats.org/officeDocument/2006/relationships/image" Target="../media/image27.png"/><Relationship Id="rId17" Type="http://schemas.openxmlformats.org/officeDocument/2006/relationships/image" Target="../media/image28.png"/><Relationship Id="rId16" Type="http://schemas.openxmlformats.org/officeDocument/2006/relationships/image" Target="../media/image16.png"/><Relationship Id="rId5" Type="http://schemas.openxmlformats.org/officeDocument/2006/relationships/image" Target="../media/image19.jpg"/><Relationship Id="rId19" Type="http://schemas.openxmlformats.org/officeDocument/2006/relationships/image" Target="../media/image32.png"/><Relationship Id="rId6" Type="http://schemas.openxmlformats.org/officeDocument/2006/relationships/hyperlink" Target="https://www.linkedin.com/in/shilpa-nargund/" TargetMode="External"/><Relationship Id="rId18" Type="http://schemas.openxmlformats.org/officeDocument/2006/relationships/image" Target="../media/image20.png"/><Relationship Id="rId7" Type="http://schemas.openxmlformats.org/officeDocument/2006/relationships/image" Target="../media/image26.jpg"/><Relationship Id="rId8" Type="http://schemas.openxmlformats.org/officeDocument/2006/relationships/hyperlink" Target="https://www.linkedin.com/in/gauravsdeshmukh/"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pic>
        <p:nvPicPr>
          <p:cNvPr descr="preencoded.png" id="16" name="Google Shape;16;p1"/>
          <p:cNvPicPr preferRelativeResize="0"/>
          <p:nvPr/>
        </p:nvPicPr>
        <p:blipFill rotWithShape="1">
          <a:blip r:embed="rId3">
            <a:alphaModFix/>
          </a:blip>
          <a:srcRect b="0" l="0" r="0" t="0"/>
          <a:stretch/>
        </p:blipFill>
        <p:spPr>
          <a:xfrm>
            <a:off x="7715128" y="533344"/>
            <a:ext cx="12382500" cy="9220990"/>
          </a:xfrm>
          <a:prstGeom prst="rect">
            <a:avLst/>
          </a:prstGeom>
          <a:noFill/>
          <a:ln>
            <a:noFill/>
          </a:ln>
        </p:spPr>
      </p:pic>
      <p:pic>
        <p:nvPicPr>
          <p:cNvPr descr="preencoded.png" id="17" name="Google Shape;17;p1"/>
          <p:cNvPicPr preferRelativeResize="0"/>
          <p:nvPr/>
        </p:nvPicPr>
        <p:blipFill rotWithShape="1">
          <a:blip r:embed="rId4">
            <a:alphaModFix/>
          </a:blip>
          <a:srcRect b="0" l="0" r="0" t="0"/>
          <a:stretch/>
        </p:blipFill>
        <p:spPr>
          <a:xfrm>
            <a:off x="1047715" y="628647"/>
            <a:ext cx="1647031" cy="476250"/>
          </a:xfrm>
          <a:prstGeom prst="rect">
            <a:avLst/>
          </a:prstGeom>
          <a:noFill/>
          <a:ln>
            <a:noFill/>
          </a:ln>
        </p:spPr>
      </p:pic>
      <p:sp>
        <p:nvSpPr>
          <p:cNvPr id="18" name="Google Shape;18;p1"/>
          <p:cNvSpPr/>
          <p:nvPr/>
        </p:nvSpPr>
        <p:spPr>
          <a:xfrm>
            <a:off x="1047715" y="3600248"/>
            <a:ext cx="11283677" cy="335321"/>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TRELLIS BY LEMNISCA</a:t>
            </a:r>
            <a:endParaRPr b="0" i="0" sz="1800" u="none" cap="none" strike="noStrike">
              <a:solidFill>
                <a:schemeClr val="dk1"/>
              </a:solidFill>
              <a:latin typeface="Calibri"/>
              <a:ea typeface="Calibri"/>
              <a:cs typeface="Calibri"/>
              <a:sym typeface="Calibri"/>
            </a:endParaRPr>
          </a:p>
        </p:txBody>
      </p:sp>
      <p:sp>
        <p:nvSpPr>
          <p:cNvPr id="19" name="Google Shape;19;p1"/>
          <p:cNvSpPr/>
          <p:nvPr/>
        </p:nvSpPr>
        <p:spPr>
          <a:xfrm>
            <a:off x="1047715" y="4145081"/>
            <a:ext cx="10399359" cy="1656236"/>
          </a:xfrm>
          <a:prstGeom prst="rect">
            <a:avLst/>
          </a:prstGeom>
          <a:noFill/>
          <a:ln>
            <a:noFill/>
          </a:ln>
        </p:spPr>
        <p:txBody>
          <a:bodyPr anchorCtr="0" anchor="t" bIns="25400" lIns="25400" spcFirstLastPara="1" rIns="25400" wrap="square" tIns="25400">
            <a:normAutofit/>
          </a:bodyPr>
          <a:lstStyle/>
          <a:p>
            <a:pPr indent="0" lvl="0" marL="0" marR="0" rtl="0" algn="l">
              <a:lnSpc>
                <a:spcPct val="94000"/>
              </a:lnSpc>
              <a:spcBef>
                <a:spcPts val="0"/>
              </a:spcBef>
              <a:spcAft>
                <a:spcPts val="0"/>
              </a:spcAft>
              <a:buClr>
                <a:srgbClr val="0A1522"/>
              </a:buClr>
              <a:buSzPts val="5700"/>
              <a:buFont typeface="Georgia"/>
              <a:buNone/>
            </a:pPr>
            <a:r>
              <a:rPr b="0" i="0" lang="en-US" sz="5700" u="none" cap="none" strike="noStrike">
                <a:solidFill>
                  <a:srgbClr val="0A1522"/>
                </a:solidFill>
                <a:latin typeface="Georgia"/>
                <a:ea typeface="Georgia"/>
                <a:cs typeface="Georgia"/>
                <a:sym typeface="Georgia"/>
              </a:rPr>
              <a:t>Bioprocess development, </a:t>
            </a:r>
            <a:r>
              <a:rPr b="0" i="1" lang="en-US" sz="5700" u="none" cap="none" strike="noStrike">
                <a:solidFill>
                  <a:srgbClr val="38AFD8"/>
                </a:solidFill>
                <a:latin typeface="Georgia"/>
                <a:ea typeface="Georgia"/>
                <a:cs typeface="Georgia"/>
                <a:sym typeface="Georgia"/>
              </a:rPr>
              <a:t>rebuilt around predictive models</a:t>
            </a:r>
            <a:endParaRPr b="0" i="0" sz="5700" u="none" cap="none" strike="noStrike">
              <a:solidFill>
                <a:schemeClr val="dk1"/>
              </a:solidFill>
              <a:latin typeface="Calibri"/>
              <a:ea typeface="Calibri"/>
              <a:cs typeface="Calibri"/>
              <a:sym typeface="Calibri"/>
            </a:endParaRPr>
          </a:p>
        </p:txBody>
      </p:sp>
      <p:sp>
        <p:nvSpPr>
          <p:cNvPr id="20" name="Google Shape;20;p1"/>
          <p:cNvSpPr/>
          <p:nvPr/>
        </p:nvSpPr>
        <p:spPr>
          <a:xfrm>
            <a:off x="1047715" y="5991768"/>
            <a:ext cx="9222051" cy="1363715"/>
          </a:xfrm>
          <a:prstGeom prst="rect">
            <a:avLst/>
          </a:prstGeom>
          <a:noFill/>
          <a:ln>
            <a:noFill/>
          </a:ln>
        </p:spPr>
        <p:txBody>
          <a:bodyPr anchorCtr="0" anchor="t" bIns="25400" lIns="25400" spcFirstLastPara="1" rIns="25400" wrap="square" tIns="25400">
            <a:normAutofit/>
          </a:bodyPr>
          <a:lstStyle/>
          <a:p>
            <a:pPr indent="0" lvl="0" marL="0" marR="0" rtl="0" algn="l">
              <a:lnSpc>
                <a:spcPct val="124000"/>
              </a:lnSpc>
              <a:spcBef>
                <a:spcPts val="0"/>
              </a:spcBef>
              <a:spcAft>
                <a:spcPts val="0"/>
              </a:spcAft>
              <a:buClr>
                <a:srgbClr val="0A1522"/>
              </a:buClr>
              <a:buSzPts val="2400"/>
              <a:buFont typeface="Arial"/>
              <a:buNone/>
            </a:pPr>
            <a:r>
              <a:rPr b="0" i="0" lang="en-US" sz="2400" u="none" cap="none" strike="noStrike">
                <a:solidFill>
                  <a:srgbClr val="0A1522"/>
                </a:solidFill>
                <a:latin typeface="Arial"/>
                <a:ea typeface="Arial"/>
                <a:cs typeface="Arial"/>
                <a:sym typeface="Arial"/>
              </a:rPr>
              <a:t>Trellis is a model-centric platform for microbial fermentation and mammalian cell-culture process development — from experiment design to predictive modelling and next-best decisions.</a:t>
            </a:r>
            <a:endParaRPr b="0" i="0" sz="2400" u="none" cap="none" strike="noStrike">
              <a:solidFill>
                <a:schemeClr val="dk1"/>
              </a:solidFill>
              <a:latin typeface="Calibri"/>
              <a:ea typeface="Calibri"/>
              <a:cs typeface="Calibri"/>
              <a:sym typeface="Calibri"/>
            </a:endParaRPr>
          </a:p>
        </p:txBody>
      </p:sp>
      <p:sp>
        <p:nvSpPr>
          <p:cNvPr id="21" name="Google Shape;21;p1"/>
          <p:cNvSpPr/>
          <p:nvPr/>
        </p:nvSpPr>
        <p:spPr>
          <a:xfrm>
            <a:off x="1047750" y="9393555"/>
            <a:ext cx="2352040" cy="397510"/>
          </a:xfrm>
          <a:prstGeom prst="rect">
            <a:avLst/>
          </a:prstGeom>
          <a:noFill/>
          <a:ln>
            <a:noFill/>
          </a:ln>
        </p:spPr>
        <p:txBody>
          <a:bodyPr anchorCtr="0" anchor="t" bIns="25400" lIns="25400" spcFirstLastPara="1" rIns="25400" wrap="square" tIns="25400">
            <a:normAutofit/>
          </a:bodyPr>
          <a:lstStyle/>
          <a:p>
            <a:pPr indent="0" lvl="0" marL="0" marR="0" rtl="0" algn="l">
              <a:lnSpc>
                <a:spcPct val="116000"/>
              </a:lnSpc>
              <a:spcBef>
                <a:spcPts val="0"/>
              </a:spcBef>
              <a:spcAft>
                <a:spcPts val="0"/>
              </a:spcAft>
              <a:buClr>
                <a:srgbClr val="0A1522"/>
              </a:buClr>
              <a:buSzPts val="1950"/>
              <a:buFont typeface="Arial"/>
              <a:buNone/>
            </a:pPr>
            <a:r>
              <a:rPr b="0" i="0" lang="en-US" sz="1950" u="none" cap="none" strike="noStrike">
                <a:solidFill>
                  <a:srgbClr val="0A1522"/>
                </a:solidFill>
                <a:latin typeface="Arial"/>
                <a:ea typeface="Arial"/>
                <a:cs typeface="Arial"/>
                <a:sym typeface="Arial"/>
              </a:rPr>
              <a:t>CONFIDENTIAL</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2"/>
          <p:cNvSpPr/>
          <p:nvPr/>
        </p:nvSpPr>
        <p:spPr>
          <a:xfrm>
            <a:off x="1047715" y="628647"/>
            <a:ext cx="17779745" cy="335321"/>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COMMODITY INTELLIGENCE</a:t>
            </a:r>
            <a:endParaRPr b="0" i="0" sz="1800" u="none" cap="none" strike="noStrike">
              <a:solidFill>
                <a:schemeClr val="dk1"/>
              </a:solidFill>
              <a:latin typeface="Calibri"/>
              <a:ea typeface="Calibri"/>
              <a:cs typeface="Calibri"/>
              <a:sym typeface="Calibri"/>
            </a:endParaRPr>
          </a:p>
        </p:txBody>
      </p:sp>
      <p:sp>
        <p:nvSpPr>
          <p:cNvPr id="28" name="Google Shape;28;p2"/>
          <p:cNvSpPr/>
          <p:nvPr/>
        </p:nvSpPr>
        <p:spPr>
          <a:xfrm>
            <a:off x="1047715" y="1097237"/>
            <a:ext cx="16973473" cy="527231"/>
          </a:xfrm>
          <a:prstGeom prst="rect">
            <a:avLst/>
          </a:prstGeom>
          <a:noFill/>
          <a:ln>
            <a:noFill/>
          </a:ln>
        </p:spPr>
        <p:txBody>
          <a:bodyPr anchorCtr="0" anchor="t" bIns="25400" lIns="25400" spcFirstLastPara="1" rIns="25400" wrap="square" tIns="25400">
            <a:normAutofit/>
          </a:bodyPr>
          <a:lstStyle/>
          <a:p>
            <a:pPr indent="0" lvl="0" marL="0" marR="0" rtl="0" algn="l">
              <a:lnSpc>
                <a:spcPct val="94000"/>
              </a:lnSpc>
              <a:spcBef>
                <a:spcPts val="0"/>
              </a:spcBef>
              <a:spcAft>
                <a:spcPts val="0"/>
              </a:spcAft>
              <a:buClr>
                <a:srgbClr val="0A1522"/>
              </a:buClr>
              <a:buSzPts val="3600"/>
              <a:buFont typeface="Georgia"/>
              <a:buNone/>
            </a:pPr>
            <a:r>
              <a:rPr b="0" i="0" lang="en-US" sz="3600" u="none" cap="none" strike="noStrike">
                <a:solidFill>
                  <a:srgbClr val="0A1522"/>
                </a:solidFill>
                <a:latin typeface="Georgia"/>
                <a:ea typeface="Georgia"/>
                <a:cs typeface="Georgia"/>
                <a:sym typeface="Georgia"/>
              </a:rPr>
              <a:t>Intelligence is becoming a commodity</a:t>
            </a:r>
            <a:endParaRPr b="0" i="0" sz="3600" u="none" cap="none" strike="noStrike">
              <a:solidFill>
                <a:schemeClr val="dk1"/>
              </a:solidFill>
              <a:latin typeface="Calibri"/>
              <a:ea typeface="Calibri"/>
              <a:cs typeface="Calibri"/>
              <a:sym typeface="Calibri"/>
            </a:endParaRPr>
          </a:p>
        </p:txBody>
      </p:sp>
      <p:pic>
        <p:nvPicPr>
          <p:cNvPr descr="preencoded.png" id="29" name="Google Shape;29;p2"/>
          <p:cNvPicPr preferRelativeResize="0"/>
          <p:nvPr/>
        </p:nvPicPr>
        <p:blipFill rotWithShape="1">
          <a:blip r:embed="rId3">
            <a:alphaModFix/>
          </a:blip>
          <a:srcRect b="0" l="0" r="0" t="0"/>
          <a:stretch/>
        </p:blipFill>
        <p:spPr>
          <a:xfrm>
            <a:off x="1047715" y="2200828"/>
            <a:ext cx="9563208" cy="6311705"/>
          </a:xfrm>
          <a:prstGeom prst="rect">
            <a:avLst/>
          </a:prstGeom>
          <a:noFill/>
          <a:ln>
            <a:noFill/>
          </a:ln>
        </p:spPr>
      </p:pic>
      <p:sp>
        <p:nvSpPr>
          <p:cNvPr id="30" name="Google Shape;30;p2"/>
          <p:cNvSpPr/>
          <p:nvPr/>
        </p:nvSpPr>
        <p:spPr>
          <a:xfrm>
            <a:off x="1047715" y="8683903"/>
            <a:ext cx="9222051" cy="683718"/>
          </a:xfrm>
          <a:prstGeom prst="rect">
            <a:avLst/>
          </a:prstGeom>
          <a:noFill/>
          <a:ln>
            <a:noFill/>
          </a:ln>
        </p:spPr>
        <p:txBody>
          <a:bodyPr anchorCtr="0" anchor="t" bIns="25400" lIns="25400" spcFirstLastPara="1" rIns="25400" wrap="square" tIns="25400">
            <a:normAutofit/>
          </a:bodyPr>
          <a:lstStyle/>
          <a:p>
            <a:pPr indent="0" lvl="0" marL="0" marR="0" rtl="0" algn="l">
              <a:lnSpc>
                <a:spcPct val="122000"/>
              </a:lnSpc>
              <a:spcBef>
                <a:spcPts val="0"/>
              </a:spcBef>
              <a:spcAft>
                <a:spcPts val="0"/>
              </a:spcAft>
              <a:buClr>
                <a:srgbClr val="0A1522"/>
              </a:buClr>
              <a:buSzPts val="1800"/>
              <a:buFont typeface="Arial"/>
              <a:buNone/>
            </a:pPr>
            <a:r>
              <a:rPr b="0" i="0" lang="en-US" sz="1800" u="none" cap="none" strike="noStrike">
                <a:solidFill>
                  <a:srgbClr val="0A1522"/>
                </a:solidFill>
                <a:latin typeface="Arial"/>
                <a:ea typeface="Arial"/>
                <a:cs typeface="Arial"/>
                <a:sym typeface="Arial"/>
              </a:rPr>
              <a:t>Each curve indexed to 100 at the start of its investment cycle. </a:t>
            </a:r>
            <a:r>
              <a:rPr b="1" i="0" lang="en-US" sz="1800" u="none" cap="none" strike="noStrike">
                <a:solidFill>
                  <a:srgbClr val="0A1522"/>
                </a:solidFill>
                <a:latin typeface="Arial"/>
                <a:ea typeface="Arial"/>
                <a:cs typeface="Arial"/>
                <a:sym typeface="Arial"/>
              </a:rPr>
              <a:t>Sources: </a:t>
            </a:r>
            <a:r>
              <a:rPr b="0" i="0" lang="en-US" sz="1800" u="none" cap="none" strike="noStrike">
                <a:solidFill>
                  <a:srgbClr val="0A1522"/>
                </a:solidFill>
                <a:latin typeface="Arial"/>
                <a:ea typeface="Arial"/>
                <a:cs typeface="Arial"/>
                <a:sym typeface="Arial"/>
              </a:rPr>
              <a:t>Goldman Sachs Global Investment Research; US Department of Commerce.</a:t>
            </a:r>
            <a:endParaRPr b="0" i="0" sz="1800" u="none" cap="none" strike="noStrike">
              <a:solidFill>
                <a:schemeClr val="dk1"/>
              </a:solidFill>
              <a:latin typeface="Calibri"/>
              <a:ea typeface="Calibri"/>
              <a:cs typeface="Calibri"/>
              <a:sym typeface="Calibri"/>
            </a:endParaRPr>
          </a:p>
        </p:txBody>
      </p:sp>
      <p:sp>
        <p:nvSpPr>
          <p:cNvPr id="31" name="Google Shape;31;p2"/>
          <p:cNvSpPr/>
          <p:nvPr/>
        </p:nvSpPr>
        <p:spPr>
          <a:xfrm>
            <a:off x="11144267" y="3351418"/>
            <a:ext cx="6705542" cy="480059"/>
          </a:xfrm>
          <a:prstGeom prst="rect">
            <a:avLst/>
          </a:prstGeom>
          <a:noFill/>
          <a:ln>
            <a:noFill/>
          </a:ln>
        </p:spPr>
        <p:txBody>
          <a:bodyPr anchorCtr="0" anchor="t" bIns="25400" lIns="25400" spcFirstLastPara="1" rIns="25400" wrap="square" tIns="25400">
            <a:normAutofit/>
          </a:bodyPr>
          <a:lstStyle/>
          <a:p>
            <a:pPr indent="0" lvl="0" marL="0" marR="0" rtl="0" algn="l">
              <a:lnSpc>
                <a:spcPct val="102000"/>
              </a:lnSpc>
              <a:spcBef>
                <a:spcPts val="0"/>
              </a:spcBef>
              <a:spcAft>
                <a:spcPts val="0"/>
              </a:spcAft>
              <a:buClr>
                <a:srgbClr val="0A1522"/>
              </a:buClr>
              <a:buSzPts val="3000"/>
              <a:buFont typeface="Georgia"/>
              <a:buNone/>
            </a:pPr>
            <a:r>
              <a:rPr b="0" i="0" lang="en-US" sz="3000" u="none" cap="none" strike="noStrike">
                <a:solidFill>
                  <a:srgbClr val="0A1522"/>
                </a:solidFill>
                <a:latin typeface="Georgia"/>
                <a:ea typeface="Georgia"/>
                <a:cs typeface="Georgia"/>
                <a:sym typeface="Georgia"/>
              </a:rPr>
              <a:t>AI capabilities are</a:t>
            </a:r>
            <a:endParaRPr b="0" i="0" sz="3000" u="none" cap="none" strike="noStrike">
              <a:solidFill>
                <a:schemeClr val="dk1"/>
              </a:solidFill>
              <a:latin typeface="Calibri"/>
              <a:ea typeface="Calibri"/>
              <a:cs typeface="Calibri"/>
              <a:sym typeface="Calibri"/>
            </a:endParaRPr>
          </a:p>
        </p:txBody>
      </p:sp>
      <p:sp>
        <p:nvSpPr>
          <p:cNvPr id="32" name="Google Shape;32;p2"/>
          <p:cNvSpPr/>
          <p:nvPr/>
        </p:nvSpPr>
        <p:spPr>
          <a:xfrm>
            <a:off x="11144267" y="3793376"/>
            <a:ext cx="6705542" cy="480059"/>
          </a:xfrm>
          <a:prstGeom prst="rect">
            <a:avLst/>
          </a:prstGeom>
          <a:noFill/>
          <a:ln>
            <a:noFill/>
          </a:ln>
        </p:spPr>
        <p:txBody>
          <a:bodyPr anchorCtr="0" anchor="t" bIns="25400" lIns="25400" spcFirstLastPara="1" rIns="25400" wrap="square" tIns="25400">
            <a:normAutofit/>
          </a:bodyPr>
          <a:lstStyle/>
          <a:p>
            <a:pPr indent="0" lvl="0" marL="0" marR="0" rtl="0" algn="l">
              <a:lnSpc>
                <a:spcPct val="102000"/>
              </a:lnSpc>
              <a:spcBef>
                <a:spcPts val="0"/>
              </a:spcBef>
              <a:spcAft>
                <a:spcPts val="0"/>
              </a:spcAft>
              <a:buClr>
                <a:srgbClr val="38AFD8"/>
              </a:buClr>
              <a:buSzPts val="3000"/>
              <a:buFont typeface="Georgia"/>
              <a:buNone/>
            </a:pPr>
            <a:r>
              <a:rPr b="1" i="0" lang="en-US" sz="3000" u="none" cap="none" strike="noStrike">
                <a:solidFill>
                  <a:srgbClr val="38AFD8"/>
                </a:solidFill>
                <a:latin typeface="Georgia"/>
                <a:ea typeface="Georgia"/>
                <a:cs typeface="Georgia"/>
                <a:sym typeface="Georgia"/>
              </a:rPr>
              <a:t>rising.</a:t>
            </a:r>
            <a:endParaRPr b="0" i="0" sz="3000" u="none" cap="none" strike="noStrike">
              <a:solidFill>
                <a:schemeClr val="dk1"/>
              </a:solidFill>
              <a:latin typeface="Calibri"/>
              <a:ea typeface="Calibri"/>
              <a:cs typeface="Calibri"/>
              <a:sym typeface="Calibri"/>
            </a:endParaRPr>
          </a:p>
        </p:txBody>
      </p:sp>
      <p:sp>
        <p:nvSpPr>
          <p:cNvPr id="33" name="Google Shape;33;p2"/>
          <p:cNvSpPr/>
          <p:nvPr/>
        </p:nvSpPr>
        <p:spPr>
          <a:xfrm>
            <a:off x="11144267" y="4673464"/>
            <a:ext cx="6705542" cy="480059"/>
          </a:xfrm>
          <a:prstGeom prst="rect">
            <a:avLst/>
          </a:prstGeom>
          <a:noFill/>
          <a:ln>
            <a:noFill/>
          </a:ln>
        </p:spPr>
        <p:txBody>
          <a:bodyPr anchorCtr="0" anchor="t" bIns="25400" lIns="25400" spcFirstLastPara="1" rIns="25400" wrap="square" tIns="25400">
            <a:normAutofit/>
          </a:bodyPr>
          <a:lstStyle/>
          <a:p>
            <a:pPr indent="0" lvl="0" marL="0" marR="0" rtl="0" algn="l">
              <a:lnSpc>
                <a:spcPct val="102000"/>
              </a:lnSpc>
              <a:spcBef>
                <a:spcPts val="0"/>
              </a:spcBef>
              <a:spcAft>
                <a:spcPts val="0"/>
              </a:spcAft>
              <a:buClr>
                <a:srgbClr val="0A1522"/>
              </a:buClr>
              <a:buSzPts val="3000"/>
              <a:buFont typeface="Georgia"/>
              <a:buNone/>
            </a:pPr>
            <a:r>
              <a:rPr b="0" i="0" lang="en-US" sz="3000" u="none" cap="none" strike="noStrike">
                <a:solidFill>
                  <a:srgbClr val="0A1522"/>
                </a:solidFill>
                <a:latin typeface="Georgia"/>
                <a:ea typeface="Georgia"/>
                <a:cs typeface="Georgia"/>
                <a:sym typeface="Georgia"/>
              </a:rPr>
              <a:t>Their cost is</a:t>
            </a:r>
            <a:endParaRPr b="0" i="0" sz="3000" u="none" cap="none" strike="noStrike">
              <a:solidFill>
                <a:schemeClr val="dk1"/>
              </a:solidFill>
              <a:latin typeface="Calibri"/>
              <a:ea typeface="Calibri"/>
              <a:cs typeface="Calibri"/>
              <a:sym typeface="Calibri"/>
            </a:endParaRPr>
          </a:p>
        </p:txBody>
      </p:sp>
      <p:sp>
        <p:nvSpPr>
          <p:cNvPr id="34" name="Google Shape;34;p2"/>
          <p:cNvSpPr/>
          <p:nvPr/>
        </p:nvSpPr>
        <p:spPr>
          <a:xfrm>
            <a:off x="11144267" y="5115423"/>
            <a:ext cx="6705542" cy="480059"/>
          </a:xfrm>
          <a:prstGeom prst="rect">
            <a:avLst/>
          </a:prstGeom>
          <a:noFill/>
          <a:ln>
            <a:noFill/>
          </a:ln>
        </p:spPr>
        <p:txBody>
          <a:bodyPr anchorCtr="0" anchor="t" bIns="25400" lIns="25400" spcFirstLastPara="1" rIns="25400" wrap="square" tIns="25400">
            <a:normAutofit/>
          </a:bodyPr>
          <a:lstStyle/>
          <a:p>
            <a:pPr indent="0" lvl="0" marL="0" marR="0" rtl="0" algn="l">
              <a:lnSpc>
                <a:spcPct val="102000"/>
              </a:lnSpc>
              <a:spcBef>
                <a:spcPts val="0"/>
              </a:spcBef>
              <a:spcAft>
                <a:spcPts val="0"/>
              </a:spcAft>
              <a:buClr>
                <a:srgbClr val="38AFD8"/>
              </a:buClr>
              <a:buSzPts val="3000"/>
              <a:buFont typeface="Georgia"/>
              <a:buNone/>
            </a:pPr>
            <a:r>
              <a:rPr b="1" i="0" lang="en-US" sz="3000" u="none" cap="none" strike="noStrike">
                <a:solidFill>
                  <a:srgbClr val="38AFD8"/>
                </a:solidFill>
                <a:latin typeface="Georgia"/>
                <a:ea typeface="Georgia"/>
                <a:cs typeface="Georgia"/>
                <a:sym typeface="Georgia"/>
              </a:rPr>
              <a:t>collapsing.</a:t>
            </a:r>
            <a:endParaRPr b="0" i="0" sz="3000" u="none" cap="none" strike="noStrike">
              <a:solidFill>
                <a:schemeClr val="dk1"/>
              </a:solidFill>
              <a:latin typeface="Calibri"/>
              <a:ea typeface="Calibri"/>
              <a:cs typeface="Calibri"/>
              <a:sym typeface="Calibri"/>
            </a:endParaRPr>
          </a:p>
        </p:txBody>
      </p:sp>
      <p:sp>
        <p:nvSpPr>
          <p:cNvPr id="35" name="Google Shape;35;p2"/>
          <p:cNvSpPr/>
          <p:nvPr/>
        </p:nvSpPr>
        <p:spPr>
          <a:xfrm>
            <a:off x="11144267" y="5995510"/>
            <a:ext cx="6705542" cy="537501"/>
          </a:xfrm>
          <a:prstGeom prst="rect">
            <a:avLst/>
          </a:prstGeom>
          <a:noFill/>
          <a:ln>
            <a:noFill/>
          </a:ln>
        </p:spPr>
        <p:txBody>
          <a:bodyPr anchorCtr="0" anchor="t" bIns="25400" lIns="25400" spcFirstLastPara="1" rIns="25400" wrap="square" tIns="25400">
            <a:normAutofit/>
          </a:bodyPr>
          <a:lstStyle/>
          <a:p>
            <a:pPr indent="0" lvl="0" marL="0" marR="0" rtl="0" algn="l">
              <a:lnSpc>
                <a:spcPct val="101000"/>
              </a:lnSpc>
              <a:spcBef>
                <a:spcPts val="0"/>
              </a:spcBef>
              <a:spcAft>
                <a:spcPts val="0"/>
              </a:spcAft>
              <a:buClr>
                <a:srgbClr val="0A1522"/>
              </a:buClr>
              <a:buSzPts val="3450"/>
              <a:buFont typeface="Georgia"/>
              <a:buNone/>
            </a:pPr>
            <a:r>
              <a:rPr b="0" i="0" lang="en-US" sz="3450" u="none" cap="none" strike="noStrike">
                <a:solidFill>
                  <a:srgbClr val="0A1522"/>
                </a:solidFill>
                <a:latin typeface="Georgia"/>
                <a:ea typeface="Georgia"/>
                <a:cs typeface="Georgia"/>
                <a:sym typeface="Georgia"/>
              </a:rPr>
              <a:t>Access to intelligence</a:t>
            </a:r>
            <a:endParaRPr b="0" i="0" sz="3450" u="none" cap="none" strike="noStrike">
              <a:solidFill>
                <a:schemeClr val="dk1"/>
              </a:solidFill>
              <a:latin typeface="Calibri"/>
              <a:ea typeface="Calibri"/>
              <a:cs typeface="Calibri"/>
              <a:sym typeface="Calibri"/>
            </a:endParaRPr>
          </a:p>
        </p:txBody>
      </p:sp>
      <p:sp>
        <p:nvSpPr>
          <p:cNvPr id="36" name="Google Shape;36;p2"/>
          <p:cNvSpPr/>
          <p:nvPr/>
        </p:nvSpPr>
        <p:spPr>
          <a:xfrm>
            <a:off x="11144267" y="6494911"/>
            <a:ext cx="6705542" cy="537501"/>
          </a:xfrm>
          <a:prstGeom prst="rect">
            <a:avLst/>
          </a:prstGeom>
          <a:noFill/>
          <a:ln>
            <a:noFill/>
          </a:ln>
        </p:spPr>
        <p:txBody>
          <a:bodyPr anchorCtr="0" anchor="t" bIns="25400" lIns="25400" spcFirstLastPara="1" rIns="25400" wrap="square" tIns="25400">
            <a:normAutofit/>
          </a:bodyPr>
          <a:lstStyle/>
          <a:p>
            <a:pPr indent="0" lvl="0" marL="0" marR="0" rtl="0" algn="l">
              <a:lnSpc>
                <a:spcPct val="101000"/>
              </a:lnSpc>
              <a:spcBef>
                <a:spcPts val="0"/>
              </a:spcBef>
              <a:spcAft>
                <a:spcPts val="0"/>
              </a:spcAft>
              <a:buClr>
                <a:srgbClr val="38AFD8"/>
              </a:buClr>
              <a:buSzPts val="3450"/>
              <a:buFont typeface="Georgia"/>
              <a:buNone/>
            </a:pPr>
            <a:r>
              <a:rPr b="1" i="0" lang="en-US" sz="3450" u="none" cap="none" strike="noStrike">
                <a:solidFill>
                  <a:srgbClr val="38AFD8"/>
                </a:solidFill>
                <a:latin typeface="Georgia"/>
                <a:ea typeface="Georgia"/>
                <a:cs typeface="Georgia"/>
                <a:sym typeface="Georgia"/>
              </a:rPr>
              <a:t>will not be the advantage.</a:t>
            </a:r>
            <a:endParaRPr b="0" i="0" sz="3450" u="none" cap="none" strike="noStrike">
              <a:solidFill>
                <a:schemeClr val="dk1"/>
              </a:solidFill>
              <a:latin typeface="Calibri"/>
              <a:ea typeface="Calibri"/>
              <a:cs typeface="Calibri"/>
              <a:sym typeface="Calibri"/>
            </a:endParaRPr>
          </a:p>
        </p:txBody>
      </p:sp>
      <p:sp>
        <p:nvSpPr>
          <p:cNvPr id="37" name="Google Shape;37;p2"/>
          <p:cNvSpPr/>
          <p:nvPr/>
        </p:nvSpPr>
        <p:spPr>
          <a:xfrm>
            <a:off x="11144267" y="7432442"/>
            <a:ext cx="6278826" cy="784678"/>
          </a:xfrm>
          <a:prstGeom prst="rect">
            <a:avLst/>
          </a:prstGeom>
          <a:noFill/>
          <a:ln>
            <a:noFill/>
          </a:ln>
        </p:spPr>
        <p:txBody>
          <a:bodyPr anchorCtr="0" anchor="t" bIns="25400" lIns="25400" spcFirstLastPara="1" rIns="25400" wrap="square" tIns="25400">
            <a:normAutofit/>
          </a:bodyPr>
          <a:lstStyle/>
          <a:p>
            <a:pPr indent="0" lvl="0" marL="0" marR="0" rtl="0" algn="l">
              <a:lnSpc>
                <a:spcPct val="122000"/>
              </a:lnSpc>
              <a:spcBef>
                <a:spcPts val="0"/>
              </a:spcBef>
              <a:spcAft>
                <a:spcPts val="0"/>
              </a:spcAft>
              <a:buClr>
                <a:srgbClr val="0A1522"/>
              </a:buClr>
              <a:buSzPts val="2100"/>
              <a:buFont typeface="Arial"/>
              <a:buNone/>
            </a:pPr>
            <a:r>
              <a:rPr b="0" i="0" lang="en-US" sz="2100" u="none" cap="none" strike="noStrike">
                <a:solidFill>
                  <a:srgbClr val="0A1522"/>
                </a:solidFill>
                <a:latin typeface="Arial"/>
                <a:ea typeface="Arial"/>
                <a:cs typeface="Arial"/>
                <a:sym typeface="Arial"/>
              </a:rPr>
              <a:t>Advantage will come from where — and how deeply — it is applied.</a:t>
            </a:r>
            <a:endParaRPr b="0" i="0" sz="2100" u="none" cap="none" strike="noStrike">
              <a:solidFill>
                <a:schemeClr val="dk1"/>
              </a:solidFill>
              <a:latin typeface="Calibri"/>
              <a:ea typeface="Calibri"/>
              <a:cs typeface="Calibri"/>
              <a:sym typeface="Calibri"/>
            </a:endParaRPr>
          </a:p>
        </p:txBody>
      </p:sp>
      <p:pic>
        <p:nvPicPr>
          <p:cNvPr descr="preencoded.png" id="38" name="Google Shape;38;p2"/>
          <p:cNvPicPr preferRelativeResize="0"/>
          <p:nvPr/>
        </p:nvPicPr>
        <p:blipFill rotWithShape="1">
          <a:blip r:embed="rId4">
            <a:alphaModFix amt="72000"/>
          </a:blip>
          <a:srcRect b="0" l="0" r="0" t="0"/>
          <a:stretch/>
        </p:blipFill>
        <p:spPr>
          <a:xfrm>
            <a:off x="1047715" y="9772699"/>
            <a:ext cx="1317434" cy="38094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 name="Shape 43"/>
        <p:cNvGrpSpPr/>
        <p:nvPr/>
      </p:nvGrpSpPr>
      <p:grpSpPr>
        <a:xfrm>
          <a:off x="0" y="0"/>
          <a:ext cx="0" cy="0"/>
          <a:chOff x="0" y="0"/>
          <a:chExt cx="0" cy="0"/>
        </a:xfrm>
      </p:grpSpPr>
      <p:sp>
        <p:nvSpPr>
          <p:cNvPr id="44" name="Google Shape;44;p3"/>
          <p:cNvSpPr/>
          <p:nvPr/>
        </p:nvSpPr>
        <p:spPr>
          <a:xfrm>
            <a:off x="1047715" y="628647"/>
            <a:ext cx="17779745" cy="335321"/>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WHERE ADVANTAGE LIES</a:t>
            </a:r>
            <a:endParaRPr b="0" i="0" sz="1800" u="none" cap="none" strike="noStrike">
              <a:solidFill>
                <a:schemeClr val="dk1"/>
              </a:solidFill>
              <a:latin typeface="Calibri"/>
              <a:ea typeface="Calibri"/>
              <a:cs typeface="Calibri"/>
              <a:sym typeface="Calibri"/>
            </a:endParaRPr>
          </a:p>
        </p:txBody>
      </p:sp>
      <p:sp>
        <p:nvSpPr>
          <p:cNvPr id="45" name="Google Shape;45;p3"/>
          <p:cNvSpPr/>
          <p:nvPr/>
        </p:nvSpPr>
        <p:spPr>
          <a:xfrm>
            <a:off x="1047715" y="1097237"/>
            <a:ext cx="16678274" cy="1048216"/>
          </a:xfrm>
          <a:prstGeom prst="rect">
            <a:avLst/>
          </a:prstGeom>
          <a:noFill/>
          <a:ln>
            <a:noFill/>
          </a:ln>
        </p:spPr>
        <p:txBody>
          <a:bodyPr anchorCtr="0" anchor="t" bIns="25400" lIns="25400" spcFirstLastPara="1" rIns="25400" wrap="square" tIns="25400">
            <a:normAutofit/>
          </a:bodyPr>
          <a:lstStyle/>
          <a:p>
            <a:pPr indent="0" lvl="0" marL="0" marR="0" rtl="0" algn="l">
              <a:lnSpc>
                <a:spcPct val="93000"/>
              </a:lnSpc>
              <a:spcBef>
                <a:spcPts val="0"/>
              </a:spcBef>
              <a:spcAft>
                <a:spcPts val="0"/>
              </a:spcAft>
              <a:buClr>
                <a:srgbClr val="0A1522"/>
              </a:buClr>
              <a:buSzPts val="3600"/>
              <a:buFont typeface="Georgia"/>
              <a:buNone/>
            </a:pPr>
            <a:r>
              <a:rPr b="0" i="0" lang="en-US" sz="3600" u="none" cap="none" strike="noStrike">
                <a:solidFill>
                  <a:srgbClr val="0A1522"/>
                </a:solidFill>
                <a:latin typeface="Georgia"/>
                <a:ea typeface="Georgia"/>
                <a:cs typeface="Georgia"/>
                <a:sym typeface="Georgia"/>
              </a:rPr>
              <a:t>When intelligence is commoditized, advantage comes from </a:t>
            </a:r>
            <a:r>
              <a:rPr b="0" i="1" lang="en-US" sz="3600" u="none" cap="none" strike="noStrike">
                <a:solidFill>
                  <a:srgbClr val="38AFD8"/>
                </a:solidFill>
                <a:latin typeface="Georgia"/>
                <a:ea typeface="Georgia"/>
                <a:cs typeface="Georgia"/>
                <a:sym typeface="Georgia"/>
              </a:rPr>
              <a:t>the problem you choose </a:t>
            </a:r>
            <a:r>
              <a:rPr b="0" i="0" lang="en-US" sz="3600" u="none" cap="none" strike="noStrike">
                <a:solidFill>
                  <a:srgbClr val="0A1522"/>
                </a:solidFill>
                <a:latin typeface="Georgia"/>
                <a:ea typeface="Georgia"/>
                <a:cs typeface="Georgia"/>
                <a:sym typeface="Georgia"/>
              </a:rPr>
              <a:t>— and how you apply it</a:t>
            </a:r>
            <a:endParaRPr b="0" i="0" sz="3600" u="none" cap="none" strike="noStrike">
              <a:solidFill>
                <a:schemeClr val="dk1"/>
              </a:solidFill>
              <a:latin typeface="Calibri"/>
              <a:ea typeface="Calibri"/>
              <a:cs typeface="Calibri"/>
              <a:sym typeface="Calibri"/>
            </a:endParaRPr>
          </a:p>
        </p:txBody>
      </p:sp>
      <p:sp>
        <p:nvSpPr>
          <p:cNvPr id="46" name="Google Shape;46;p3"/>
          <p:cNvSpPr/>
          <p:nvPr/>
        </p:nvSpPr>
        <p:spPr>
          <a:xfrm>
            <a:off x="1123870" y="2472462"/>
            <a:ext cx="3909053" cy="333319"/>
          </a:xfrm>
          <a:prstGeom prst="rect">
            <a:avLst/>
          </a:prstGeom>
          <a:noFill/>
          <a:ln>
            <a:noFill/>
          </a:ln>
        </p:spPr>
        <p:txBody>
          <a:bodyPr anchorCtr="0" anchor="t" bIns="25400" lIns="25400" spcFirstLastPara="1" rIns="25400" wrap="square" tIns="25400">
            <a:normAutofit/>
          </a:bodyPr>
          <a:lstStyle/>
          <a:p>
            <a:pPr indent="0" lvl="0" marL="0" marR="0" rtl="0" algn="l">
              <a:lnSpc>
                <a:spcPct val="113000"/>
              </a:lnSpc>
              <a:spcBef>
                <a:spcPts val="0"/>
              </a:spcBef>
              <a:spcAft>
                <a:spcPts val="0"/>
              </a:spcAft>
              <a:buClr>
                <a:srgbClr val="000000"/>
              </a:buClr>
              <a:buSzPts val="2100"/>
              <a:buFont typeface="Arial"/>
              <a:buNone/>
            </a:pPr>
            <a:r>
              <a:rPr b="1" i="0" lang="en-US" sz="2100" u="none" cap="none" strike="noStrike">
                <a:solidFill>
                  <a:srgbClr val="000000"/>
                </a:solidFill>
                <a:latin typeface="Arial"/>
                <a:ea typeface="Arial"/>
                <a:cs typeface="Arial"/>
                <a:sym typeface="Arial"/>
              </a:rPr>
              <a:t>AI AT THE PERIPHERY</a:t>
            </a:r>
            <a:endParaRPr b="0" i="0" sz="2100" u="none" cap="none" strike="noStrike">
              <a:solidFill>
                <a:schemeClr val="dk1"/>
              </a:solidFill>
              <a:latin typeface="Calibri"/>
              <a:ea typeface="Calibri"/>
              <a:cs typeface="Calibri"/>
              <a:sym typeface="Calibri"/>
            </a:endParaRPr>
          </a:p>
        </p:txBody>
      </p:sp>
      <p:sp>
        <p:nvSpPr>
          <p:cNvPr id="47" name="Google Shape;47;p3"/>
          <p:cNvSpPr/>
          <p:nvPr/>
        </p:nvSpPr>
        <p:spPr>
          <a:xfrm>
            <a:off x="9143965" y="2474898"/>
            <a:ext cx="4181613" cy="335321"/>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DEPTH OF APPLICATION →</a:t>
            </a:r>
            <a:endParaRPr b="0" i="0" sz="1800" u="none" cap="none" strike="noStrike">
              <a:solidFill>
                <a:schemeClr val="dk1"/>
              </a:solidFill>
              <a:latin typeface="Calibri"/>
              <a:ea typeface="Calibri"/>
              <a:cs typeface="Calibri"/>
              <a:sym typeface="Calibri"/>
            </a:endParaRPr>
          </a:p>
        </p:txBody>
      </p:sp>
      <p:sp>
        <p:nvSpPr>
          <p:cNvPr id="48" name="Google Shape;48;p3"/>
          <p:cNvSpPr/>
          <p:nvPr/>
        </p:nvSpPr>
        <p:spPr>
          <a:xfrm>
            <a:off x="14605261" y="2450181"/>
            <a:ext cx="2861111" cy="384756"/>
          </a:xfrm>
          <a:prstGeom prst="rect">
            <a:avLst/>
          </a:prstGeom>
          <a:noFill/>
          <a:ln>
            <a:noFill/>
          </a:ln>
        </p:spPr>
        <p:txBody>
          <a:bodyPr anchorCtr="0" anchor="t" bIns="25400" lIns="25400" spcFirstLastPara="1" rIns="25400" wrap="square" tIns="25400">
            <a:normAutofit/>
          </a:bodyPr>
          <a:lstStyle/>
          <a:p>
            <a:pPr indent="0" lvl="0" marL="0" marR="0" rtl="0" algn="l">
              <a:lnSpc>
                <a:spcPct val="113000"/>
              </a:lnSpc>
              <a:spcBef>
                <a:spcPts val="0"/>
              </a:spcBef>
              <a:spcAft>
                <a:spcPts val="0"/>
              </a:spcAft>
              <a:buClr>
                <a:srgbClr val="38AFD8"/>
              </a:buClr>
              <a:buSzPts val="2100"/>
              <a:buFont typeface="Arial"/>
              <a:buNone/>
            </a:pPr>
            <a:r>
              <a:rPr b="1" i="0" lang="en-US" sz="2100" u="none" cap="none" strike="noStrike">
                <a:solidFill>
                  <a:srgbClr val="38AFD8"/>
                </a:solidFill>
                <a:latin typeface="Arial"/>
                <a:ea typeface="Arial"/>
                <a:cs typeface="Arial"/>
                <a:sym typeface="Arial"/>
              </a:rPr>
              <a:t>AI AT THE CORE</a:t>
            </a:r>
            <a:endParaRPr b="0" i="0" sz="2100" u="none" cap="none" strike="noStrike">
              <a:solidFill>
                <a:schemeClr val="dk1"/>
              </a:solidFill>
              <a:latin typeface="Calibri"/>
              <a:ea typeface="Calibri"/>
              <a:cs typeface="Calibri"/>
              <a:sym typeface="Calibri"/>
            </a:endParaRPr>
          </a:p>
        </p:txBody>
      </p:sp>
      <p:sp>
        <p:nvSpPr>
          <p:cNvPr id="49" name="Google Shape;49;p3"/>
          <p:cNvSpPr/>
          <p:nvPr/>
        </p:nvSpPr>
        <p:spPr>
          <a:xfrm>
            <a:off x="1047715" y="2968207"/>
            <a:ext cx="16192499" cy="5845986"/>
          </a:xfrm>
          <a:prstGeom prst="roundRect">
            <a:avLst>
              <a:gd fmla="val 3585" name="adj"/>
            </a:avLst>
          </a:prstGeom>
          <a:solidFill>
            <a:srgbClr val="F0F2F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3"/>
          <p:cNvSpPr/>
          <p:nvPr/>
        </p:nvSpPr>
        <p:spPr>
          <a:xfrm>
            <a:off x="9143965" y="2968207"/>
            <a:ext cx="8096249" cy="5845986"/>
          </a:xfrm>
          <a:prstGeom prst="rect">
            <a:avLst/>
          </a:prstGeom>
          <a:solidFill>
            <a:srgbClr val="0A15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1" name="Google Shape;51;p3"/>
          <p:cNvPicPr preferRelativeResize="0"/>
          <p:nvPr/>
        </p:nvPicPr>
        <p:blipFill rotWithShape="1">
          <a:blip r:embed="rId3">
            <a:alphaModFix/>
          </a:blip>
          <a:srcRect b="0" l="0" r="0" t="0"/>
          <a:stretch/>
        </p:blipFill>
        <p:spPr>
          <a:xfrm>
            <a:off x="8010434" y="2968207"/>
            <a:ext cx="1133444" cy="5845986"/>
          </a:xfrm>
          <a:prstGeom prst="rect">
            <a:avLst/>
          </a:prstGeom>
          <a:noFill/>
          <a:ln>
            <a:noFill/>
          </a:ln>
        </p:spPr>
      </p:pic>
      <p:sp>
        <p:nvSpPr>
          <p:cNvPr id="52" name="Google Shape;52;p3"/>
          <p:cNvSpPr/>
          <p:nvPr/>
        </p:nvSpPr>
        <p:spPr>
          <a:xfrm>
            <a:off x="1047715" y="4916811"/>
            <a:ext cx="16192499" cy="9525"/>
          </a:xfrm>
          <a:prstGeom prst="rect">
            <a:avLst/>
          </a:prstGeom>
          <a:gradFill>
            <a:gsLst>
              <a:gs pos="0">
                <a:srgbClr val="0A1522">
                  <a:alpha val="10196"/>
                </a:srgbClr>
              </a:gs>
              <a:gs pos="48000">
                <a:srgbClr val="0A1522">
                  <a:alpha val="10196"/>
                </a:srgbClr>
              </a:gs>
              <a:gs pos="100000">
                <a:srgbClr val="FFFFFF">
                  <a:alpha val="16078"/>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a:off x="1047715" y="6865415"/>
            <a:ext cx="16192499" cy="9525"/>
          </a:xfrm>
          <a:prstGeom prst="rect">
            <a:avLst/>
          </a:prstGeom>
          <a:gradFill>
            <a:gsLst>
              <a:gs pos="0">
                <a:srgbClr val="0A1522">
                  <a:alpha val="10196"/>
                </a:srgbClr>
              </a:gs>
              <a:gs pos="45000">
                <a:srgbClr val="0A1522">
                  <a:alpha val="10196"/>
                </a:srgbClr>
              </a:gs>
              <a:gs pos="100000">
                <a:srgbClr val="FFFFFF">
                  <a:alpha val="16078"/>
                </a:srgb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3"/>
          <p:cNvSpPr/>
          <p:nvPr/>
        </p:nvSpPr>
        <p:spPr>
          <a:xfrm>
            <a:off x="1581115" y="3747422"/>
            <a:ext cx="8372474" cy="428186"/>
          </a:xfrm>
          <a:prstGeom prst="rect">
            <a:avLst/>
          </a:prstGeom>
          <a:noFill/>
          <a:ln>
            <a:noFill/>
          </a:ln>
        </p:spPr>
        <p:txBody>
          <a:bodyPr anchorCtr="0" anchor="t" bIns="25400" lIns="25400" spcFirstLastPara="1" rIns="25400" wrap="square" tIns="25400">
            <a:normAutofit/>
          </a:bodyPr>
          <a:lstStyle/>
          <a:p>
            <a:pPr indent="0" lvl="0" marL="0" marR="0" rtl="0" algn="l">
              <a:lnSpc>
                <a:spcPct val="109000"/>
              </a:lnSpc>
              <a:spcBef>
                <a:spcPts val="0"/>
              </a:spcBef>
              <a:spcAft>
                <a:spcPts val="0"/>
              </a:spcAft>
              <a:buClr>
                <a:srgbClr val="0A1522"/>
              </a:buClr>
              <a:buSzPts val="2400"/>
              <a:buFont typeface="Arial"/>
              <a:buNone/>
            </a:pPr>
            <a:r>
              <a:rPr b="0" i="0" lang="en-US" sz="2400" u="none" cap="none" strike="noStrike">
                <a:solidFill>
                  <a:srgbClr val="0A1522"/>
                </a:solidFill>
                <a:latin typeface="Arial"/>
                <a:ea typeface="Arial"/>
                <a:cs typeface="Arial"/>
                <a:sym typeface="Arial"/>
              </a:rPr>
              <a:t>Assists isolated tasks</a:t>
            </a:r>
            <a:endParaRPr b="0" i="0" sz="2400" u="none" cap="none" strike="noStrike">
              <a:solidFill>
                <a:schemeClr val="dk1"/>
              </a:solidFill>
              <a:latin typeface="Calibri"/>
              <a:ea typeface="Calibri"/>
              <a:cs typeface="Calibri"/>
              <a:sym typeface="Calibri"/>
            </a:endParaRPr>
          </a:p>
        </p:txBody>
      </p:sp>
      <p:sp>
        <p:nvSpPr>
          <p:cNvPr id="55" name="Google Shape;55;p3"/>
          <p:cNvSpPr/>
          <p:nvPr/>
        </p:nvSpPr>
        <p:spPr>
          <a:xfrm>
            <a:off x="8334340" y="3718092"/>
            <a:ext cx="8334374" cy="486934"/>
          </a:xfrm>
          <a:prstGeom prst="rect">
            <a:avLst/>
          </a:prstGeom>
          <a:noFill/>
          <a:ln>
            <a:noFill/>
          </a:ln>
        </p:spPr>
        <p:txBody>
          <a:bodyPr anchorCtr="0" anchor="t" bIns="25400" lIns="25400" spcFirstLastPara="1" rIns="25400" wrap="square" tIns="25400">
            <a:normAutofit/>
          </a:bodyPr>
          <a:lstStyle/>
          <a:p>
            <a:pPr indent="0" lvl="0" marL="0" marR="0" rtl="0" algn="r">
              <a:lnSpc>
                <a:spcPct val="107000"/>
              </a:lnSpc>
              <a:spcBef>
                <a:spcPts val="0"/>
              </a:spcBef>
              <a:spcAft>
                <a:spcPts val="0"/>
              </a:spcAft>
              <a:buClr>
                <a:srgbClr val="FFFFFF"/>
              </a:buClr>
              <a:buSzPts val="2850"/>
              <a:buFont typeface="Arial"/>
              <a:buNone/>
            </a:pPr>
            <a:r>
              <a:rPr b="1" i="0" lang="en-US" sz="2850" u="none" cap="none" strike="noStrike">
                <a:solidFill>
                  <a:srgbClr val="FFFFFF"/>
                </a:solidFill>
                <a:latin typeface="Arial"/>
                <a:ea typeface="Arial"/>
                <a:cs typeface="Arial"/>
                <a:sym typeface="Arial"/>
              </a:rPr>
              <a:t>Improves consequential </a:t>
            </a:r>
            <a:r>
              <a:rPr b="1" i="0" lang="en-US" sz="2850" u="none" cap="none" strike="noStrike">
                <a:solidFill>
                  <a:srgbClr val="38AFD8"/>
                </a:solidFill>
                <a:latin typeface="Arial"/>
                <a:ea typeface="Arial"/>
                <a:cs typeface="Arial"/>
                <a:sym typeface="Arial"/>
              </a:rPr>
              <a:t>decisions</a:t>
            </a:r>
            <a:endParaRPr b="0" i="0" sz="2850" u="none" cap="none" strike="noStrike">
              <a:solidFill>
                <a:schemeClr val="dk1"/>
              </a:solidFill>
              <a:latin typeface="Calibri"/>
              <a:ea typeface="Calibri"/>
              <a:cs typeface="Calibri"/>
              <a:sym typeface="Calibri"/>
            </a:endParaRPr>
          </a:p>
        </p:txBody>
      </p:sp>
      <p:sp>
        <p:nvSpPr>
          <p:cNvPr id="56" name="Google Shape;56;p3"/>
          <p:cNvSpPr/>
          <p:nvPr/>
        </p:nvSpPr>
        <p:spPr>
          <a:xfrm>
            <a:off x="1581115" y="5696113"/>
            <a:ext cx="8372474" cy="428186"/>
          </a:xfrm>
          <a:prstGeom prst="rect">
            <a:avLst/>
          </a:prstGeom>
          <a:noFill/>
          <a:ln>
            <a:noFill/>
          </a:ln>
        </p:spPr>
        <p:txBody>
          <a:bodyPr anchorCtr="0" anchor="t" bIns="25400" lIns="25400" spcFirstLastPara="1" rIns="25400" wrap="square" tIns="25400">
            <a:normAutofit/>
          </a:bodyPr>
          <a:lstStyle/>
          <a:p>
            <a:pPr indent="0" lvl="0" marL="0" marR="0" rtl="0" algn="l">
              <a:lnSpc>
                <a:spcPct val="109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Produces standalone outputs</a:t>
            </a:r>
            <a:endParaRPr b="0" i="0" sz="2400" u="none" cap="none" strike="noStrike">
              <a:solidFill>
                <a:schemeClr val="dk1"/>
              </a:solidFill>
              <a:latin typeface="Calibri"/>
              <a:ea typeface="Calibri"/>
              <a:cs typeface="Calibri"/>
              <a:sym typeface="Calibri"/>
            </a:endParaRPr>
          </a:p>
        </p:txBody>
      </p:sp>
      <p:sp>
        <p:nvSpPr>
          <p:cNvPr id="57" name="Google Shape;57;p3"/>
          <p:cNvSpPr/>
          <p:nvPr/>
        </p:nvSpPr>
        <p:spPr>
          <a:xfrm>
            <a:off x="8334340" y="5666696"/>
            <a:ext cx="8334374" cy="486934"/>
          </a:xfrm>
          <a:prstGeom prst="rect">
            <a:avLst/>
          </a:prstGeom>
          <a:noFill/>
          <a:ln>
            <a:noFill/>
          </a:ln>
        </p:spPr>
        <p:txBody>
          <a:bodyPr anchorCtr="0" anchor="t" bIns="25400" lIns="25400" spcFirstLastPara="1" rIns="25400" wrap="square" tIns="25400">
            <a:normAutofit/>
          </a:bodyPr>
          <a:lstStyle/>
          <a:p>
            <a:pPr indent="0" lvl="0" marL="0" marR="0" rtl="0" algn="r">
              <a:lnSpc>
                <a:spcPct val="107000"/>
              </a:lnSpc>
              <a:spcBef>
                <a:spcPts val="0"/>
              </a:spcBef>
              <a:spcAft>
                <a:spcPts val="0"/>
              </a:spcAft>
              <a:buClr>
                <a:srgbClr val="FFFFFF"/>
              </a:buClr>
              <a:buSzPts val="2850"/>
              <a:buFont typeface="Arial"/>
              <a:buNone/>
            </a:pPr>
            <a:r>
              <a:rPr b="1" i="0" lang="en-US" sz="2850" u="none" cap="none" strike="noStrike">
                <a:solidFill>
                  <a:srgbClr val="FFFFFF"/>
                </a:solidFill>
                <a:latin typeface="Arial"/>
                <a:ea typeface="Arial"/>
                <a:cs typeface="Arial"/>
                <a:sym typeface="Arial"/>
              </a:rPr>
              <a:t>Connects the end-to-end </a:t>
            </a:r>
            <a:r>
              <a:rPr b="1" i="0" lang="en-US" sz="2850" u="none" cap="none" strike="noStrike">
                <a:solidFill>
                  <a:srgbClr val="38AFD8"/>
                </a:solidFill>
                <a:latin typeface="Arial"/>
                <a:ea typeface="Arial"/>
                <a:cs typeface="Arial"/>
                <a:sym typeface="Arial"/>
              </a:rPr>
              <a:t>workflow</a:t>
            </a:r>
            <a:endParaRPr b="0" i="0" sz="2850" u="none" cap="none" strike="noStrike">
              <a:solidFill>
                <a:schemeClr val="dk1"/>
              </a:solidFill>
              <a:latin typeface="Calibri"/>
              <a:ea typeface="Calibri"/>
              <a:cs typeface="Calibri"/>
              <a:sym typeface="Calibri"/>
            </a:endParaRPr>
          </a:p>
        </p:txBody>
      </p:sp>
      <p:sp>
        <p:nvSpPr>
          <p:cNvPr id="58" name="Google Shape;58;p3"/>
          <p:cNvSpPr/>
          <p:nvPr/>
        </p:nvSpPr>
        <p:spPr>
          <a:xfrm>
            <a:off x="1581115" y="7644717"/>
            <a:ext cx="8372474" cy="428186"/>
          </a:xfrm>
          <a:prstGeom prst="rect">
            <a:avLst/>
          </a:prstGeom>
          <a:noFill/>
          <a:ln>
            <a:noFill/>
          </a:ln>
        </p:spPr>
        <p:txBody>
          <a:bodyPr anchorCtr="0" anchor="t" bIns="25400" lIns="25400" spcFirstLastPara="1" rIns="25400" wrap="square" tIns="25400">
            <a:normAutofit/>
          </a:bodyPr>
          <a:lstStyle/>
          <a:p>
            <a:pPr indent="0" lvl="0" marL="0" marR="0" rtl="0" algn="l">
              <a:lnSpc>
                <a:spcPct val="109000"/>
              </a:lnSpc>
              <a:spcBef>
                <a:spcPts val="0"/>
              </a:spcBef>
              <a:spcAft>
                <a:spcPts val="0"/>
              </a:spcAft>
              <a:buClr>
                <a:srgbClr val="000000"/>
              </a:buClr>
              <a:buSzPts val="2400"/>
              <a:buFont typeface="Arial"/>
              <a:buNone/>
            </a:pPr>
            <a:r>
              <a:rPr b="0" i="0" lang="en-US" sz="2400" u="none" cap="none" strike="noStrike">
                <a:solidFill>
                  <a:srgbClr val="000000"/>
                </a:solidFill>
                <a:latin typeface="Arial"/>
                <a:ea typeface="Arial"/>
                <a:cs typeface="Arial"/>
                <a:sym typeface="Arial"/>
              </a:rPr>
              <a:t>Saves individual time</a:t>
            </a:r>
            <a:endParaRPr b="0" i="0" sz="2400" u="none" cap="none" strike="noStrike">
              <a:solidFill>
                <a:schemeClr val="dk1"/>
              </a:solidFill>
              <a:latin typeface="Calibri"/>
              <a:ea typeface="Calibri"/>
              <a:cs typeface="Calibri"/>
              <a:sym typeface="Calibri"/>
            </a:endParaRPr>
          </a:p>
        </p:txBody>
      </p:sp>
      <p:sp>
        <p:nvSpPr>
          <p:cNvPr id="59" name="Google Shape;59;p3"/>
          <p:cNvSpPr/>
          <p:nvPr/>
        </p:nvSpPr>
        <p:spPr>
          <a:xfrm>
            <a:off x="8334340" y="7615387"/>
            <a:ext cx="8334374" cy="486934"/>
          </a:xfrm>
          <a:prstGeom prst="rect">
            <a:avLst/>
          </a:prstGeom>
          <a:noFill/>
          <a:ln>
            <a:noFill/>
          </a:ln>
        </p:spPr>
        <p:txBody>
          <a:bodyPr anchorCtr="0" anchor="t" bIns="25400" lIns="25400" spcFirstLastPara="1" rIns="25400" wrap="square" tIns="25400">
            <a:normAutofit/>
          </a:bodyPr>
          <a:lstStyle/>
          <a:p>
            <a:pPr indent="0" lvl="0" marL="0" marR="0" rtl="0" algn="r">
              <a:lnSpc>
                <a:spcPct val="107000"/>
              </a:lnSpc>
              <a:spcBef>
                <a:spcPts val="0"/>
              </a:spcBef>
              <a:spcAft>
                <a:spcPts val="0"/>
              </a:spcAft>
              <a:buClr>
                <a:srgbClr val="FFFFFF"/>
              </a:buClr>
              <a:buSzPts val="2850"/>
              <a:buFont typeface="Arial"/>
              <a:buNone/>
            </a:pPr>
            <a:r>
              <a:rPr b="1" i="0" lang="en-US" sz="2850" u="none" cap="none" strike="noStrike">
                <a:solidFill>
                  <a:srgbClr val="FFFFFF"/>
                </a:solidFill>
                <a:latin typeface="Arial"/>
                <a:ea typeface="Arial"/>
                <a:cs typeface="Arial"/>
                <a:sym typeface="Arial"/>
              </a:rPr>
              <a:t>Changes </a:t>
            </a:r>
            <a:r>
              <a:rPr b="1" i="0" lang="en-US" sz="2850" u="none" cap="none" strike="noStrike">
                <a:solidFill>
                  <a:srgbClr val="38AFD8"/>
                </a:solidFill>
                <a:latin typeface="Arial"/>
                <a:ea typeface="Arial"/>
                <a:cs typeface="Arial"/>
                <a:sym typeface="Arial"/>
              </a:rPr>
              <a:t>learning speed and outcomes</a:t>
            </a:r>
            <a:endParaRPr b="0" i="0" sz="2850" u="none" cap="none" strike="noStrike">
              <a:solidFill>
                <a:schemeClr val="dk1"/>
              </a:solidFill>
              <a:latin typeface="Calibri"/>
              <a:ea typeface="Calibri"/>
              <a:cs typeface="Calibri"/>
              <a:sym typeface="Calibri"/>
            </a:endParaRPr>
          </a:p>
        </p:txBody>
      </p:sp>
      <p:sp>
        <p:nvSpPr>
          <p:cNvPr id="60" name="Google Shape;60;p3"/>
          <p:cNvSpPr/>
          <p:nvPr/>
        </p:nvSpPr>
        <p:spPr>
          <a:xfrm>
            <a:off x="1047715" y="9061804"/>
            <a:ext cx="17811749" cy="501382"/>
          </a:xfrm>
          <a:prstGeom prst="rect">
            <a:avLst/>
          </a:prstGeom>
          <a:noFill/>
          <a:ln>
            <a:noFill/>
          </a:ln>
        </p:spPr>
        <p:txBody>
          <a:bodyPr anchorCtr="0" anchor="t" bIns="25400" lIns="25400" spcFirstLastPara="1" rIns="25400" wrap="square" tIns="25400">
            <a:normAutofit/>
          </a:bodyPr>
          <a:lstStyle/>
          <a:p>
            <a:pPr indent="0" lvl="0" marL="0" marR="0" rtl="0" algn="l">
              <a:lnSpc>
                <a:spcPct val="112000"/>
              </a:lnSpc>
              <a:spcBef>
                <a:spcPts val="0"/>
              </a:spcBef>
              <a:spcAft>
                <a:spcPts val="0"/>
              </a:spcAft>
              <a:buClr>
                <a:srgbClr val="0A1522"/>
              </a:buClr>
              <a:buSzPts val="2850"/>
              <a:buFont typeface="Georgia"/>
              <a:buNone/>
            </a:pPr>
            <a:r>
              <a:rPr b="0" i="0" lang="en-US" sz="2850" u="none" cap="none" strike="noStrike">
                <a:solidFill>
                  <a:srgbClr val="0A1522"/>
                </a:solidFill>
                <a:latin typeface="Georgia"/>
                <a:ea typeface="Georgia"/>
                <a:cs typeface="Georgia"/>
                <a:sym typeface="Georgia"/>
              </a:rPr>
              <a:t>The winners will not be defined by whether they use AI — </a:t>
            </a:r>
            <a:r>
              <a:rPr b="0" i="0" lang="en-US" sz="2850" u="none" cap="none" strike="noStrike">
                <a:solidFill>
                  <a:srgbClr val="38AFD8"/>
                </a:solidFill>
                <a:latin typeface="Georgia"/>
                <a:ea typeface="Georgia"/>
                <a:cs typeface="Georgia"/>
                <a:sym typeface="Georgia"/>
              </a:rPr>
              <a:t>but by which problem they use it to solve.</a:t>
            </a:r>
            <a:endParaRPr b="0" i="0" sz="2850" u="none" cap="none" strike="noStrike">
              <a:solidFill>
                <a:schemeClr val="dk1"/>
              </a:solidFill>
              <a:latin typeface="Calibri"/>
              <a:ea typeface="Calibri"/>
              <a:cs typeface="Calibri"/>
              <a:sym typeface="Calibri"/>
            </a:endParaRPr>
          </a:p>
        </p:txBody>
      </p:sp>
      <p:pic>
        <p:nvPicPr>
          <p:cNvPr descr="preencoded.png" id="61" name="Google Shape;61;p3"/>
          <p:cNvPicPr preferRelativeResize="0"/>
          <p:nvPr/>
        </p:nvPicPr>
        <p:blipFill rotWithShape="1">
          <a:blip r:embed="rId4">
            <a:alphaModFix amt="72000"/>
          </a:blip>
          <a:srcRect b="0" l="0" r="0" t="0"/>
          <a:stretch/>
        </p:blipFill>
        <p:spPr>
          <a:xfrm>
            <a:off x="1047715" y="9772699"/>
            <a:ext cx="1317434" cy="38094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522"/>
        </a:solidFill>
      </p:bgPr>
    </p:bg>
    <p:spTree>
      <p:nvGrpSpPr>
        <p:cNvPr id="66" name="Shape 66"/>
        <p:cNvGrpSpPr/>
        <p:nvPr/>
      </p:nvGrpSpPr>
      <p:grpSpPr>
        <a:xfrm>
          <a:off x="0" y="0"/>
          <a:ext cx="0" cy="0"/>
          <a:chOff x="0" y="0"/>
          <a:chExt cx="0" cy="0"/>
        </a:xfrm>
      </p:grpSpPr>
      <p:sp>
        <p:nvSpPr>
          <p:cNvPr id="67" name="Google Shape;67;p4"/>
          <p:cNvSpPr/>
          <p:nvPr/>
        </p:nvSpPr>
        <p:spPr>
          <a:xfrm>
            <a:off x="1491598" y="3599552"/>
            <a:ext cx="15304734" cy="2101154"/>
          </a:xfrm>
          <a:prstGeom prst="rect">
            <a:avLst/>
          </a:prstGeom>
          <a:noFill/>
          <a:ln>
            <a:noFill/>
          </a:ln>
        </p:spPr>
        <p:txBody>
          <a:bodyPr anchorCtr="0" anchor="t" bIns="25400" lIns="25400" spcFirstLastPara="1" rIns="25400" wrap="square" tIns="25400">
            <a:normAutofit/>
          </a:bodyPr>
          <a:lstStyle/>
          <a:p>
            <a:pPr indent="0" lvl="0" marL="0" marR="0" rtl="0" algn="ctr">
              <a:lnSpc>
                <a:spcPct val="99000"/>
              </a:lnSpc>
              <a:spcBef>
                <a:spcPts val="0"/>
              </a:spcBef>
              <a:spcAft>
                <a:spcPts val="0"/>
              </a:spcAft>
              <a:buClr>
                <a:srgbClr val="FFFFFF"/>
              </a:buClr>
              <a:buSzPts val="6900"/>
              <a:buFont typeface="Georgia"/>
              <a:buNone/>
            </a:pPr>
            <a:r>
              <a:rPr b="0" i="0" lang="en-US" sz="6900" u="none" cap="none" strike="noStrike">
                <a:solidFill>
                  <a:srgbClr val="FFFFFF"/>
                </a:solidFill>
                <a:latin typeface="Georgia"/>
                <a:ea typeface="Georgia"/>
                <a:cs typeface="Georgia"/>
                <a:sym typeface="Georgia"/>
              </a:rPr>
              <a:t>In biotech, the problem worth solving with AI is </a:t>
            </a:r>
            <a:r>
              <a:rPr b="0" i="1" lang="en-US" sz="6900" u="none" cap="none" strike="noStrike">
                <a:solidFill>
                  <a:srgbClr val="38AFD8"/>
                </a:solidFill>
                <a:latin typeface="Georgia"/>
                <a:ea typeface="Georgia"/>
                <a:cs typeface="Georgia"/>
                <a:sym typeface="Georgia"/>
              </a:rPr>
              <a:t>the bioprocess</a:t>
            </a:r>
            <a:r>
              <a:rPr b="0" i="0" lang="en-US" sz="6900" u="none" cap="none" strike="noStrike">
                <a:solidFill>
                  <a:srgbClr val="FFFFFF"/>
                </a:solidFill>
                <a:latin typeface="Georgia"/>
                <a:ea typeface="Georgia"/>
                <a:cs typeface="Georgia"/>
                <a:sym typeface="Georgia"/>
              </a:rPr>
              <a:t>.</a:t>
            </a:r>
            <a:endParaRPr b="0" i="0" sz="6900" u="none" cap="none" strike="noStrike">
              <a:solidFill>
                <a:schemeClr val="dk1"/>
              </a:solidFill>
              <a:latin typeface="Calibri"/>
              <a:ea typeface="Calibri"/>
              <a:cs typeface="Calibri"/>
              <a:sym typeface="Calibri"/>
            </a:endParaRPr>
          </a:p>
        </p:txBody>
      </p:sp>
      <p:sp>
        <p:nvSpPr>
          <p:cNvPr id="68" name="Google Shape;68;p4"/>
          <p:cNvSpPr/>
          <p:nvPr/>
        </p:nvSpPr>
        <p:spPr>
          <a:xfrm>
            <a:off x="4465018" y="6348346"/>
            <a:ext cx="1985593" cy="434279"/>
          </a:xfrm>
          <a:prstGeom prst="rect">
            <a:avLst/>
          </a:prstGeom>
          <a:noFill/>
          <a:ln>
            <a:noFill/>
          </a:ln>
        </p:spPr>
        <p:txBody>
          <a:bodyPr anchorCtr="0" anchor="t" bIns="25400" lIns="25400" spcFirstLastPara="1" rIns="25400" wrap="square" tIns="25400">
            <a:normAutofit/>
          </a:bodyPr>
          <a:lstStyle/>
          <a:p>
            <a:pPr indent="0" lvl="0" marL="0" marR="0" rtl="0" algn="ctr">
              <a:lnSpc>
                <a:spcPct val="111000"/>
              </a:lnSpc>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OPTIMIZE</a:t>
            </a:r>
            <a:endParaRPr b="0" i="0" sz="2400" u="none" cap="none" strike="noStrike">
              <a:solidFill>
                <a:schemeClr val="dk1"/>
              </a:solidFill>
              <a:latin typeface="Calibri"/>
              <a:ea typeface="Calibri"/>
              <a:cs typeface="Calibri"/>
              <a:sym typeface="Calibri"/>
            </a:endParaRPr>
          </a:p>
        </p:txBody>
      </p:sp>
      <p:sp>
        <p:nvSpPr>
          <p:cNvPr id="69" name="Google Shape;69;p4"/>
          <p:cNvSpPr/>
          <p:nvPr/>
        </p:nvSpPr>
        <p:spPr>
          <a:xfrm>
            <a:off x="6646023" y="6348346"/>
            <a:ext cx="223462" cy="434279"/>
          </a:xfrm>
          <a:prstGeom prst="rect">
            <a:avLst/>
          </a:prstGeom>
          <a:noFill/>
          <a:ln>
            <a:noFill/>
          </a:ln>
        </p:spPr>
        <p:txBody>
          <a:bodyPr anchorCtr="0" anchor="t" bIns="25400" lIns="25400" spcFirstLastPara="1" rIns="25400" wrap="square" tIns="25400">
            <a:normAutofit/>
          </a:bodyPr>
          <a:lstStyle/>
          <a:p>
            <a:pPr indent="0" lvl="0" marL="0" marR="0" rtl="0" algn="ctr">
              <a:lnSpc>
                <a:spcPct val="111000"/>
              </a:lnSpc>
              <a:spcBef>
                <a:spcPts val="0"/>
              </a:spcBef>
              <a:spcAft>
                <a:spcPts val="0"/>
              </a:spcAft>
              <a:buClr>
                <a:srgbClr val="38AFD8"/>
              </a:buClr>
              <a:buSzPts val="2400"/>
              <a:buFont typeface="Arial"/>
              <a:buNone/>
            </a:pPr>
            <a:r>
              <a:rPr b="1" i="0" lang="en-US" sz="2400" u="none" cap="none" strike="noStrike">
                <a:solidFill>
                  <a:srgbClr val="38AFD8"/>
                </a:solidFill>
                <a:latin typeface="Arial"/>
                <a:ea typeface="Arial"/>
                <a:cs typeface="Arial"/>
                <a:sym typeface="Arial"/>
              </a:rPr>
              <a:t>·</a:t>
            </a:r>
            <a:endParaRPr b="0" i="0" sz="2400" u="none" cap="none" strike="noStrike">
              <a:solidFill>
                <a:schemeClr val="dk1"/>
              </a:solidFill>
              <a:latin typeface="Calibri"/>
              <a:ea typeface="Calibri"/>
              <a:cs typeface="Calibri"/>
              <a:sym typeface="Calibri"/>
            </a:endParaRPr>
          </a:p>
        </p:txBody>
      </p:sp>
      <p:sp>
        <p:nvSpPr>
          <p:cNvPr id="70" name="Google Shape;70;p4"/>
          <p:cNvSpPr/>
          <p:nvPr/>
        </p:nvSpPr>
        <p:spPr>
          <a:xfrm>
            <a:off x="7009173" y="6348346"/>
            <a:ext cx="3211511" cy="434279"/>
          </a:xfrm>
          <a:prstGeom prst="rect">
            <a:avLst/>
          </a:prstGeom>
          <a:noFill/>
          <a:ln>
            <a:noFill/>
          </a:ln>
        </p:spPr>
        <p:txBody>
          <a:bodyPr anchorCtr="0" anchor="t" bIns="25400" lIns="25400" spcFirstLastPara="1" rIns="25400" wrap="square" tIns="25400">
            <a:normAutofit/>
          </a:bodyPr>
          <a:lstStyle/>
          <a:p>
            <a:pPr indent="0" lvl="0" marL="0" marR="0" rtl="0" algn="ctr">
              <a:lnSpc>
                <a:spcPct val="111000"/>
              </a:lnSpc>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CHARACTERIZE</a:t>
            </a:r>
            <a:endParaRPr b="0" i="0" sz="2400" u="none" cap="none" strike="noStrike">
              <a:solidFill>
                <a:schemeClr val="dk1"/>
              </a:solidFill>
              <a:latin typeface="Calibri"/>
              <a:ea typeface="Calibri"/>
              <a:cs typeface="Calibri"/>
              <a:sym typeface="Calibri"/>
            </a:endParaRPr>
          </a:p>
        </p:txBody>
      </p:sp>
      <p:sp>
        <p:nvSpPr>
          <p:cNvPr id="71" name="Google Shape;71;p4"/>
          <p:cNvSpPr/>
          <p:nvPr/>
        </p:nvSpPr>
        <p:spPr>
          <a:xfrm>
            <a:off x="10360372" y="6348346"/>
            <a:ext cx="223462" cy="434279"/>
          </a:xfrm>
          <a:prstGeom prst="rect">
            <a:avLst/>
          </a:prstGeom>
          <a:noFill/>
          <a:ln>
            <a:noFill/>
          </a:ln>
        </p:spPr>
        <p:txBody>
          <a:bodyPr anchorCtr="0" anchor="t" bIns="25400" lIns="25400" spcFirstLastPara="1" rIns="25400" wrap="square" tIns="25400">
            <a:normAutofit/>
          </a:bodyPr>
          <a:lstStyle/>
          <a:p>
            <a:pPr indent="0" lvl="0" marL="0" marR="0" rtl="0" algn="ctr">
              <a:lnSpc>
                <a:spcPct val="111000"/>
              </a:lnSpc>
              <a:spcBef>
                <a:spcPts val="0"/>
              </a:spcBef>
              <a:spcAft>
                <a:spcPts val="0"/>
              </a:spcAft>
              <a:buClr>
                <a:srgbClr val="38AFD8"/>
              </a:buClr>
              <a:buSzPts val="2400"/>
              <a:buFont typeface="Arial"/>
              <a:buNone/>
            </a:pPr>
            <a:r>
              <a:rPr b="1" i="0" lang="en-US" sz="2400" u="none" cap="none" strike="noStrike">
                <a:solidFill>
                  <a:srgbClr val="38AFD8"/>
                </a:solidFill>
                <a:latin typeface="Arial"/>
                <a:ea typeface="Arial"/>
                <a:cs typeface="Arial"/>
                <a:sym typeface="Arial"/>
              </a:rPr>
              <a:t>·</a:t>
            </a:r>
            <a:endParaRPr b="0" i="0" sz="2400" u="none" cap="none" strike="noStrike">
              <a:solidFill>
                <a:schemeClr val="dk1"/>
              </a:solidFill>
              <a:latin typeface="Calibri"/>
              <a:ea typeface="Calibri"/>
              <a:cs typeface="Calibri"/>
              <a:sym typeface="Calibri"/>
            </a:endParaRPr>
          </a:p>
        </p:txBody>
      </p:sp>
      <p:sp>
        <p:nvSpPr>
          <p:cNvPr id="72" name="Google Shape;72;p4"/>
          <p:cNvSpPr/>
          <p:nvPr/>
        </p:nvSpPr>
        <p:spPr>
          <a:xfrm>
            <a:off x="10808094" y="6348346"/>
            <a:ext cx="1350950" cy="434279"/>
          </a:xfrm>
          <a:prstGeom prst="rect">
            <a:avLst/>
          </a:prstGeom>
          <a:noFill/>
          <a:ln>
            <a:noFill/>
          </a:ln>
        </p:spPr>
        <p:txBody>
          <a:bodyPr anchorCtr="0" anchor="t" bIns="25400" lIns="25400" spcFirstLastPara="1" rIns="25400" wrap="square" tIns="25400">
            <a:normAutofit/>
          </a:bodyPr>
          <a:lstStyle/>
          <a:p>
            <a:pPr indent="0" lvl="0" marL="0" marR="0" rtl="0" algn="ctr">
              <a:lnSpc>
                <a:spcPct val="111000"/>
              </a:lnSpc>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SCALE</a:t>
            </a:r>
            <a:endParaRPr b="0" i="0" sz="2400" u="none" cap="none" strike="noStrike">
              <a:solidFill>
                <a:schemeClr val="dk1"/>
              </a:solidFill>
              <a:latin typeface="Calibri"/>
              <a:ea typeface="Calibri"/>
              <a:cs typeface="Calibri"/>
              <a:sym typeface="Calibri"/>
            </a:endParaRPr>
          </a:p>
        </p:txBody>
      </p:sp>
      <p:sp>
        <p:nvSpPr>
          <p:cNvPr id="73" name="Google Shape;73;p4"/>
          <p:cNvSpPr/>
          <p:nvPr/>
        </p:nvSpPr>
        <p:spPr>
          <a:xfrm>
            <a:off x="12383303" y="6348346"/>
            <a:ext cx="223462" cy="434279"/>
          </a:xfrm>
          <a:prstGeom prst="rect">
            <a:avLst/>
          </a:prstGeom>
          <a:noFill/>
          <a:ln>
            <a:noFill/>
          </a:ln>
        </p:spPr>
        <p:txBody>
          <a:bodyPr anchorCtr="0" anchor="t" bIns="25400" lIns="25400" spcFirstLastPara="1" rIns="25400" wrap="square" tIns="25400">
            <a:normAutofit/>
          </a:bodyPr>
          <a:lstStyle/>
          <a:p>
            <a:pPr indent="0" lvl="0" marL="0" marR="0" rtl="0" algn="ctr">
              <a:lnSpc>
                <a:spcPct val="111000"/>
              </a:lnSpc>
              <a:spcBef>
                <a:spcPts val="0"/>
              </a:spcBef>
              <a:spcAft>
                <a:spcPts val="0"/>
              </a:spcAft>
              <a:buClr>
                <a:srgbClr val="38AFD8"/>
              </a:buClr>
              <a:buSzPts val="2400"/>
              <a:buFont typeface="Arial"/>
              <a:buNone/>
            </a:pPr>
            <a:r>
              <a:rPr b="1" i="0" lang="en-US" sz="2400" u="none" cap="none" strike="noStrike">
                <a:solidFill>
                  <a:srgbClr val="38AFD8"/>
                </a:solidFill>
                <a:latin typeface="Arial"/>
                <a:ea typeface="Arial"/>
                <a:cs typeface="Arial"/>
                <a:sym typeface="Arial"/>
              </a:rPr>
              <a:t>·</a:t>
            </a:r>
            <a:endParaRPr b="0" i="0" sz="2400" u="none" cap="none" strike="noStrike">
              <a:solidFill>
                <a:schemeClr val="dk1"/>
              </a:solidFill>
              <a:latin typeface="Calibri"/>
              <a:ea typeface="Calibri"/>
              <a:cs typeface="Calibri"/>
              <a:sym typeface="Calibri"/>
            </a:endParaRPr>
          </a:p>
        </p:txBody>
      </p:sp>
      <p:sp>
        <p:nvSpPr>
          <p:cNvPr id="74" name="Google Shape;74;p4"/>
          <p:cNvSpPr/>
          <p:nvPr/>
        </p:nvSpPr>
        <p:spPr>
          <a:xfrm>
            <a:off x="12854332" y="6348346"/>
            <a:ext cx="873779" cy="434279"/>
          </a:xfrm>
          <a:prstGeom prst="rect">
            <a:avLst/>
          </a:prstGeom>
          <a:noFill/>
          <a:ln>
            <a:noFill/>
          </a:ln>
        </p:spPr>
        <p:txBody>
          <a:bodyPr anchorCtr="0" anchor="t" bIns="25400" lIns="25400" spcFirstLastPara="1" rIns="25400" wrap="square" tIns="25400">
            <a:normAutofit/>
          </a:bodyPr>
          <a:lstStyle/>
          <a:p>
            <a:pPr indent="0" lvl="0" marL="0" marR="0" rtl="0" algn="ctr">
              <a:lnSpc>
                <a:spcPct val="111000"/>
              </a:lnSpc>
              <a:spcBef>
                <a:spcPts val="0"/>
              </a:spcBef>
              <a:spcAft>
                <a:spcPts val="0"/>
              </a:spcAft>
              <a:buClr>
                <a:srgbClr val="FFFFFF"/>
              </a:buClr>
              <a:buSzPts val="2400"/>
              <a:buFont typeface="Arial"/>
              <a:buNone/>
            </a:pPr>
            <a:r>
              <a:rPr b="1" i="0" lang="en-US" sz="2400" u="none" cap="none" strike="noStrike">
                <a:solidFill>
                  <a:srgbClr val="FFFFFF"/>
                </a:solidFill>
                <a:latin typeface="Arial"/>
                <a:ea typeface="Arial"/>
                <a:cs typeface="Arial"/>
                <a:sym typeface="Arial"/>
              </a:rPr>
              <a:t>RUN</a:t>
            </a:r>
            <a:endParaRPr b="0" i="0" sz="2400" u="none" cap="none" strike="noStrike">
              <a:solidFill>
                <a:schemeClr val="dk1"/>
              </a:solidFill>
              <a:latin typeface="Calibri"/>
              <a:ea typeface="Calibri"/>
              <a:cs typeface="Calibri"/>
              <a:sym typeface="Calibri"/>
            </a:endParaRPr>
          </a:p>
        </p:txBody>
      </p:sp>
      <p:pic>
        <p:nvPicPr>
          <p:cNvPr descr="preencoded.png" id="75" name="Google Shape;75;p4"/>
          <p:cNvPicPr preferRelativeResize="0"/>
          <p:nvPr/>
        </p:nvPicPr>
        <p:blipFill rotWithShape="1">
          <a:blip r:embed="rId3">
            <a:alphaModFix amt="80000"/>
          </a:blip>
          <a:srcRect b="0" l="0" r="0" t="0"/>
          <a:stretch/>
        </p:blipFill>
        <p:spPr>
          <a:xfrm>
            <a:off x="1047715" y="9772699"/>
            <a:ext cx="1317434" cy="38094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0" name="Shape 80"/>
        <p:cNvGrpSpPr/>
        <p:nvPr/>
      </p:nvGrpSpPr>
      <p:grpSpPr>
        <a:xfrm>
          <a:off x="0" y="0"/>
          <a:ext cx="0" cy="0"/>
          <a:chOff x="0" y="0"/>
          <a:chExt cx="0" cy="0"/>
        </a:xfrm>
      </p:grpSpPr>
      <p:sp>
        <p:nvSpPr>
          <p:cNvPr id="81" name="Google Shape;81;p5"/>
          <p:cNvSpPr/>
          <p:nvPr/>
        </p:nvSpPr>
        <p:spPr>
          <a:xfrm>
            <a:off x="1047715" y="628647"/>
            <a:ext cx="17779745" cy="335321"/>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BIOPHARMA</a:t>
            </a:r>
            <a:endParaRPr b="0" i="0" sz="1800" u="none" cap="none" strike="noStrike">
              <a:solidFill>
                <a:schemeClr val="dk1"/>
              </a:solidFill>
              <a:latin typeface="Calibri"/>
              <a:ea typeface="Calibri"/>
              <a:cs typeface="Calibri"/>
              <a:sym typeface="Calibri"/>
            </a:endParaRPr>
          </a:p>
        </p:txBody>
      </p:sp>
      <p:sp>
        <p:nvSpPr>
          <p:cNvPr id="82" name="Google Shape;82;p5"/>
          <p:cNvSpPr/>
          <p:nvPr/>
        </p:nvSpPr>
        <p:spPr>
          <a:xfrm>
            <a:off x="1047715" y="1097237"/>
            <a:ext cx="16285808" cy="1127766"/>
          </a:xfrm>
          <a:prstGeom prst="rect">
            <a:avLst/>
          </a:prstGeom>
          <a:noFill/>
          <a:ln>
            <a:noFill/>
          </a:ln>
        </p:spPr>
        <p:txBody>
          <a:bodyPr anchorCtr="0" anchor="t" bIns="25400" lIns="25400" spcFirstLastPara="1" rIns="25400" wrap="square" tIns="25400">
            <a:normAutofit/>
          </a:bodyPr>
          <a:lstStyle/>
          <a:p>
            <a:pPr indent="0" lvl="0" marL="0" marR="0" rtl="0" algn="l">
              <a:lnSpc>
                <a:spcPct val="94000"/>
              </a:lnSpc>
              <a:spcBef>
                <a:spcPts val="0"/>
              </a:spcBef>
              <a:spcAft>
                <a:spcPts val="0"/>
              </a:spcAft>
              <a:buClr>
                <a:srgbClr val="0A1522"/>
              </a:buClr>
              <a:buSzPts val="3600"/>
              <a:buFont typeface="Georgia"/>
              <a:buNone/>
            </a:pPr>
            <a:r>
              <a:rPr b="0" i="0" lang="en-US" sz="3600" u="none" cap="none" strike="noStrike">
                <a:solidFill>
                  <a:srgbClr val="0A1522"/>
                </a:solidFill>
                <a:latin typeface="Georgia"/>
                <a:ea typeface="Georgia"/>
                <a:cs typeface="Georgia"/>
                <a:sym typeface="Georgia"/>
              </a:rPr>
              <a:t>A promising molecule becomes a reliable medicine only if </a:t>
            </a:r>
            <a:r>
              <a:rPr b="0" i="1" lang="en-US" sz="3600" u="none" cap="none" strike="noStrike">
                <a:solidFill>
                  <a:srgbClr val="38AFD8"/>
                </a:solidFill>
                <a:latin typeface="Georgia"/>
                <a:ea typeface="Georgia"/>
                <a:cs typeface="Georgia"/>
                <a:sym typeface="Georgia"/>
              </a:rPr>
              <a:t>the cell culture process is reliable.</a:t>
            </a:r>
            <a:endParaRPr b="0" i="0" sz="3600" u="none" cap="none" strike="noStrike">
              <a:solidFill>
                <a:schemeClr val="dk1"/>
              </a:solidFill>
              <a:latin typeface="Calibri"/>
              <a:ea typeface="Calibri"/>
              <a:cs typeface="Calibri"/>
              <a:sym typeface="Calibri"/>
            </a:endParaRPr>
          </a:p>
        </p:txBody>
      </p:sp>
      <p:sp>
        <p:nvSpPr>
          <p:cNvPr id="83" name="Google Shape;83;p5"/>
          <p:cNvSpPr/>
          <p:nvPr/>
        </p:nvSpPr>
        <p:spPr>
          <a:xfrm>
            <a:off x="1047715" y="5301675"/>
            <a:ext cx="9988281" cy="9525"/>
          </a:xfrm>
          <a:prstGeom prst="rect">
            <a:avLst/>
          </a:prstGeom>
          <a:solidFill>
            <a:srgbClr val="0A1522">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1047715" y="2510669"/>
            <a:ext cx="598491" cy="476229"/>
          </a:xfrm>
          <a:prstGeom prst="rect">
            <a:avLst/>
          </a:prstGeom>
          <a:noFill/>
          <a:ln>
            <a:noFill/>
          </a:ln>
        </p:spPr>
        <p:txBody>
          <a:bodyPr anchorCtr="0" anchor="t" bIns="25400" lIns="25400" spcFirstLastPara="1" rIns="25400" wrap="square" tIns="25400">
            <a:normAutofit/>
          </a:bodyPr>
          <a:lstStyle/>
          <a:p>
            <a:pPr indent="0" lvl="0" marL="0" marR="0" rtl="0" algn="l">
              <a:lnSpc>
                <a:spcPct val="88000"/>
              </a:lnSpc>
              <a:spcBef>
                <a:spcPts val="0"/>
              </a:spcBef>
              <a:spcAft>
                <a:spcPts val="0"/>
              </a:spcAft>
              <a:buClr>
                <a:srgbClr val="0A1522"/>
              </a:buClr>
              <a:buSzPts val="3450"/>
              <a:buFont typeface="Georgia"/>
              <a:buNone/>
            </a:pPr>
            <a:r>
              <a:rPr b="0" i="0" lang="en-US" sz="3450" u="none" cap="none" strike="noStrike">
                <a:solidFill>
                  <a:srgbClr val="0A1522"/>
                </a:solidFill>
                <a:latin typeface="Georgia"/>
                <a:ea typeface="Georgia"/>
                <a:cs typeface="Georgia"/>
                <a:sym typeface="Georgia"/>
              </a:rPr>
              <a:t>01</a:t>
            </a:r>
            <a:endParaRPr b="0" i="0" sz="3450" u="none" cap="none" strike="noStrike">
              <a:solidFill>
                <a:schemeClr val="dk1"/>
              </a:solidFill>
              <a:latin typeface="Calibri"/>
              <a:ea typeface="Calibri"/>
              <a:cs typeface="Calibri"/>
              <a:sym typeface="Calibri"/>
            </a:endParaRPr>
          </a:p>
        </p:txBody>
      </p:sp>
      <p:sp>
        <p:nvSpPr>
          <p:cNvPr id="85" name="Google Shape;85;p5"/>
          <p:cNvSpPr/>
          <p:nvPr/>
        </p:nvSpPr>
        <p:spPr>
          <a:xfrm>
            <a:off x="1855739" y="2527380"/>
            <a:ext cx="1687822" cy="294328"/>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0A1522"/>
              </a:buClr>
              <a:buSzPts val="1800"/>
              <a:buFont typeface="Arial"/>
              <a:buNone/>
            </a:pPr>
            <a:r>
              <a:rPr b="1" i="0" lang="en-US" sz="1800" u="none" cap="none" strike="noStrike">
                <a:solidFill>
                  <a:srgbClr val="0A1522"/>
                </a:solidFill>
                <a:latin typeface="Arial"/>
                <a:ea typeface="Arial"/>
                <a:cs typeface="Arial"/>
                <a:sym typeface="Arial"/>
              </a:rPr>
              <a:t>SITUATION</a:t>
            </a:r>
            <a:endParaRPr b="0" i="0" sz="1800" u="none" cap="none" strike="noStrike">
              <a:solidFill>
                <a:schemeClr val="dk1"/>
              </a:solidFill>
              <a:latin typeface="Calibri"/>
              <a:ea typeface="Calibri"/>
              <a:cs typeface="Calibri"/>
              <a:sym typeface="Calibri"/>
            </a:endParaRPr>
          </a:p>
        </p:txBody>
      </p:sp>
      <p:sp>
        <p:nvSpPr>
          <p:cNvPr id="86" name="Google Shape;86;p5"/>
          <p:cNvSpPr/>
          <p:nvPr/>
        </p:nvSpPr>
        <p:spPr>
          <a:xfrm>
            <a:off x="1855739" y="2941227"/>
            <a:ext cx="9455666" cy="1469113"/>
          </a:xfrm>
          <a:prstGeom prst="rect">
            <a:avLst/>
          </a:prstGeom>
          <a:noFill/>
          <a:ln>
            <a:noFill/>
          </a:ln>
        </p:spPr>
        <p:txBody>
          <a:bodyPr anchorCtr="0" anchor="t" bIns="25400" lIns="25400" spcFirstLastPara="1" rIns="25400" wrap="square" tIns="25400">
            <a:normAutofit/>
          </a:bodyPr>
          <a:lstStyle/>
          <a:p>
            <a:pPr indent="0" lvl="0" marL="0" marR="0" rtl="0" algn="l">
              <a:lnSpc>
                <a:spcPct val="113000"/>
              </a:lnSpc>
              <a:spcBef>
                <a:spcPts val="0"/>
              </a:spcBef>
              <a:spcAft>
                <a:spcPts val="0"/>
              </a:spcAft>
              <a:buClr>
                <a:srgbClr val="0A1522"/>
              </a:buClr>
              <a:buSzPts val="2625"/>
              <a:buFont typeface="Arial"/>
              <a:buNone/>
            </a:pPr>
            <a:r>
              <a:rPr b="0" i="0" lang="en-US" sz="2625" u="none" cap="none" strike="noStrike">
                <a:solidFill>
                  <a:srgbClr val="0A1522"/>
                </a:solidFill>
                <a:latin typeface="Arial"/>
                <a:ea typeface="Arial"/>
                <a:cs typeface="Arial"/>
                <a:sym typeface="Arial"/>
              </a:rPr>
              <a:t>Discovery identifies a promising molecule. But patients receive it only if it is </a:t>
            </a:r>
            <a:r>
              <a:rPr b="1" i="0" lang="en-US" sz="2625" u="none" cap="none" strike="noStrike">
                <a:solidFill>
                  <a:srgbClr val="0A1522"/>
                </a:solidFill>
                <a:latin typeface="Arial"/>
                <a:ea typeface="Arial"/>
                <a:cs typeface="Arial"/>
                <a:sym typeface="Arial"/>
              </a:rPr>
              <a:t>manufactured repeatedly </a:t>
            </a:r>
            <a:r>
              <a:rPr b="0" i="0" lang="en-US" sz="2625" u="none" cap="none" strike="noStrike">
                <a:solidFill>
                  <a:srgbClr val="0A1522"/>
                </a:solidFill>
                <a:latin typeface="Arial"/>
                <a:ea typeface="Arial"/>
                <a:cs typeface="Arial"/>
                <a:sym typeface="Arial"/>
              </a:rPr>
              <a:t>— across batches, scales and sites.</a:t>
            </a:r>
            <a:endParaRPr b="0" i="0" sz="2625" u="none" cap="none" strike="noStrike">
              <a:solidFill>
                <a:schemeClr val="dk1"/>
              </a:solidFill>
              <a:latin typeface="Calibri"/>
              <a:ea typeface="Calibri"/>
              <a:cs typeface="Calibri"/>
              <a:sym typeface="Calibri"/>
            </a:endParaRPr>
          </a:p>
        </p:txBody>
      </p:sp>
      <p:sp>
        <p:nvSpPr>
          <p:cNvPr id="87" name="Google Shape;87;p5"/>
          <p:cNvSpPr/>
          <p:nvPr/>
        </p:nvSpPr>
        <p:spPr>
          <a:xfrm>
            <a:off x="1047715" y="5631012"/>
            <a:ext cx="598491" cy="476229"/>
          </a:xfrm>
          <a:prstGeom prst="rect">
            <a:avLst/>
          </a:prstGeom>
          <a:noFill/>
          <a:ln>
            <a:noFill/>
          </a:ln>
        </p:spPr>
        <p:txBody>
          <a:bodyPr anchorCtr="0" anchor="t" bIns="25400" lIns="25400" spcFirstLastPara="1" rIns="25400" wrap="square" tIns="25400">
            <a:normAutofit/>
          </a:bodyPr>
          <a:lstStyle/>
          <a:p>
            <a:pPr indent="0" lvl="0" marL="0" marR="0" rtl="0" algn="l">
              <a:lnSpc>
                <a:spcPct val="88000"/>
              </a:lnSpc>
              <a:spcBef>
                <a:spcPts val="0"/>
              </a:spcBef>
              <a:spcAft>
                <a:spcPts val="0"/>
              </a:spcAft>
              <a:buClr>
                <a:srgbClr val="38AFD8"/>
              </a:buClr>
              <a:buSzPts val="3450"/>
              <a:buFont typeface="Georgia"/>
              <a:buNone/>
            </a:pPr>
            <a:r>
              <a:rPr b="0" i="0" lang="en-US" sz="3450" u="none" cap="none" strike="noStrike">
                <a:solidFill>
                  <a:srgbClr val="38AFD8"/>
                </a:solidFill>
                <a:latin typeface="Georgia"/>
                <a:ea typeface="Georgia"/>
                <a:cs typeface="Georgia"/>
                <a:sym typeface="Georgia"/>
              </a:rPr>
              <a:t>02</a:t>
            </a:r>
            <a:endParaRPr b="0" i="0" sz="3450" u="none" cap="none" strike="noStrike">
              <a:solidFill>
                <a:schemeClr val="dk1"/>
              </a:solidFill>
              <a:latin typeface="Calibri"/>
              <a:ea typeface="Calibri"/>
              <a:cs typeface="Calibri"/>
              <a:sym typeface="Calibri"/>
            </a:endParaRPr>
          </a:p>
        </p:txBody>
      </p:sp>
      <p:sp>
        <p:nvSpPr>
          <p:cNvPr id="88" name="Google Shape;88;p5"/>
          <p:cNvSpPr/>
          <p:nvPr/>
        </p:nvSpPr>
        <p:spPr>
          <a:xfrm>
            <a:off x="1855739" y="5647723"/>
            <a:ext cx="2381344" cy="294328"/>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COMPLICATION</a:t>
            </a:r>
            <a:endParaRPr b="0" i="0" sz="1800" u="none" cap="none" strike="noStrike">
              <a:solidFill>
                <a:schemeClr val="dk1"/>
              </a:solidFill>
              <a:latin typeface="Calibri"/>
              <a:ea typeface="Calibri"/>
              <a:cs typeface="Calibri"/>
              <a:sym typeface="Calibri"/>
            </a:endParaRPr>
          </a:p>
        </p:txBody>
      </p:sp>
      <p:sp>
        <p:nvSpPr>
          <p:cNvPr id="89" name="Google Shape;89;p5"/>
          <p:cNvSpPr/>
          <p:nvPr/>
        </p:nvSpPr>
        <p:spPr>
          <a:xfrm>
            <a:off x="1855739" y="6061569"/>
            <a:ext cx="9455666" cy="1491394"/>
          </a:xfrm>
          <a:prstGeom prst="rect">
            <a:avLst/>
          </a:prstGeom>
          <a:noFill/>
          <a:ln>
            <a:noFill/>
          </a:ln>
        </p:spPr>
        <p:txBody>
          <a:bodyPr anchorCtr="0" anchor="t" bIns="25400" lIns="25400" spcFirstLastPara="1" rIns="25400" wrap="square" tIns="25400">
            <a:normAutofit/>
          </a:bodyPr>
          <a:lstStyle/>
          <a:p>
            <a:pPr indent="0" lvl="0" marL="0" marR="0" rtl="0" algn="l">
              <a:lnSpc>
                <a:spcPct val="123000"/>
              </a:lnSpc>
              <a:spcBef>
                <a:spcPts val="0"/>
              </a:spcBef>
              <a:spcAft>
                <a:spcPts val="0"/>
              </a:spcAft>
              <a:buClr>
                <a:srgbClr val="0A1522"/>
              </a:buClr>
              <a:buSzPts val="2625"/>
              <a:buFont typeface="Arial"/>
              <a:buNone/>
            </a:pPr>
            <a:r>
              <a:rPr b="0" i="0" lang="en-US" sz="2625" u="none" cap="none" strike="noStrike">
                <a:solidFill>
                  <a:srgbClr val="0A1522"/>
                </a:solidFill>
                <a:latin typeface="Arial"/>
                <a:ea typeface="Arial"/>
                <a:cs typeface="Arial"/>
                <a:sym typeface="Arial"/>
              </a:rPr>
              <a:t>In biologics, the </a:t>
            </a:r>
            <a:r>
              <a:rPr b="1" i="0" lang="en-US" sz="2625" u="none" cap="none" strike="noStrike">
                <a:solidFill>
                  <a:srgbClr val="0A1522"/>
                </a:solidFill>
                <a:latin typeface="Arial"/>
                <a:ea typeface="Arial"/>
                <a:cs typeface="Arial"/>
                <a:sym typeface="Arial"/>
              </a:rPr>
              <a:t>manufacturing environment influences the product itself </a:t>
            </a:r>
            <a:r>
              <a:rPr b="0" i="0" lang="en-US" sz="2625" u="none" cap="none" strike="noStrike">
                <a:solidFill>
                  <a:srgbClr val="0A1522"/>
                </a:solidFill>
                <a:latin typeface="Arial"/>
                <a:ea typeface="Arial"/>
                <a:cs typeface="Arial"/>
                <a:sym typeface="Arial"/>
              </a:rPr>
              <a:t>— and </a:t>
            </a:r>
            <a:r>
              <a:rPr b="1" i="0" lang="en-US" sz="2625" u="none" cap="none" strike="noStrike">
                <a:solidFill>
                  <a:srgbClr val="0A1522"/>
                </a:solidFill>
                <a:latin typeface="Arial"/>
                <a:ea typeface="Arial"/>
                <a:cs typeface="Arial"/>
                <a:sym typeface="Arial"/>
              </a:rPr>
              <a:t>insufficient process understanding surfaces later.</a:t>
            </a:r>
            <a:endParaRPr b="0" i="0" sz="2625" u="none" cap="none" strike="noStrike">
              <a:solidFill>
                <a:schemeClr val="dk1"/>
              </a:solidFill>
              <a:latin typeface="Calibri"/>
              <a:ea typeface="Calibri"/>
              <a:cs typeface="Calibri"/>
              <a:sym typeface="Calibri"/>
            </a:endParaRPr>
          </a:p>
        </p:txBody>
      </p:sp>
      <p:sp>
        <p:nvSpPr>
          <p:cNvPr id="90" name="Google Shape;90;p5"/>
          <p:cNvSpPr/>
          <p:nvPr/>
        </p:nvSpPr>
        <p:spPr>
          <a:xfrm>
            <a:off x="11321729" y="2510669"/>
            <a:ext cx="5918485" cy="5587669"/>
          </a:xfrm>
          <a:prstGeom prst="roundRect">
            <a:avLst>
              <a:gd fmla="val 3409" name="adj"/>
            </a:avLst>
          </a:prstGeom>
          <a:solidFill>
            <a:srgbClr val="F1F3F5"/>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11708247" y="2859066"/>
            <a:ext cx="5627990" cy="335321"/>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BUSINESS IMPLICATIONS</a:t>
            </a:r>
            <a:endParaRPr b="0" i="0" sz="1800" u="none" cap="none" strike="noStrike">
              <a:solidFill>
                <a:schemeClr val="dk1"/>
              </a:solidFill>
              <a:latin typeface="Calibri"/>
              <a:ea typeface="Calibri"/>
              <a:cs typeface="Calibri"/>
              <a:sym typeface="Calibri"/>
            </a:endParaRPr>
          </a:p>
        </p:txBody>
      </p:sp>
      <p:sp>
        <p:nvSpPr>
          <p:cNvPr id="92" name="Google Shape;92;p5"/>
          <p:cNvSpPr/>
          <p:nvPr/>
        </p:nvSpPr>
        <p:spPr>
          <a:xfrm>
            <a:off x="11708247" y="3232442"/>
            <a:ext cx="5299813" cy="1163275"/>
          </a:xfrm>
          <a:prstGeom prst="rect">
            <a:avLst/>
          </a:prstGeom>
          <a:noFill/>
          <a:ln>
            <a:noFill/>
          </a:ln>
        </p:spPr>
        <p:txBody>
          <a:bodyPr anchorCtr="0" anchor="ctr" bIns="25400" lIns="25400" spcFirstLastPara="1" rIns="25400" wrap="square" tIns="25400">
            <a:normAutofit/>
          </a:bodyPr>
          <a:lstStyle/>
          <a:p>
            <a:pPr indent="0" lvl="0" marL="0" marR="0" rtl="0" algn="l">
              <a:lnSpc>
                <a:spcPct val="104000"/>
              </a:lnSpc>
              <a:spcBef>
                <a:spcPts val="0"/>
              </a:spcBef>
              <a:spcAft>
                <a:spcPts val="0"/>
              </a:spcAft>
              <a:buClr>
                <a:srgbClr val="0A1522"/>
              </a:buClr>
              <a:buSzPts val="2550"/>
              <a:buFont typeface="Arial"/>
              <a:buNone/>
            </a:pPr>
            <a:r>
              <a:rPr b="1" i="0" lang="en-US" sz="2550" u="none" cap="none" strike="noStrike">
                <a:solidFill>
                  <a:srgbClr val="0A1522"/>
                </a:solidFill>
                <a:latin typeface="Arial"/>
                <a:ea typeface="Arial"/>
                <a:cs typeface="Arial"/>
                <a:sym typeface="Arial"/>
              </a:rPr>
              <a:t>CMC delays</a:t>
            </a:r>
            <a:endParaRPr b="0" i="0" sz="2550" u="none" cap="none" strike="noStrike">
              <a:solidFill>
                <a:schemeClr val="dk1"/>
              </a:solidFill>
              <a:latin typeface="Calibri"/>
              <a:ea typeface="Calibri"/>
              <a:cs typeface="Calibri"/>
              <a:sym typeface="Calibri"/>
            </a:endParaRPr>
          </a:p>
        </p:txBody>
      </p:sp>
      <p:sp>
        <p:nvSpPr>
          <p:cNvPr id="93" name="Google Shape;93;p5"/>
          <p:cNvSpPr/>
          <p:nvPr/>
        </p:nvSpPr>
        <p:spPr>
          <a:xfrm>
            <a:off x="11708247" y="4357618"/>
            <a:ext cx="5145449" cy="9525"/>
          </a:xfrm>
          <a:prstGeom prst="rect">
            <a:avLst/>
          </a:prstGeom>
          <a:solidFill>
            <a:srgbClr val="0A1522">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a:off x="11708247" y="4363188"/>
            <a:ext cx="5299813" cy="1163362"/>
          </a:xfrm>
          <a:prstGeom prst="rect">
            <a:avLst/>
          </a:prstGeom>
          <a:noFill/>
          <a:ln>
            <a:noFill/>
          </a:ln>
        </p:spPr>
        <p:txBody>
          <a:bodyPr anchorCtr="0" anchor="ctr" bIns="25400" lIns="25400" spcFirstLastPara="1" rIns="25400" wrap="square" tIns="25400">
            <a:normAutofit/>
          </a:bodyPr>
          <a:lstStyle/>
          <a:p>
            <a:pPr indent="0" lvl="0" marL="0" marR="0" rtl="0" algn="l">
              <a:lnSpc>
                <a:spcPct val="104000"/>
              </a:lnSpc>
              <a:spcBef>
                <a:spcPts val="0"/>
              </a:spcBef>
              <a:spcAft>
                <a:spcPts val="0"/>
              </a:spcAft>
              <a:buClr>
                <a:srgbClr val="0A1522"/>
              </a:buClr>
              <a:buSzPts val="2550"/>
              <a:buFont typeface="Arial"/>
              <a:buNone/>
            </a:pPr>
            <a:r>
              <a:rPr b="1" i="0" lang="en-US" sz="2550" u="none" cap="none" strike="noStrike">
                <a:solidFill>
                  <a:srgbClr val="0A1522"/>
                </a:solidFill>
                <a:latin typeface="Arial"/>
                <a:ea typeface="Arial"/>
                <a:cs typeface="Arial"/>
                <a:sym typeface="Arial"/>
              </a:rPr>
              <a:t>Comparability burden</a:t>
            </a:r>
            <a:endParaRPr b="0" i="0" sz="2550" u="none" cap="none" strike="noStrike">
              <a:solidFill>
                <a:schemeClr val="dk1"/>
              </a:solidFill>
              <a:latin typeface="Calibri"/>
              <a:ea typeface="Calibri"/>
              <a:cs typeface="Calibri"/>
              <a:sym typeface="Calibri"/>
            </a:endParaRPr>
          </a:p>
        </p:txBody>
      </p:sp>
      <p:sp>
        <p:nvSpPr>
          <p:cNvPr id="95" name="Google Shape;95;p5"/>
          <p:cNvSpPr/>
          <p:nvPr/>
        </p:nvSpPr>
        <p:spPr>
          <a:xfrm>
            <a:off x="11708247" y="5488450"/>
            <a:ext cx="5145449" cy="9525"/>
          </a:xfrm>
          <a:prstGeom prst="rect">
            <a:avLst/>
          </a:prstGeom>
          <a:solidFill>
            <a:srgbClr val="0A1522">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a:off x="11708247" y="5494021"/>
            <a:ext cx="5299813" cy="1163275"/>
          </a:xfrm>
          <a:prstGeom prst="rect">
            <a:avLst/>
          </a:prstGeom>
          <a:noFill/>
          <a:ln>
            <a:noFill/>
          </a:ln>
        </p:spPr>
        <p:txBody>
          <a:bodyPr anchorCtr="0" anchor="ctr" bIns="25400" lIns="25400" spcFirstLastPara="1" rIns="25400" wrap="square" tIns="25400">
            <a:normAutofit/>
          </a:bodyPr>
          <a:lstStyle/>
          <a:p>
            <a:pPr indent="0" lvl="0" marL="0" marR="0" rtl="0" algn="l">
              <a:lnSpc>
                <a:spcPct val="104000"/>
              </a:lnSpc>
              <a:spcBef>
                <a:spcPts val="0"/>
              </a:spcBef>
              <a:spcAft>
                <a:spcPts val="0"/>
              </a:spcAft>
              <a:buClr>
                <a:srgbClr val="0A1522"/>
              </a:buClr>
              <a:buSzPts val="2550"/>
              <a:buFont typeface="Arial"/>
              <a:buNone/>
            </a:pPr>
            <a:r>
              <a:rPr b="1" i="0" lang="en-US" sz="2550" u="none" cap="none" strike="noStrike">
                <a:solidFill>
                  <a:srgbClr val="0A1522"/>
                </a:solidFill>
                <a:latin typeface="Arial"/>
                <a:ea typeface="Arial"/>
                <a:cs typeface="Arial"/>
                <a:sym typeface="Arial"/>
              </a:rPr>
              <a:t>Failed tech transfers</a:t>
            </a:r>
            <a:endParaRPr b="0" i="0" sz="2550" u="none" cap="none" strike="noStrike">
              <a:solidFill>
                <a:schemeClr val="dk1"/>
              </a:solidFill>
              <a:latin typeface="Calibri"/>
              <a:ea typeface="Calibri"/>
              <a:cs typeface="Calibri"/>
              <a:sym typeface="Calibri"/>
            </a:endParaRPr>
          </a:p>
        </p:txBody>
      </p:sp>
      <p:sp>
        <p:nvSpPr>
          <p:cNvPr id="97" name="Google Shape;97;p5"/>
          <p:cNvSpPr/>
          <p:nvPr/>
        </p:nvSpPr>
        <p:spPr>
          <a:xfrm>
            <a:off x="11708247" y="6619196"/>
            <a:ext cx="5145449" cy="9525"/>
          </a:xfrm>
          <a:prstGeom prst="rect">
            <a:avLst/>
          </a:prstGeom>
          <a:solidFill>
            <a:srgbClr val="0A1522">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5"/>
          <p:cNvSpPr/>
          <p:nvPr/>
        </p:nvSpPr>
        <p:spPr>
          <a:xfrm>
            <a:off x="11708247" y="6624766"/>
            <a:ext cx="5299813" cy="1163275"/>
          </a:xfrm>
          <a:prstGeom prst="rect">
            <a:avLst/>
          </a:prstGeom>
          <a:noFill/>
          <a:ln>
            <a:noFill/>
          </a:ln>
        </p:spPr>
        <p:txBody>
          <a:bodyPr anchorCtr="0" anchor="ctr" bIns="25400" lIns="25400" spcFirstLastPara="1" rIns="25400" wrap="square" tIns="25400">
            <a:normAutofit/>
          </a:bodyPr>
          <a:lstStyle/>
          <a:p>
            <a:pPr indent="0" lvl="0" marL="0" marR="0" rtl="0" algn="l">
              <a:lnSpc>
                <a:spcPct val="104000"/>
              </a:lnSpc>
              <a:spcBef>
                <a:spcPts val="0"/>
              </a:spcBef>
              <a:spcAft>
                <a:spcPts val="0"/>
              </a:spcAft>
              <a:buClr>
                <a:srgbClr val="0A1522"/>
              </a:buClr>
              <a:buSzPts val="2550"/>
              <a:buFont typeface="Arial"/>
              <a:buNone/>
            </a:pPr>
            <a:r>
              <a:rPr b="1" i="0" lang="en-US" sz="2550" u="none" cap="none" strike="noStrike">
                <a:solidFill>
                  <a:srgbClr val="0A1522"/>
                </a:solidFill>
                <a:latin typeface="Arial"/>
                <a:ea typeface="Arial"/>
                <a:cs typeface="Arial"/>
                <a:sym typeface="Arial"/>
              </a:rPr>
              <a:t>Supply risk</a:t>
            </a:r>
            <a:endParaRPr b="0" i="0" sz="2550" u="none" cap="none" strike="noStrike">
              <a:solidFill>
                <a:schemeClr val="dk1"/>
              </a:solidFill>
              <a:latin typeface="Calibri"/>
              <a:ea typeface="Calibri"/>
              <a:cs typeface="Calibri"/>
              <a:sym typeface="Calibri"/>
            </a:endParaRPr>
          </a:p>
        </p:txBody>
      </p:sp>
      <p:sp>
        <p:nvSpPr>
          <p:cNvPr id="99" name="Google Shape;99;p5"/>
          <p:cNvSpPr/>
          <p:nvPr/>
        </p:nvSpPr>
        <p:spPr>
          <a:xfrm>
            <a:off x="0" y="8345950"/>
            <a:ext cx="18287929" cy="1941032"/>
          </a:xfrm>
          <a:prstGeom prst="rect">
            <a:avLst/>
          </a:prstGeom>
          <a:solidFill>
            <a:srgbClr val="0A15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1047715" y="8612623"/>
            <a:ext cx="14716124" cy="1007659"/>
          </a:xfrm>
          <a:prstGeom prst="rect">
            <a:avLst/>
          </a:prstGeom>
          <a:noFill/>
          <a:ln>
            <a:noFill/>
          </a:ln>
        </p:spPr>
        <p:txBody>
          <a:bodyPr anchorCtr="0" anchor="t" bIns="25400" lIns="25400" spcFirstLastPara="1" rIns="25400" wrap="square" tIns="25400">
            <a:normAutofit/>
          </a:bodyPr>
          <a:lstStyle/>
          <a:p>
            <a:pPr indent="0" lvl="0" marL="0" marR="0" rtl="0" algn="l">
              <a:lnSpc>
                <a:spcPct val="116000"/>
              </a:lnSpc>
              <a:spcBef>
                <a:spcPts val="0"/>
              </a:spcBef>
              <a:spcAft>
                <a:spcPts val="0"/>
              </a:spcAft>
              <a:buClr>
                <a:srgbClr val="FFFFFF"/>
              </a:buClr>
              <a:buSzPts val="2700"/>
              <a:buFont typeface="Georgia"/>
              <a:buNone/>
            </a:pPr>
            <a:r>
              <a:rPr b="0" i="0" lang="en-US" sz="2700" u="none" cap="none" strike="noStrike">
                <a:solidFill>
                  <a:srgbClr val="FFFFFF"/>
                </a:solidFill>
                <a:latin typeface="Georgia"/>
                <a:ea typeface="Georgia"/>
                <a:cs typeface="Georgia"/>
                <a:sym typeface="Georgia"/>
              </a:rPr>
              <a:t>Bioprocess development converts clinical promise into a </a:t>
            </a:r>
            <a:r>
              <a:rPr b="0" i="1" lang="en-US" sz="2700" u="none" cap="none" strike="noStrike">
                <a:solidFill>
                  <a:srgbClr val="38AFD8"/>
                </a:solidFill>
                <a:latin typeface="Georgia"/>
                <a:ea typeface="Georgia"/>
                <a:cs typeface="Georgia"/>
                <a:sym typeface="Georgia"/>
              </a:rPr>
              <a:t>reproducible, approvable and reliably supplied </a:t>
            </a:r>
            <a:r>
              <a:rPr b="0" i="0" lang="en-US" sz="2700" u="none" cap="none" strike="noStrike">
                <a:solidFill>
                  <a:srgbClr val="FFFFFF"/>
                </a:solidFill>
                <a:latin typeface="Georgia"/>
                <a:ea typeface="Georgia"/>
                <a:cs typeface="Georgia"/>
                <a:sym typeface="Georgia"/>
              </a:rPr>
              <a:t>medicine.</a:t>
            </a:r>
            <a:endParaRPr b="0" i="0" sz="2700" u="none" cap="none" strike="noStrike">
              <a:solidFill>
                <a:schemeClr val="dk1"/>
              </a:solidFill>
              <a:latin typeface="Calibri"/>
              <a:ea typeface="Calibri"/>
              <a:cs typeface="Calibri"/>
              <a:sym typeface="Calibri"/>
            </a:endParaRPr>
          </a:p>
        </p:txBody>
      </p:sp>
      <p:pic>
        <p:nvPicPr>
          <p:cNvPr descr="preencoded.png" id="101" name="Google Shape;101;p5"/>
          <p:cNvPicPr preferRelativeResize="0"/>
          <p:nvPr/>
        </p:nvPicPr>
        <p:blipFill rotWithShape="1">
          <a:blip r:embed="rId3">
            <a:alphaModFix amt="80000"/>
          </a:blip>
          <a:srcRect b="0" l="0" r="0" t="0"/>
          <a:stretch/>
        </p:blipFill>
        <p:spPr>
          <a:xfrm>
            <a:off x="1047715" y="9772699"/>
            <a:ext cx="1317434" cy="38094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6" name="Shape 106"/>
        <p:cNvGrpSpPr/>
        <p:nvPr/>
      </p:nvGrpSpPr>
      <p:grpSpPr>
        <a:xfrm>
          <a:off x="0" y="0"/>
          <a:ext cx="0" cy="0"/>
          <a:chOff x="0" y="0"/>
          <a:chExt cx="0" cy="0"/>
        </a:xfrm>
      </p:grpSpPr>
      <p:sp>
        <p:nvSpPr>
          <p:cNvPr id="107" name="Google Shape;107;p6"/>
          <p:cNvSpPr/>
          <p:nvPr/>
        </p:nvSpPr>
        <p:spPr>
          <a:xfrm>
            <a:off x="1047715" y="628647"/>
            <a:ext cx="17779745" cy="335321"/>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THE NEW PARADIGM</a:t>
            </a:r>
            <a:endParaRPr b="0" i="0" sz="1800" u="none" cap="none" strike="noStrike">
              <a:solidFill>
                <a:schemeClr val="dk1"/>
              </a:solidFill>
              <a:latin typeface="Calibri"/>
              <a:ea typeface="Calibri"/>
              <a:cs typeface="Calibri"/>
              <a:sym typeface="Calibri"/>
            </a:endParaRPr>
          </a:p>
        </p:txBody>
      </p:sp>
      <p:sp>
        <p:nvSpPr>
          <p:cNvPr id="108" name="Google Shape;108;p6"/>
          <p:cNvSpPr/>
          <p:nvPr/>
        </p:nvSpPr>
        <p:spPr>
          <a:xfrm>
            <a:off x="1047715" y="1097237"/>
            <a:ext cx="16678274" cy="1072064"/>
          </a:xfrm>
          <a:prstGeom prst="rect">
            <a:avLst/>
          </a:prstGeom>
          <a:noFill/>
          <a:ln>
            <a:noFill/>
          </a:ln>
        </p:spPr>
        <p:txBody>
          <a:bodyPr anchorCtr="0" anchor="t" bIns="25400" lIns="25400" spcFirstLastPara="1" rIns="25400" wrap="square" tIns="25400">
            <a:normAutofit/>
          </a:bodyPr>
          <a:lstStyle/>
          <a:p>
            <a:pPr indent="0" lvl="0" marL="0" marR="0" rtl="0" algn="l">
              <a:lnSpc>
                <a:spcPct val="94000"/>
              </a:lnSpc>
              <a:spcBef>
                <a:spcPts val="0"/>
              </a:spcBef>
              <a:spcAft>
                <a:spcPts val="0"/>
              </a:spcAft>
              <a:buClr>
                <a:srgbClr val="0A1522"/>
              </a:buClr>
              <a:buSzPts val="3600"/>
              <a:buFont typeface="Georgia"/>
              <a:buNone/>
            </a:pPr>
            <a:r>
              <a:rPr lang="en-US" sz="3600">
                <a:solidFill>
                  <a:srgbClr val="0A1522"/>
                </a:solidFill>
                <a:latin typeface="Georgia"/>
                <a:ea typeface="Georgia"/>
                <a:cs typeface="Georgia"/>
                <a:sym typeface="Georgia"/>
              </a:rPr>
              <a:t>Cell culture e</a:t>
            </a:r>
            <a:r>
              <a:rPr b="0" i="0" lang="en-US" sz="3600" u="none" cap="none" strike="noStrike">
                <a:solidFill>
                  <a:srgbClr val="0A1522"/>
                </a:solidFill>
                <a:latin typeface="Georgia"/>
                <a:ea typeface="Georgia"/>
                <a:cs typeface="Georgia"/>
                <a:sym typeface="Georgia"/>
              </a:rPr>
              <a:t>xperiments should build the </a:t>
            </a:r>
            <a:r>
              <a:rPr b="0" i="1" lang="en-US" sz="3600" u="none" cap="none" strike="noStrike">
                <a:solidFill>
                  <a:srgbClr val="38AFD8"/>
                </a:solidFill>
                <a:latin typeface="Georgia"/>
                <a:ea typeface="Georgia"/>
                <a:cs typeface="Georgia"/>
                <a:sym typeface="Georgia"/>
              </a:rPr>
              <a:t>model </a:t>
            </a:r>
            <a:r>
              <a:rPr b="0" i="0" lang="en-US" sz="3600" u="none" cap="none" strike="noStrike">
                <a:solidFill>
                  <a:srgbClr val="0A1522"/>
                </a:solidFill>
                <a:latin typeface="Georgia"/>
                <a:ea typeface="Georgia"/>
                <a:cs typeface="Georgia"/>
                <a:sym typeface="Georgia"/>
              </a:rPr>
              <a:t>that predicts, optimizes and de-risks the bioprocess</a:t>
            </a:r>
            <a:endParaRPr b="0" i="0" sz="3600" u="none" cap="none" strike="noStrike">
              <a:solidFill>
                <a:schemeClr val="dk1"/>
              </a:solidFill>
              <a:latin typeface="Calibri"/>
              <a:ea typeface="Calibri"/>
              <a:cs typeface="Calibri"/>
              <a:sym typeface="Calibri"/>
            </a:endParaRPr>
          </a:p>
        </p:txBody>
      </p:sp>
      <p:sp>
        <p:nvSpPr>
          <p:cNvPr id="109" name="Google Shape;109;p6"/>
          <p:cNvSpPr/>
          <p:nvPr/>
        </p:nvSpPr>
        <p:spPr>
          <a:xfrm>
            <a:off x="1047715" y="2588391"/>
            <a:ext cx="4924444" cy="358037"/>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0A1522"/>
              </a:buClr>
              <a:buSzPts val="2250"/>
              <a:buFont typeface="Arial"/>
              <a:buNone/>
            </a:pPr>
            <a:r>
              <a:rPr b="1" i="0" lang="en-US" sz="2250" u="none" cap="none" strike="noStrike">
                <a:solidFill>
                  <a:srgbClr val="0A1522"/>
                </a:solidFill>
                <a:latin typeface="Arial"/>
                <a:ea typeface="Arial"/>
                <a:cs typeface="Arial"/>
                <a:sym typeface="Arial"/>
              </a:rPr>
              <a:t>INFORMATIVE EXPERIMENTS</a:t>
            </a:r>
            <a:endParaRPr b="0" i="0" sz="2250" u="none" cap="none" strike="noStrike">
              <a:solidFill>
                <a:schemeClr val="dk1"/>
              </a:solidFill>
              <a:latin typeface="Calibri"/>
              <a:ea typeface="Calibri"/>
              <a:cs typeface="Calibri"/>
              <a:sym typeface="Calibri"/>
            </a:endParaRPr>
          </a:p>
        </p:txBody>
      </p:sp>
      <p:sp>
        <p:nvSpPr>
          <p:cNvPr id="110" name="Google Shape;110;p6"/>
          <p:cNvSpPr/>
          <p:nvPr/>
        </p:nvSpPr>
        <p:spPr>
          <a:xfrm>
            <a:off x="1047715" y="3003543"/>
            <a:ext cx="4611070" cy="691725"/>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2E3A46"/>
              </a:buClr>
              <a:buSzPts val="1950"/>
              <a:buFont typeface="Arial"/>
              <a:buNone/>
            </a:pPr>
            <a:r>
              <a:rPr b="0" i="0" lang="en-US" sz="1950" u="none" cap="none" strike="noStrike">
                <a:solidFill>
                  <a:srgbClr val="2E3A46"/>
                </a:solidFill>
                <a:latin typeface="Arial"/>
                <a:ea typeface="Arial"/>
                <a:cs typeface="Arial"/>
                <a:sym typeface="Arial"/>
              </a:rPr>
              <a:t>Each run is chosen for what it teaches the model.</a:t>
            </a:r>
            <a:endParaRPr b="0" i="0" sz="1950" u="none" cap="none" strike="noStrike">
              <a:solidFill>
                <a:schemeClr val="dk1"/>
              </a:solidFill>
              <a:latin typeface="Calibri"/>
              <a:ea typeface="Calibri"/>
              <a:cs typeface="Calibri"/>
              <a:sym typeface="Calibri"/>
            </a:endParaRPr>
          </a:p>
        </p:txBody>
      </p:sp>
      <p:sp>
        <p:nvSpPr>
          <p:cNvPr id="111" name="Google Shape;111;p6"/>
          <p:cNvSpPr/>
          <p:nvPr/>
        </p:nvSpPr>
        <p:spPr>
          <a:xfrm>
            <a:off x="5905430" y="2588391"/>
            <a:ext cx="7061877" cy="358037"/>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0A1522"/>
              </a:buClr>
              <a:buSzPts val="2250"/>
              <a:buFont typeface="Arial"/>
              <a:buNone/>
            </a:pPr>
            <a:r>
              <a:rPr b="1" i="0" lang="en-US" sz="2250" u="none" cap="none" strike="noStrike">
                <a:solidFill>
                  <a:srgbClr val="0A1522"/>
                </a:solidFill>
                <a:latin typeface="Arial"/>
                <a:ea typeface="Arial"/>
                <a:cs typeface="Arial"/>
                <a:sym typeface="Arial"/>
              </a:rPr>
              <a:t>PREDICTIVE PROCESS MODEL</a:t>
            </a:r>
            <a:endParaRPr b="0" i="0" sz="2250" u="none" cap="none" strike="noStrike">
              <a:solidFill>
                <a:schemeClr val="dk1"/>
              </a:solidFill>
              <a:latin typeface="Calibri"/>
              <a:ea typeface="Calibri"/>
              <a:cs typeface="Calibri"/>
              <a:sym typeface="Calibri"/>
            </a:endParaRPr>
          </a:p>
        </p:txBody>
      </p:sp>
      <p:sp>
        <p:nvSpPr>
          <p:cNvPr id="112" name="Google Shape;112;p6"/>
          <p:cNvSpPr/>
          <p:nvPr/>
        </p:nvSpPr>
        <p:spPr>
          <a:xfrm>
            <a:off x="5905430" y="3003543"/>
            <a:ext cx="7061877" cy="364913"/>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2E3A46"/>
              </a:buClr>
              <a:buSzPts val="1950"/>
              <a:buFont typeface="Arial"/>
              <a:buNone/>
            </a:pPr>
            <a:r>
              <a:rPr b="0" i="0" lang="en-US" sz="1950" u="none" cap="none" strike="noStrike">
                <a:solidFill>
                  <a:srgbClr val="2E3A46"/>
                </a:solidFill>
                <a:latin typeface="Arial"/>
                <a:ea typeface="Arial"/>
                <a:cs typeface="Arial"/>
                <a:sym typeface="Arial"/>
              </a:rPr>
              <a:t>Predicts process behaviour — with quantified uncertainty.</a:t>
            </a:r>
            <a:endParaRPr b="0" i="0" sz="1950" u="none" cap="none" strike="noStrike">
              <a:solidFill>
                <a:schemeClr val="dk1"/>
              </a:solidFill>
              <a:latin typeface="Calibri"/>
              <a:ea typeface="Calibri"/>
              <a:cs typeface="Calibri"/>
              <a:sym typeface="Calibri"/>
            </a:endParaRPr>
          </a:p>
        </p:txBody>
      </p:sp>
      <p:sp>
        <p:nvSpPr>
          <p:cNvPr id="113" name="Google Shape;113;p6"/>
          <p:cNvSpPr/>
          <p:nvPr/>
        </p:nvSpPr>
        <p:spPr>
          <a:xfrm>
            <a:off x="12706266" y="2588391"/>
            <a:ext cx="4987248" cy="358037"/>
          </a:xfrm>
          <a:prstGeom prst="rect">
            <a:avLst/>
          </a:prstGeom>
          <a:noFill/>
          <a:ln>
            <a:noFill/>
          </a:ln>
        </p:spPr>
        <p:txBody>
          <a:bodyPr anchorCtr="0" anchor="t" bIns="25400" lIns="25400" spcFirstLastPara="1" rIns="25400" wrap="square" tIns="25400">
            <a:normAutofit/>
          </a:bodyPr>
          <a:lstStyle/>
          <a:p>
            <a:pPr indent="0" lvl="0" marL="0" marR="0" rtl="0" algn="l">
              <a:lnSpc>
                <a:spcPct val="80000"/>
              </a:lnSpc>
              <a:spcBef>
                <a:spcPts val="0"/>
              </a:spcBef>
              <a:spcAft>
                <a:spcPts val="0"/>
              </a:spcAft>
              <a:buClr>
                <a:srgbClr val="0A1522"/>
              </a:buClr>
              <a:buSzPts val="2250"/>
              <a:buFont typeface="Arial"/>
              <a:buNone/>
            </a:pPr>
            <a:r>
              <a:rPr b="1" i="0" lang="en-US" sz="2250" u="none" cap="none" strike="noStrike">
                <a:solidFill>
                  <a:srgbClr val="0A1522"/>
                </a:solidFill>
                <a:latin typeface="Arial"/>
                <a:ea typeface="Arial"/>
                <a:cs typeface="Arial"/>
                <a:sym typeface="Arial"/>
              </a:rPr>
              <a:t>VIRTUAL PROCESS SPACE</a:t>
            </a:r>
            <a:endParaRPr b="0" i="0" sz="2250" u="none" cap="none" strike="noStrike">
              <a:solidFill>
                <a:schemeClr val="dk1"/>
              </a:solidFill>
              <a:latin typeface="Calibri"/>
              <a:ea typeface="Calibri"/>
              <a:cs typeface="Calibri"/>
              <a:sym typeface="Calibri"/>
            </a:endParaRPr>
          </a:p>
        </p:txBody>
      </p:sp>
      <p:sp>
        <p:nvSpPr>
          <p:cNvPr id="114" name="Google Shape;114;p6"/>
          <p:cNvSpPr/>
          <p:nvPr/>
        </p:nvSpPr>
        <p:spPr>
          <a:xfrm>
            <a:off x="12706266" y="3003543"/>
            <a:ext cx="4669877" cy="691725"/>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2E3A46"/>
              </a:buClr>
              <a:buSzPts val="1950"/>
              <a:buFont typeface="Arial"/>
              <a:buNone/>
            </a:pPr>
            <a:r>
              <a:rPr b="0" i="0" lang="en-US" sz="1950" u="none" cap="none" strike="noStrike">
                <a:solidFill>
                  <a:srgbClr val="2E3A46"/>
                </a:solidFill>
                <a:latin typeface="Arial"/>
                <a:ea typeface="Arial"/>
                <a:cs typeface="Arial"/>
                <a:sym typeface="Arial"/>
              </a:rPr>
              <a:t>Explore untested conditions, find the robust optimum.</a:t>
            </a:r>
            <a:endParaRPr b="0" i="0" sz="1950" u="none" cap="none" strike="noStrike">
              <a:solidFill>
                <a:schemeClr val="dk1"/>
              </a:solidFill>
              <a:latin typeface="Calibri"/>
              <a:ea typeface="Calibri"/>
              <a:cs typeface="Calibri"/>
              <a:sym typeface="Calibri"/>
            </a:endParaRPr>
          </a:p>
        </p:txBody>
      </p:sp>
      <p:pic>
        <p:nvPicPr>
          <p:cNvPr descr="preencoded.png" id="115" name="Google Shape;115;p6"/>
          <p:cNvPicPr preferRelativeResize="0"/>
          <p:nvPr/>
        </p:nvPicPr>
        <p:blipFill rotWithShape="1">
          <a:blip r:embed="rId3">
            <a:alphaModFix/>
          </a:blip>
          <a:srcRect b="0" l="0" r="0" t="0"/>
          <a:stretch/>
        </p:blipFill>
        <p:spPr>
          <a:xfrm>
            <a:off x="1047715" y="3676142"/>
            <a:ext cx="16192499" cy="5244320"/>
          </a:xfrm>
          <a:prstGeom prst="rect">
            <a:avLst/>
          </a:prstGeom>
          <a:noFill/>
          <a:ln>
            <a:noFill/>
          </a:ln>
        </p:spPr>
      </p:pic>
      <p:sp>
        <p:nvSpPr>
          <p:cNvPr id="116" name="Google Shape;116;p6"/>
          <p:cNvSpPr/>
          <p:nvPr/>
        </p:nvSpPr>
        <p:spPr>
          <a:xfrm>
            <a:off x="1047715" y="9015676"/>
            <a:ext cx="16192499" cy="699840"/>
          </a:xfrm>
          <a:prstGeom prst="roundRect">
            <a:avLst>
              <a:gd fmla="val 19054" name="adj"/>
            </a:avLst>
          </a:prstGeom>
          <a:solidFill>
            <a:srgbClr val="0A15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6"/>
          <p:cNvSpPr/>
          <p:nvPr/>
        </p:nvSpPr>
        <p:spPr>
          <a:xfrm>
            <a:off x="1185828" y="9187126"/>
            <a:ext cx="15916274" cy="39504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FFFFFF"/>
              </a:buClr>
              <a:buSzPts val="2250"/>
              <a:buFont typeface="Georgia"/>
              <a:buNone/>
            </a:pPr>
            <a:r>
              <a:rPr b="0" i="0" lang="en-US" sz="2250" u="none" cap="none" strike="noStrike">
                <a:solidFill>
                  <a:srgbClr val="FFFFFF"/>
                </a:solidFill>
                <a:latin typeface="Georgia"/>
                <a:ea typeface="Georgia"/>
                <a:cs typeface="Georgia"/>
                <a:sym typeface="Georgia"/>
              </a:rPr>
              <a:t>Every run should either </a:t>
            </a:r>
            <a:r>
              <a:rPr b="0" i="0" lang="en-US" sz="2250" u="none" cap="none" strike="noStrike">
                <a:solidFill>
                  <a:srgbClr val="38AFD8"/>
                </a:solidFill>
                <a:latin typeface="Georgia"/>
                <a:ea typeface="Georgia"/>
                <a:cs typeface="Georgia"/>
                <a:sym typeface="Georgia"/>
              </a:rPr>
              <a:t>reduce model uncertainty </a:t>
            </a:r>
            <a:r>
              <a:rPr b="0" i="0" lang="en-US" sz="2250" u="none" cap="none" strike="noStrike">
                <a:solidFill>
                  <a:srgbClr val="FFFFFF"/>
                </a:solidFill>
                <a:latin typeface="Georgia"/>
                <a:ea typeface="Georgia"/>
                <a:cs typeface="Georgia"/>
                <a:sym typeface="Georgia"/>
              </a:rPr>
              <a:t>or </a:t>
            </a:r>
            <a:r>
              <a:rPr b="0" i="0" lang="en-US" sz="2250" u="none" cap="none" strike="noStrike">
                <a:solidFill>
                  <a:srgbClr val="38AFD8"/>
                </a:solidFill>
                <a:latin typeface="Georgia"/>
                <a:ea typeface="Georgia"/>
                <a:cs typeface="Georgia"/>
                <a:sym typeface="Georgia"/>
              </a:rPr>
              <a:t>confirm a model-based decision</a:t>
            </a:r>
            <a:r>
              <a:rPr b="0" i="0" lang="en-US" sz="2250" u="none" cap="none" strike="noStrike">
                <a:solidFill>
                  <a:srgbClr val="FFFFFF"/>
                </a:solidFill>
                <a:latin typeface="Georgia"/>
                <a:ea typeface="Georgia"/>
                <a:cs typeface="Georgia"/>
                <a:sym typeface="Georgia"/>
              </a:rPr>
              <a:t>.</a:t>
            </a:r>
            <a:endParaRPr b="0" i="0" sz="1200" u="none" cap="none" strike="noStrike">
              <a:solidFill>
                <a:schemeClr val="dk1"/>
              </a:solidFill>
              <a:latin typeface="Calibri"/>
              <a:ea typeface="Calibri"/>
              <a:cs typeface="Calibri"/>
              <a:sym typeface="Calibri"/>
            </a:endParaRPr>
          </a:p>
        </p:txBody>
      </p:sp>
      <p:pic>
        <p:nvPicPr>
          <p:cNvPr descr="preencoded.png" id="118" name="Google Shape;118;p6"/>
          <p:cNvPicPr preferRelativeResize="0"/>
          <p:nvPr/>
        </p:nvPicPr>
        <p:blipFill rotWithShape="1">
          <a:blip r:embed="rId4">
            <a:alphaModFix amt="72000"/>
          </a:blip>
          <a:srcRect b="0" l="0" r="0" t="0"/>
          <a:stretch/>
        </p:blipFill>
        <p:spPr>
          <a:xfrm>
            <a:off x="1047715" y="9772699"/>
            <a:ext cx="1317434" cy="38094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3" name="Shape 123"/>
        <p:cNvGrpSpPr/>
        <p:nvPr/>
      </p:nvGrpSpPr>
      <p:grpSpPr>
        <a:xfrm>
          <a:off x="0" y="0"/>
          <a:ext cx="0" cy="0"/>
          <a:chOff x="0" y="0"/>
          <a:chExt cx="0" cy="0"/>
        </a:xfrm>
      </p:grpSpPr>
      <p:sp>
        <p:nvSpPr>
          <p:cNvPr id="124" name="Google Shape;124;p7"/>
          <p:cNvSpPr/>
          <p:nvPr/>
        </p:nvSpPr>
        <p:spPr>
          <a:xfrm>
            <a:off x="1047715" y="628647"/>
            <a:ext cx="17779745" cy="335321"/>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THE STRUCTURAL BARRIER</a:t>
            </a:r>
            <a:endParaRPr b="0" i="0" sz="1800" u="none" cap="none" strike="noStrike">
              <a:solidFill>
                <a:schemeClr val="dk1"/>
              </a:solidFill>
              <a:latin typeface="Calibri"/>
              <a:ea typeface="Calibri"/>
              <a:cs typeface="Calibri"/>
              <a:sym typeface="Calibri"/>
            </a:endParaRPr>
          </a:p>
        </p:txBody>
      </p:sp>
      <p:sp>
        <p:nvSpPr>
          <p:cNvPr id="125" name="Google Shape;125;p7"/>
          <p:cNvSpPr/>
          <p:nvPr/>
        </p:nvSpPr>
        <p:spPr>
          <a:xfrm>
            <a:off x="1047715" y="1097237"/>
            <a:ext cx="16678274" cy="1072064"/>
          </a:xfrm>
          <a:prstGeom prst="rect">
            <a:avLst/>
          </a:prstGeom>
          <a:noFill/>
          <a:ln>
            <a:noFill/>
          </a:ln>
        </p:spPr>
        <p:txBody>
          <a:bodyPr anchorCtr="0" anchor="t" bIns="25400" lIns="25400" spcFirstLastPara="1" rIns="25400" wrap="square" tIns="25400">
            <a:normAutofit/>
          </a:bodyPr>
          <a:lstStyle/>
          <a:p>
            <a:pPr indent="0" lvl="0" marL="0" marR="0" rtl="0" algn="l">
              <a:lnSpc>
                <a:spcPct val="94000"/>
              </a:lnSpc>
              <a:spcBef>
                <a:spcPts val="0"/>
              </a:spcBef>
              <a:spcAft>
                <a:spcPts val="0"/>
              </a:spcAft>
              <a:buClr>
                <a:srgbClr val="0A1522"/>
              </a:buClr>
              <a:buSzPts val="3600"/>
              <a:buFont typeface="Georgia"/>
              <a:buNone/>
            </a:pPr>
            <a:r>
              <a:rPr b="0" i="0" lang="en-US" sz="3600" u="none" cap="none" strike="noStrike">
                <a:solidFill>
                  <a:srgbClr val="0A1522"/>
                </a:solidFill>
                <a:latin typeface="Georgia"/>
                <a:ea typeface="Georgia"/>
                <a:cs typeface="Georgia"/>
                <a:sym typeface="Georgia"/>
              </a:rPr>
              <a:t>Model-centric development requires expertise that is </a:t>
            </a:r>
            <a:r>
              <a:rPr b="0" i="1" lang="en-US" sz="3600" u="none" cap="none" strike="noStrike">
                <a:solidFill>
                  <a:srgbClr val="38AFD8"/>
                </a:solidFill>
                <a:latin typeface="Georgia"/>
                <a:ea typeface="Georgia"/>
                <a:cs typeface="Georgia"/>
                <a:sym typeface="Georgia"/>
              </a:rPr>
              <a:t>rarely at the scientist's fingertips</a:t>
            </a:r>
            <a:endParaRPr b="0" i="0" sz="3600" u="none" cap="none" strike="noStrike">
              <a:solidFill>
                <a:schemeClr val="dk1"/>
              </a:solidFill>
              <a:latin typeface="Calibri"/>
              <a:ea typeface="Calibri"/>
              <a:cs typeface="Calibri"/>
              <a:sym typeface="Calibri"/>
            </a:endParaRPr>
          </a:p>
        </p:txBody>
      </p:sp>
      <p:sp>
        <p:nvSpPr>
          <p:cNvPr id="126" name="Google Shape;126;p7"/>
          <p:cNvSpPr/>
          <p:nvPr/>
        </p:nvSpPr>
        <p:spPr>
          <a:xfrm>
            <a:off x="1047715" y="3891464"/>
            <a:ext cx="5867362" cy="352380"/>
          </a:xfrm>
          <a:prstGeom prst="rect">
            <a:avLst/>
          </a:prstGeom>
          <a:noFill/>
          <a:ln>
            <a:noFill/>
          </a:ln>
        </p:spPr>
        <p:txBody>
          <a:bodyPr anchorCtr="0" anchor="t" bIns="25400" lIns="25400" spcFirstLastPara="1" rIns="25400" wrap="square" tIns="25400">
            <a:normAutofit/>
          </a:bodyPr>
          <a:lstStyle/>
          <a:p>
            <a:pPr indent="0" lvl="0" marL="0" marR="0" rtl="0" algn="l">
              <a:lnSpc>
                <a:spcPct val="78000"/>
              </a:lnSpc>
              <a:spcBef>
                <a:spcPts val="0"/>
              </a:spcBef>
              <a:spcAft>
                <a:spcPts val="0"/>
              </a:spcAft>
              <a:buClr>
                <a:srgbClr val="0A1522"/>
              </a:buClr>
              <a:buSzPts val="2250"/>
              <a:buFont typeface="Arial"/>
              <a:buNone/>
            </a:pPr>
            <a:r>
              <a:rPr b="1" i="0" lang="en-US" sz="2250" u="none" cap="none" strike="noStrike">
                <a:solidFill>
                  <a:srgbClr val="0A1522"/>
                </a:solidFill>
                <a:latin typeface="Arial"/>
                <a:ea typeface="Arial"/>
                <a:cs typeface="Arial"/>
                <a:sym typeface="Arial"/>
              </a:rPr>
              <a:t>HARD TO ASSEMBLE</a:t>
            </a:r>
            <a:endParaRPr b="0" i="0" sz="2250" u="none" cap="none" strike="noStrike">
              <a:solidFill>
                <a:schemeClr val="dk1"/>
              </a:solidFill>
              <a:latin typeface="Calibri"/>
              <a:ea typeface="Calibri"/>
              <a:cs typeface="Calibri"/>
              <a:sym typeface="Calibri"/>
            </a:endParaRPr>
          </a:p>
        </p:txBody>
      </p:sp>
      <p:sp>
        <p:nvSpPr>
          <p:cNvPr id="127" name="Google Shape;127;p7"/>
          <p:cNvSpPr/>
          <p:nvPr/>
        </p:nvSpPr>
        <p:spPr>
          <a:xfrm>
            <a:off x="1047715" y="4320019"/>
            <a:ext cx="5493984" cy="727235"/>
          </a:xfrm>
          <a:prstGeom prst="rect">
            <a:avLst/>
          </a:prstGeom>
          <a:noFill/>
          <a:ln>
            <a:noFill/>
          </a:ln>
        </p:spPr>
        <p:txBody>
          <a:bodyPr anchorCtr="0" anchor="t" bIns="25400" lIns="25400" spcFirstLastPara="1" rIns="25400" wrap="square" tIns="25400">
            <a:normAutofit/>
          </a:bodyPr>
          <a:lstStyle/>
          <a:p>
            <a:pPr indent="0" lvl="0" marL="0" marR="0" rtl="0" algn="l">
              <a:lnSpc>
                <a:spcPct val="115000"/>
              </a:lnSpc>
              <a:spcBef>
                <a:spcPts val="0"/>
              </a:spcBef>
              <a:spcAft>
                <a:spcPts val="0"/>
              </a:spcAft>
              <a:buClr>
                <a:srgbClr val="0A1522"/>
              </a:buClr>
              <a:buSzPts val="2025"/>
              <a:buFont typeface="Arial"/>
              <a:buNone/>
            </a:pPr>
            <a:r>
              <a:rPr b="0" i="0" lang="en-US" sz="2025" u="none" cap="none" strike="noStrike">
                <a:solidFill>
                  <a:srgbClr val="0A1522"/>
                </a:solidFill>
                <a:latin typeface="Arial"/>
                <a:ea typeface="Arial"/>
                <a:cs typeface="Arial"/>
                <a:sym typeface="Arial"/>
              </a:rPr>
              <a:t>The full capability stack is rarely available to every development program.</a:t>
            </a:r>
            <a:endParaRPr b="0" i="0" sz="2025" u="none" cap="none" strike="noStrike">
              <a:solidFill>
                <a:schemeClr val="dk1"/>
              </a:solidFill>
              <a:latin typeface="Calibri"/>
              <a:ea typeface="Calibri"/>
              <a:cs typeface="Calibri"/>
              <a:sym typeface="Calibri"/>
            </a:endParaRPr>
          </a:p>
        </p:txBody>
      </p:sp>
      <p:sp>
        <p:nvSpPr>
          <p:cNvPr id="128" name="Google Shape;128;p7"/>
          <p:cNvSpPr/>
          <p:nvPr/>
        </p:nvSpPr>
        <p:spPr>
          <a:xfrm>
            <a:off x="1047715" y="5123430"/>
            <a:ext cx="5493984" cy="657086"/>
          </a:xfrm>
          <a:prstGeom prst="rect">
            <a:avLst/>
          </a:prstGeom>
          <a:noFill/>
          <a:ln>
            <a:noFill/>
          </a:ln>
        </p:spPr>
        <p:txBody>
          <a:bodyPr anchorCtr="0" anchor="t" bIns="25400" lIns="25400" spcFirstLastPara="1" rIns="25400" wrap="square" tIns="25400">
            <a:normAutofit/>
          </a:bodyPr>
          <a:lstStyle/>
          <a:p>
            <a:pPr indent="0" lvl="0" marL="0" marR="0" rtl="0" algn="l">
              <a:lnSpc>
                <a:spcPct val="113000"/>
              </a:lnSpc>
              <a:spcBef>
                <a:spcPts val="0"/>
              </a:spcBef>
              <a:spcAft>
                <a:spcPts val="0"/>
              </a:spcAft>
              <a:buClr>
                <a:srgbClr val="38AFD8"/>
              </a:buClr>
              <a:buSzPts val="1875"/>
              <a:buFont typeface="Arial"/>
              <a:buNone/>
            </a:pPr>
            <a:r>
              <a:rPr b="1" i="0" lang="en-US" sz="1875" u="none" cap="none" strike="noStrike">
                <a:solidFill>
                  <a:srgbClr val="38AFD8"/>
                </a:solidFill>
                <a:latin typeface="Arial"/>
                <a:ea typeface="Arial"/>
                <a:cs typeface="Arial"/>
                <a:sym typeface="Arial"/>
              </a:rPr>
              <a:t>Scarce specialists · Shared capacity · Competing priorities</a:t>
            </a:r>
            <a:endParaRPr b="0" i="0" sz="1875" u="none" cap="none" strike="noStrike">
              <a:solidFill>
                <a:schemeClr val="dk1"/>
              </a:solidFill>
              <a:latin typeface="Calibri"/>
              <a:ea typeface="Calibri"/>
              <a:cs typeface="Calibri"/>
              <a:sym typeface="Calibri"/>
            </a:endParaRPr>
          </a:p>
        </p:txBody>
      </p:sp>
      <p:sp>
        <p:nvSpPr>
          <p:cNvPr id="129" name="Google Shape;129;p7"/>
          <p:cNvSpPr/>
          <p:nvPr/>
        </p:nvSpPr>
        <p:spPr>
          <a:xfrm>
            <a:off x="1047715" y="6256699"/>
            <a:ext cx="5867362" cy="352380"/>
          </a:xfrm>
          <a:prstGeom prst="rect">
            <a:avLst/>
          </a:prstGeom>
          <a:noFill/>
          <a:ln>
            <a:noFill/>
          </a:ln>
        </p:spPr>
        <p:txBody>
          <a:bodyPr anchorCtr="0" anchor="t" bIns="25400" lIns="25400" spcFirstLastPara="1" rIns="25400" wrap="square" tIns="25400">
            <a:normAutofit/>
          </a:bodyPr>
          <a:lstStyle/>
          <a:p>
            <a:pPr indent="0" lvl="0" marL="0" marR="0" rtl="0" algn="l">
              <a:lnSpc>
                <a:spcPct val="78000"/>
              </a:lnSpc>
              <a:spcBef>
                <a:spcPts val="0"/>
              </a:spcBef>
              <a:spcAft>
                <a:spcPts val="0"/>
              </a:spcAft>
              <a:buClr>
                <a:srgbClr val="0A1522"/>
              </a:buClr>
              <a:buSzPts val="2250"/>
              <a:buFont typeface="Arial"/>
              <a:buNone/>
            </a:pPr>
            <a:r>
              <a:rPr b="1" i="0" lang="en-US" sz="2250" u="none" cap="none" strike="noStrike">
                <a:solidFill>
                  <a:srgbClr val="0A1522"/>
                </a:solidFill>
                <a:latin typeface="Arial"/>
                <a:ea typeface="Arial"/>
                <a:cs typeface="Arial"/>
                <a:sym typeface="Arial"/>
              </a:rPr>
              <a:t>HARD TO USE AS ONE SYSTEM</a:t>
            </a:r>
            <a:endParaRPr b="0" i="0" sz="2250" u="none" cap="none" strike="noStrike">
              <a:solidFill>
                <a:schemeClr val="dk1"/>
              </a:solidFill>
              <a:latin typeface="Calibri"/>
              <a:ea typeface="Calibri"/>
              <a:cs typeface="Calibri"/>
              <a:sym typeface="Calibri"/>
            </a:endParaRPr>
          </a:p>
        </p:txBody>
      </p:sp>
      <p:sp>
        <p:nvSpPr>
          <p:cNvPr id="130" name="Google Shape;130;p7"/>
          <p:cNvSpPr/>
          <p:nvPr/>
        </p:nvSpPr>
        <p:spPr>
          <a:xfrm>
            <a:off x="1047715" y="6685255"/>
            <a:ext cx="5493984" cy="727235"/>
          </a:xfrm>
          <a:prstGeom prst="rect">
            <a:avLst/>
          </a:prstGeom>
          <a:noFill/>
          <a:ln>
            <a:noFill/>
          </a:ln>
        </p:spPr>
        <p:txBody>
          <a:bodyPr anchorCtr="0" anchor="t" bIns="25400" lIns="25400" spcFirstLastPara="1" rIns="25400" wrap="square" tIns="25400">
            <a:normAutofit/>
          </a:bodyPr>
          <a:lstStyle/>
          <a:p>
            <a:pPr indent="0" lvl="0" marL="0" marR="0" rtl="0" algn="l">
              <a:lnSpc>
                <a:spcPct val="115000"/>
              </a:lnSpc>
              <a:spcBef>
                <a:spcPts val="0"/>
              </a:spcBef>
              <a:spcAft>
                <a:spcPts val="0"/>
              </a:spcAft>
              <a:buClr>
                <a:srgbClr val="0A1522"/>
              </a:buClr>
              <a:buSzPts val="2025"/>
              <a:buFont typeface="Arial"/>
              <a:buNone/>
            </a:pPr>
            <a:r>
              <a:rPr b="0" i="0" lang="en-US" sz="2025" u="none" cap="none" strike="noStrike">
                <a:solidFill>
                  <a:srgbClr val="0A1522"/>
                </a:solidFill>
                <a:latin typeface="Arial"/>
                <a:ea typeface="Arial"/>
                <a:cs typeface="Arial"/>
                <a:sym typeface="Arial"/>
              </a:rPr>
              <a:t>Even when the expertise exists, it sits across separate teams, tools and workflows.</a:t>
            </a:r>
            <a:endParaRPr b="0" i="0" sz="2025" u="none" cap="none" strike="noStrike">
              <a:solidFill>
                <a:schemeClr val="dk1"/>
              </a:solidFill>
              <a:latin typeface="Calibri"/>
              <a:ea typeface="Calibri"/>
              <a:cs typeface="Calibri"/>
              <a:sym typeface="Calibri"/>
            </a:endParaRPr>
          </a:p>
        </p:txBody>
      </p:sp>
      <p:sp>
        <p:nvSpPr>
          <p:cNvPr id="131" name="Google Shape;131;p7"/>
          <p:cNvSpPr/>
          <p:nvPr/>
        </p:nvSpPr>
        <p:spPr>
          <a:xfrm>
            <a:off x="1047715" y="7488666"/>
            <a:ext cx="5493984" cy="657086"/>
          </a:xfrm>
          <a:prstGeom prst="rect">
            <a:avLst/>
          </a:prstGeom>
          <a:noFill/>
          <a:ln>
            <a:noFill/>
          </a:ln>
        </p:spPr>
        <p:txBody>
          <a:bodyPr anchorCtr="0" anchor="t" bIns="25400" lIns="25400" spcFirstLastPara="1" rIns="25400" wrap="square" tIns="25400">
            <a:normAutofit/>
          </a:bodyPr>
          <a:lstStyle/>
          <a:p>
            <a:pPr indent="0" lvl="0" marL="0" marR="0" rtl="0" algn="l">
              <a:lnSpc>
                <a:spcPct val="113000"/>
              </a:lnSpc>
              <a:spcBef>
                <a:spcPts val="0"/>
              </a:spcBef>
              <a:spcAft>
                <a:spcPts val="0"/>
              </a:spcAft>
              <a:buClr>
                <a:srgbClr val="38AFD8"/>
              </a:buClr>
              <a:buSzPts val="1875"/>
              <a:buFont typeface="Arial"/>
              <a:buNone/>
            </a:pPr>
            <a:r>
              <a:rPr b="1" i="0" lang="en-US" sz="1875" u="none" cap="none" strike="noStrike">
                <a:solidFill>
                  <a:srgbClr val="38AFD8"/>
                </a:solidFill>
                <a:latin typeface="Arial"/>
                <a:ea typeface="Arial"/>
                <a:cs typeface="Arial"/>
                <a:sym typeface="Arial"/>
              </a:rPr>
              <a:t>Repeated context transfer · Sequential hand-offs · Delayed feedback</a:t>
            </a:r>
            <a:endParaRPr b="0" i="0" sz="1875" u="none" cap="none" strike="noStrike">
              <a:solidFill>
                <a:schemeClr val="dk1"/>
              </a:solidFill>
              <a:latin typeface="Calibri"/>
              <a:ea typeface="Calibri"/>
              <a:cs typeface="Calibri"/>
              <a:sym typeface="Calibri"/>
            </a:endParaRPr>
          </a:p>
        </p:txBody>
      </p:sp>
      <p:pic>
        <p:nvPicPr>
          <p:cNvPr descr="preencoded.png" id="132" name="Google Shape;132;p7"/>
          <p:cNvPicPr preferRelativeResize="0"/>
          <p:nvPr/>
        </p:nvPicPr>
        <p:blipFill rotWithShape="1">
          <a:blip r:embed="rId3">
            <a:alphaModFix/>
          </a:blip>
          <a:srcRect b="0" l="0" r="0" t="0"/>
          <a:stretch/>
        </p:blipFill>
        <p:spPr>
          <a:xfrm>
            <a:off x="6953145" y="2665764"/>
            <a:ext cx="10286983" cy="6667500"/>
          </a:xfrm>
          <a:prstGeom prst="rect">
            <a:avLst/>
          </a:prstGeom>
          <a:noFill/>
          <a:ln>
            <a:noFill/>
          </a:ln>
        </p:spPr>
      </p:pic>
      <p:sp>
        <p:nvSpPr>
          <p:cNvPr id="133" name="Google Shape;133;p7"/>
          <p:cNvSpPr/>
          <p:nvPr/>
        </p:nvSpPr>
        <p:spPr>
          <a:xfrm>
            <a:off x="7048404" y="2951497"/>
            <a:ext cx="3143100" cy="1257300"/>
          </a:xfrm>
          <a:prstGeom prst="roundRect">
            <a:avLst>
              <a:gd fmla="val 12121" name="adj"/>
            </a:avLst>
          </a:prstGeom>
          <a:solidFill>
            <a:srgbClr val="FFFFFF"/>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7"/>
          <p:cNvSpPr/>
          <p:nvPr/>
        </p:nvSpPr>
        <p:spPr>
          <a:xfrm>
            <a:off x="7263465" y="3322958"/>
            <a:ext cx="514284" cy="514284"/>
          </a:xfrm>
          <a:prstGeom prst="ellipse">
            <a:avLst/>
          </a:prstGeom>
          <a:solidFill>
            <a:srgbClr val="38AFD8">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5" name="Google Shape;135;p7"/>
          <p:cNvPicPr preferRelativeResize="0"/>
          <p:nvPr/>
        </p:nvPicPr>
        <p:blipFill rotWithShape="1">
          <a:blip r:embed="rId4">
            <a:alphaModFix/>
          </a:blip>
          <a:srcRect b="0" l="0" r="0" t="0"/>
          <a:stretch/>
        </p:blipFill>
        <p:spPr>
          <a:xfrm>
            <a:off x="7377740" y="3437233"/>
            <a:ext cx="285733" cy="285733"/>
          </a:xfrm>
          <a:prstGeom prst="rect">
            <a:avLst/>
          </a:prstGeom>
          <a:noFill/>
          <a:ln>
            <a:noFill/>
          </a:ln>
        </p:spPr>
      </p:pic>
      <p:sp>
        <p:nvSpPr>
          <p:cNvPr id="136" name="Google Shape;136;p7"/>
          <p:cNvSpPr/>
          <p:nvPr/>
        </p:nvSpPr>
        <p:spPr>
          <a:xfrm>
            <a:off x="7930145" y="3145669"/>
            <a:ext cx="2251073" cy="320351"/>
          </a:xfrm>
          <a:prstGeom prst="rect">
            <a:avLst/>
          </a:prstGeom>
          <a:noFill/>
          <a:ln>
            <a:noFill/>
          </a:ln>
        </p:spPr>
        <p:txBody>
          <a:bodyPr anchorCtr="0" anchor="t" bIns="25400" lIns="25400" spcFirstLastPara="1" rIns="25400" wrap="square" tIns="25400">
            <a:normAutofit/>
          </a:bodyPr>
          <a:lstStyle/>
          <a:p>
            <a:pPr indent="0" lvl="0" marL="0" marR="0" rtl="0" algn="l">
              <a:lnSpc>
                <a:spcPct val="101000"/>
              </a:lnSpc>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Statistics &amp; DoE</a:t>
            </a:r>
            <a:endParaRPr b="0" i="0" sz="1950" u="none" cap="none" strike="noStrike">
              <a:solidFill>
                <a:schemeClr val="dk1"/>
              </a:solidFill>
              <a:latin typeface="Calibri"/>
              <a:ea typeface="Calibri"/>
              <a:cs typeface="Calibri"/>
              <a:sym typeface="Calibri"/>
            </a:endParaRPr>
          </a:p>
        </p:txBody>
      </p:sp>
      <p:sp>
        <p:nvSpPr>
          <p:cNvPr id="137" name="Google Shape;137;p7"/>
          <p:cNvSpPr/>
          <p:nvPr/>
        </p:nvSpPr>
        <p:spPr>
          <a:xfrm>
            <a:off x="7930145" y="3465954"/>
            <a:ext cx="2122630" cy="586762"/>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0A1522"/>
              </a:buClr>
              <a:buSzPts val="1800"/>
              <a:buFont typeface="Arial"/>
              <a:buNone/>
            </a:pPr>
            <a:r>
              <a:rPr b="0" i="0" lang="en-US" sz="1800" u="none" cap="none" strike="noStrike">
                <a:solidFill>
                  <a:srgbClr val="0A1522"/>
                </a:solidFill>
                <a:latin typeface="Arial"/>
                <a:ea typeface="Arial"/>
                <a:cs typeface="Arial"/>
                <a:sym typeface="Arial"/>
              </a:rPr>
              <a:t>Statistician / DoE specialist</a:t>
            </a:r>
            <a:endParaRPr b="0" i="0" sz="1800" u="none" cap="none" strike="noStrike">
              <a:solidFill>
                <a:schemeClr val="dk1"/>
              </a:solidFill>
              <a:latin typeface="Calibri"/>
              <a:ea typeface="Calibri"/>
              <a:cs typeface="Calibri"/>
              <a:sym typeface="Calibri"/>
            </a:endParaRPr>
          </a:p>
        </p:txBody>
      </p:sp>
      <p:sp>
        <p:nvSpPr>
          <p:cNvPr id="138" name="Google Shape;138;p7"/>
          <p:cNvSpPr/>
          <p:nvPr/>
        </p:nvSpPr>
        <p:spPr>
          <a:xfrm>
            <a:off x="14001636" y="2951497"/>
            <a:ext cx="3143233" cy="1257293"/>
          </a:xfrm>
          <a:prstGeom prst="roundRect">
            <a:avLst>
              <a:gd fmla="val 12121" name="adj"/>
            </a:avLst>
          </a:prstGeom>
          <a:solidFill>
            <a:srgbClr val="FFFFFF"/>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a:off x="14216697" y="3322958"/>
            <a:ext cx="514284" cy="514284"/>
          </a:xfrm>
          <a:prstGeom prst="ellipse">
            <a:avLst/>
          </a:prstGeom>
          <a:solidFill>
            <a:srgbClr val="38AFD8">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0" name="Google Shape;140;p7"/>
          <p:cNvPicPr preferRelativeResize="0"/>
          <p:nvPr/>
        </p:nvPicPr>
        <p:blipFill rotWithShape="1">
          <a:blip r:embed="rId5">
            <a:alphaModFix/>
          </a:blip>
          <a:srcRect b="0" l="0" r="0" t="0"/>
          <a:stretch/>
        </p:blipFill>
        <p:spPr>
          <a:xfrm>
            <a:off x="14330973" y="3437233"/>
            <a:ext cx="285733" cy="285733"/>
          </a:xfrm>
          <a:prstGeom prst="rect">
            <a:avLst/>
          </a:prstGeom>
          <a:noFill/>
          <a:ln>
            <a:noFill/>
          </a:ln>
        </p:spPr>
      </p:pic>
      <p:sp>
        <p:nvSpPr>
          <p:cNvPr id="141" name="Google Shape;141;p7"/>
          <p:cNvSpPr/>
          <p:nvPr/>
        </p:nvSpPr>
        <p:spPr>
          <a:xfrm>
            <a:off x="14883378" y="3282835"/>
            <a:ext cx="2074916" cy="320351"/>
          </a:xfrm>
          <a:prstGeom prst="rect">
            <a:avLst/>
          </a:prstGeom>
          <a:noFill/>
          <a:ln>
            <a:noFill/>
          </a:ln>
        </p:spPr>
        <p:txBody>
          <a:bodyPr anchorCtr="0" anchor="t" bIns="25400" lIns="25400" spcFirstLastPara="1" rIns="25400" wrap="square" tIns="25400">
            <a:normAutofit/>
          </a:bodyPr>
          <a:lstStyle/>
          <a:p>
            <a:pPr indent="0" lvl="0" marL="0" marR="0" rtl="0" algn="l">
              <a:lnSpc>
                <a:spcPct val="101000"/>
              </a:lnSpc>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Data engineering</a:t>
            </a:r>
            <a:endParaRPr b="0" i="0" sz="1950" u="none" cap="none" strike="noStrike">
              <a:solidFill>
                <a:schemeClr val="dk1"/>
              </a:solidFill>
              <a:latin typeface="Calibri"/>
              <a:ea typeface="Calibri"/>
              <a:cs typeface="Calibri"/>
              <a:sym typeface="Calibri"/>
            </a:endParaRPr>
          </a:p>
        </p:txBody>
      </p:sp>
      <p:sp>
        <p:nvSpPr>
          <p:cNvPr id="142" name="Google Shape;142;p7"/>
          <p:cNvSpPr/>
          <p:nvPr/>
        </p:nvSpPr>
        <p:spPr>
          <a:xfrm>
            <a:off x="14883378" y="3603120"/>
            <a:ext cx="2074916" cy="312431"/>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0A1522"/>
              </a:buClr>
              <a:buSzPts val="1800"/>
              <a:buFont typeface="Arial"/>
              <a:buNone/>
            </a:pPr>
            <a:r>
              <a:rPr b="0" i="0" lang="en-US" sz="1800" u="none" cap="none" strike="noStrike">
                <a:solidFill>
                  <a:srgbClr val="0A1522"/>
                </a:solidFill>
                <a:latin typeface="Arial"/>
                <a:ea typeface="Arial"/>
                <a:cs typeface="Arial"/>
                <a:sym typeface="Arial"/>
              </a:rPr>
              <a:t>Data engineer</a:t>
            </a:r>
            <a:endParaRPr b="0" i="0" sz="1800" u="none" cap="none" strike="noStrike">
              <a:solidFill>
                <a:schemeClr val="dk1"/>
              </a:solidFill>
              <a:latin typeface="Calibri"/>
              <a:ea typeface="Calibri"/>
              <a:cs typeface="Calibri"/>
              <a:sym typeface="Calibri"/>
            </a:endParaRPr>
          </a:p>
        </p:txBody>
      </p:sp>
      <p:sp>
        <p:nvSpPr>
          <p:cNvPr id="143" name="Google Shape;143;p7"/>
          <p:cNvSpPr/>
          <p:nvPr/>
        </p:nvSpPr>
        <p:spPr>
          <a:xfrm>
            <a:off x="7048404" y="5332747"/>
            <a:ext cx="3143100" cy="1257300"/>
          </a:xfrm>
          <a:prstGeom prst="roundRect">
            <a:avLst>
              <a:gd fmla="val 12121" name="adj"/>
            </a:avLst>
          </a:prstGeom>
          <a:solidFill>
            <a:srgbClr val="FFFFFF"/>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7"/>
          <p:cNvSpPr/>
          <p:nvPr/>
        </p:nvSpPr>
        <p:spPr>
          <a:xfrm>
            <a:off x="7263465" y="5704208"/>
            <a:ext cx="514284" cy="514284"/>
          </a:xfrm>
          <a:prstGeom prst="ellipse">
            <a:avLst/>
          </a:prstGeom>
          <a:solidFill>
            <a:srgbClr val="38AFD8">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45" name="Google Shape;145;p7"/>
          <p:cNvPicPr preferRelativeResize="0"/>
          <p:nvPr/>
        </p:nvPicPr>
        <p:blipFill rotWithShape="1">
          <a:blip r:embed="rId6">
            <a:alphaModFix/>
          </a:blip>
          <a:srcRect b="0" l="0" r="0" t="0"/>
          <a:stretch/>
        </p:blipFill>
        <p:spPr>
          <a:xfrm>
            <a:off x="7377740" y="5818483"/>
            <a:ext cx="285733" cy="285733"/>
          </a:xfrm>
          <a:prstGeom prst="rect">
            <a:avLst/>
          </a:prstGeom>
          <a:noFill/>
          <a:ln>
            <a:noFill/>
          </a:ln>
        </p:spPr>
      </p:pic>
      <p:sp>
        <p:nvSpPr>
          <p:cNvPr id="146" name="Google Shape;146;p7"/>
          <p:cNvSpPr/>
          <p:nvPr/>
        </p:nvSpPr>
        <p:spPr>
          <a:xfrm>
            <a:off x="7930150" y="5664076"/>
            <a:ext cx="2419200" cy="285900"/>
          </a:xfrm>
          <a:prstGeom prst="rect">
            <a:avLst/>
          </a:prstGeom>
          <a:noFill/>
          <a:ln>
            <a:noFill/>
          </a:ln>
        </p:spPr>
        <p:txBody>
          <a:bodyPr anchorCtr="0" anchor="t" bIns="25400" lIns="25400" spcFirstLastPara="1" rIns="25400" wrap="square" tIns="25400">
            <a:normAutofit/>
          </a:bodyPr>
          <a:lstStyle/>
          <a:p>
            <a:pPr indent="0" lvl="0" marL="0" marR="0" rtl="0" algn="l">
              <a:lnSpc>
                <a:spcPct val="101000"/>
              </a:lnSpc>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Process modelling</a:t>
            </a:r>
            <a:endParaRPr b="0" i="0" sz="1950" u="none" cap="none" strike="noStrike">
              <a:solidFill>
                <a:schemeClr val="dk1"/>
              </a:solidFill>
              <a:latin typeface="Calibri"/>
              <a:ea typeface="Calibri"/>
              <a:cs typeface="Calibri"/>
              <a:sym typeface="Calibri"/>
            </a:endParaRPr>
          </a:p>
        </p:txBody>
      </p:sp>
      <p:sp>
        <p:nvSpPr>
          <p:cNvPr id="147" name="Google Shape;147;p7"/>
          <p:cNvSpPr/>
          <p:nvPr/>
        </p:nvSpPr>
        <p:spPr>
          <a:xfrm>
            <a:off x="7930145" y="5984370"/>
            <a:ext cx="2225799" cy="312431"/>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0A1522"/>
              </a:buClr>
              <a:buSzPts val="1800"/>
              <a:buFont typeface="Arial"/>
              <a:buNone/>
            </a:pPr>
            <a:r>
              <a:rPr b="0" i="0" lang="en-US" sz="1800" u="none" cap="none" strike="noStrike">
                <a:solidFill>
                  <a:srgbClr val="0A1522"/>
                </a:solidFill>
                <a:latin typeface="Arial"/>
                <a:ea typeface="Arial"/>
                <a:cs typeface="Arial"/>
                <a:sym typeface="Arial"/>
              </a:rPr>
              <a:t>Bioprocess modeller</a:t>
            </a:r>
            <a:endParaRPr b="0" i="0" sz="1800" u="none" cap="none" strike="noStrike">
              <a:solidFill>
                <a:schemeClr val="dk1"/>
              </a:solidFill>
              <a:latin typeface="Calibri"/>
              <a:ea typeface="Calibri"/>
              <a:cs typeface="Calibri"/>
              <a:sym typeface="Calibri"/>
            </a:endParaRPr>
          </a:p>
        </p:txBody>
      </p:sp>
      <p:sp>
        <p:nvSpPr>
          <p:cNvPr id="148" name="Google Shape;148;p7"/>
          <p:cNvSpPr/>
          <p:nvPr/>
        </p:nvSpPr>
        <p:spPr>
          <a:xfrm>
            <a:off x="14001636" y="5332747"/>
            <a:ext cx="3143233" cy="1257293"/>
          </a:xfrm>
          <a:prstGeom prst="roundRect">
            <a:avLst>
              <a:gd fmla="val 12121" name="adj"/>
            </a:avLst>
          </a:prstGeom>
          <a:solidFill>
            <a:srgbClr val="FFFFFF"/>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
          <p:cNvSpPr/>
          <p:nvPr/>
        </p:nvSpPr>
        <p:spPr>
          <a:xfrm>
            <a:off x="14216697" y="5704208"/>
            <a:ext cx="514284" cy="514284"/>
          </a:xfrm>
          <a:prstGeom prst="ellipse">
            <a:avLst/>
          </a:prstGeom>
          <a:solidFill>
            <a:srgbClr val="38AFD8">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0" name="Google Shape;150;p7"/>
          <p:cNvPicPr preferRelativeResize="0"/>
          <p:nvPr/>
        </p:nvPicPr>
        <p:blipFill rotWithShape="1">
          <a:blip r:embed="rId7">
            <a:alphaModFix/>
          </a:blip>
          <a:srcRect b="0" l="0" r="0" t="0"/>
          <a:stretch/>
        </p:blipFill>
        <p:spPr>
          <a:xfrm>
            <a:off x="14330973" y="5818483"/>
            <a:ext cx="285733" cy="285733"/>
          </a:xfrm>
          <a:prstGeom prst="rect">
            <a:avLst/>
          </a:prstGeom>
          <a:noFill/>
          <a:ln>
            <a:noFill/>
          </a:ln>
        </p:spPr>
      </p:pic>
      <p:sp>
        <p:nvSpPr>
          <p:cNvPr id="151" name="Google Shape;151;p7"/>
          <p:cNvSpPr/>
          <p:nvPr/>
        </p:nvSpPr>
        <p:spPr>
          <a:xfrm>
            <a:off x="14883378" y="5526919"/>
            <a:ext cx="2251073" cy="320351"/>
          </a:xfrm>
          <a:prstGeom prst="rect">
            <a:avLst/>
          </a:prstGeom>
          <a:noFill/>
          <a:ln>
            <a:noFill/>
          </a:ln>
        </p:spPr>
        <p:txBody>
          <a:bodyPr anchorCtr="0" anchor="t" bIns="25400" lIns="25400" spcFirstLastPara="1" rIns="25400" wrap="square" tIns="25400">
            <a:normAutofit/>
          </a:bodyPr>
          <a:lstStyle/>
          <a:p>
            <a:pPr indent="0" lvl="0" marL="0" marR="0" rtl="0" algn="l">
              <a:lnSpc>
                <a:spcPct val="101000"/>
              </a:lnSpc>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ML &amp; optimization</a:t>
            </a:r>
            <a:endParaRPr b="0" i="0" sz="1950" u="none" cap="none" strike="noStrike">
              <a:solidFill>
                <a:schemeClr val="dk1"/>
              </a:solidFill>
              <a:latin typeface="Calibri"/>
              <a:ea typeface="Calibri"/>
              <a:cs typeface="Calibri"/>
              <a:sym typeface="Calibri"/>
            </a:endParaRPr>
          </a:p>
        </p:txBody>
      </p:sp>
      <p:sp>
        <p:nvSpPr>
          <p:cNvPr id="152" name="Google Shape;152;p7"/>
          <p:cNvSpPr/>
          <p:nvPr/>
        </p:nvSpPr>
        <p:spPr>
          <a:xfrm>
            <a:off x="14883378" y="5847204"/>
            <a:ext cx="2122630" cy="586762"/>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0A1522"/>
              </a:buClr>
              <a:buSzPts val="1800"/>
              <a:buFont typeface="Arial"/>
              <a:buNone/>
            </a:pPr>
            <a:r>
              <a:rPr b="0" i="0" lang="en-US" sz="1800" u="none" cap="none" strike="noStrike">
                <a:solidFill>
                  <a:srgbClr val="0A1522"/>
                </a:solidFill>
                <a:latin typeface="Arial"/>
                <a:ea typeface="Arial"/>
                <a:cs typeface="Arial"/>
                <a:sym typeface="Arial"/>
              </a:rPr>
              <a:t>ML / optimization engineer</a:t>
            </a:r>
            <a:endParaRPr b="0" i="0" sz="1800" u="none" cap="none" strike="noStrike">
              <a:solidFill>
                <a:schemeClr val="dk1"/>
              </a:solidFill>
              <a:latin typeface="Calibri"/>
              <a:ea typeface="Calibri"/>
              <a:cs typeface="Calibri"/>
              <a:sym typeface="Calibri"/>
            </a:endParaRPr>
          </a:p>
        </p:txBody>
      </p:sp>
      <p:sp>
        <p:nvSpPr>
          <p:cNvPr id="153" name="Google Shape;153;p7"/>
          <p:cNvSpPr/>
          <p:nvPr/>
        </p:nvSpPr>
        <p:spPr>
          <a:xfrm>
            <a:off x="10820283" y="3484884"/>
            <a:ext cx="2552620" cy="2552620"/>
          </a:xfrm>
          <a:prstGeom prst="ellipse">
            <a:avLst/>
          </a:prstGeom>
          <a:solidFill>
            <a:srgbClr val="FFFFFF"/>
          </a:solidFill>
          <a:ln cap="flat" cmpd="sng" w="22275">
            <a:solidFill>
              <a:srgbClr val="0A1522"/>
            </a:solidFill>
            <a:prstDash val="solid"/>
            <a:round/>
            <a:headEnd len="sm" w="sm" type="none"/>
            <a:tailEnd len="sm" w="sm" type="none"/>
          </a:ln>
          <a:effectLst>
            <a:outerShdw blurRad="101600" rotWithShape="0" algn="bl" dir="16200000" dist="50800">
              <a:srgbClr val="38AFD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54" name="Google Shape;154;p7"/>
          <p:cNvPicPr preferRelativeResize="0"/>
          <p:nvPr/>
        </p:nvPicPr>
        <p:blipFill rotWithShape="1">
          <a:blip r:embed="rId8">
            <a:alphaModFix/>
          </a:blip>
          <a:srcRect b="0" l="0" r="0" t="0"/>
          <a:stretch/>
        </p:blipFill>
        <p:spPr>
          <a:xfrm>
            <a:off x="11782269" y="4095863"/>
            <a:ext cx="628647" cy="628647"/>
          </a:xfrm>
          <a:prstGeom prst="rect">
            <a:avLst/>
          </a:prstGeom>
          <a:noFill/>
          <a:ln>
            <a:noFill/>
          </a:ln>
        </p:spPr>
      </p:pic>
      <p:sp>
        <p:nvSpPr>
          <p:cNvPr id="155" name="Google Shape;155;p7"/>
          <p:cNvSpPr/>
          <p:nvPr/>
        </p:nvSpPr>
        <p:spPr>
          <a:xfrm>
            <a:off x="11113000" y="4819725"/>
            <a:ext cx="1931096" cy="644901"/>
          </a:xfrm>
          <a:prstGeom prst="rect">
            <a:avLst/>
          </a:prstGeom>
          <a:noFill/>
          <a:ln>
            <a:noFill/>
          </a:ln>
        </p:spPr>
        <p:txBody>
          <a:bodyPr anchorCtr="0" anchor="t" bIns="25400" lIns="25400" spcFirstLastPara="1" rIns="25400" wrap="square" tIns="25400">
            <a:normAutofit/>
          </a:bodyPr>
          <a:lstStyle/>
          <a:p>
            <a:pPr indent="0" lvl="0" marL="0" marR="0" rtl="0" algn="ctr">
              <a:lnSpc>
                <a:spcPct val="101000"/>
              </a:lnSpc>
              <a:spcBef>
                <a:spcPts val="0"/>
              </a:spcBef>
              <a:spcAft>
                <a:spcPts val="0"/>
              </a:spcAft>
              <a:buClr>
                <a:srgbClr val="0A1522"/>
              </a:buClr>
              <a:buSzPts val="2025"/>
              <a:buFont typeface="Arial"/>
              <a:buNone/>
            </a:pPr>
            <a:r>
              <a:rPr b="1" i="0" lang="en-US" sz="2025" u="none" cap="none" strike="noStrike">
                <a:solidFill>
                  <a:srgbClr val="0A1522"/>
                </a:solidFill>
                <a:latin typeface="Arial"/>
                <a:ea typeface="Arial"/>
                <a:cs typeface="Arial"/>
                <a:sym typeface="Arial"/>
              </a:rPr>
              <a:t>BIOPROCESS SCIENTIST</a:t>
            </a:r>
            <a:endParaRPr b="0" i="0" sz="2025" u="none" cap="none" strike="noStrike">
              <a:solidFill>
                <a:schemeClr val="dk1"/>
              </a:solidFill>
              <a:latin typeface="Calibri"/>
              <a:ea typeface="Calibri"/>
              <a:cs typeface="Calibri"/>
              <a:sym typeface="Calibri"/>
            </a:endParaRPr>
          </a:p>
        </p:txBody>
      </p:sp>
      <p:sp>
        <p:nvSpPr>
          <p:cNvPr id="156" name="Google Shape;156;p7"/>
          <p:cNvSpPr/>
          <p:nvPr/>
        </p:nvSpPr>
        <p:spPr>
          <a:xfrm>
            <a:off x="7143576" y="6884937"/>
            <a:ext cx="9906000" cy="1626300"/>
          </a:xfrm>
          <a:prstGeom prst="roundRect">
            <a:avLst>
              <a:gd fmla="val 8200" name="adj"/>
            </a:avLst>
          </a:prstGeom>
          <a:solidFill>
            <a:srgbClr val="38AFD8">
              <a:alpha val="9020"/>
            </a:srgbClr>
          </a:solidFill>
          <a:ln cap="flat" cmpd="sng" w="11125">
            <a:solidFill>
              <a:srgbClr val="38AFD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p:nvPr/>
        </p:nvSpPr>
        <p:spPr>
          <a:xfrm>
            <a:off x="10349477" y="7100265"/>
            <a:ext cx="3458400" cy="327600"/>
          </a:xfrm>
          <a:prstGeom prst="rect">
            <a:avLst/>
          </a:prstGeom>
          <a:noFill/>
          <a:ln>
            <a:noFill/>
          </a:ln>
        </p:spPr>
        <p:txBody>
          <a:bodyPr anchorCtr="0" anchor="t" bIns="25400" lIns="25400" spcFirstLastPara="1" rIns="25400" wrap="square" tIns="25400">
            <a:normAutofit/>
          </a:bodyPr>
          <a:lstStyle/>
          <a:p>
            <a:pPr indent="0" lvl="0" marL="0" marR="0" rtl="0" algn="ctr">
              <a:lnSpc>
                <a:spcPct val="111000"/>
              </a:lnSpc>
              <a:spcBef>
                <a:spcPts val="0"/>
              </a:spcBef>
              <a:spcAft>
                <a:spcPts val="0"/>
              </a:spcAft>
              <a:buClr>
                <a:srgbClr val="38AFD8"/>
              </a:buClr>
              <a:buSzPts val="2025"/>
              <a:buFont typeface="Arial"/>
              <a:buNone/>
            </a:pPr>
            <a:r>
              <a:rPr b="1" i="0" lang="en-US" sz="2025" u="none" cap="none" strike="noStrike">
                <a:solidFill>
                  <a:srgbClr val="38AFD8"/>
                </a:solidFill>
                <a:latin typeface="Arial"/>
                <a:ea typeface="Arial"/>
                <a:cs typeface="Arial"/>
                <a:sym typeface="Arial"/>
              </a:rPr>
              <a:t>THE CONSEQUENCE</a:t>
            </a:r>
            <a:endParaRPr b="0" i="0" sz="2025" u="none" cap="none" strike="noStrike">
              <a:solidFill>
                <a:schemeClr val="dk1"/>
              </a:solidFill>
              <a:latin typeface="Calibri"/>
              <a:ea typeface="Calibri"/>
              <a:cs typeface="Calibri"/>
              <a:sym typeface="Calibri"/>
            </a:endParaRPr>
          </a:p>
        </p:txBody>
      </p:sp>
      <p:sp>
        <p:nvSpPr>
          <p:cNvPr id="158" name="Google Shape;158;p7"/>
          <p:cNvSpPr/>
          <p:nvPr/>
        </p:nvSpPr>
        <p:spPr>
          <a:xfrm>
            <a:off x="7079567" y="7516020"/>
            <a:ext cx="10034100" cy="420300"/>
          </a:xfrm>
          <a:prstGeom prst="rect">
            <a:avLst/>
          </a:prstGeom>
          <a:noFill/>
          <a:ln>
            <a:noFill/>
          </a:ln>
        </p:spPr>
        <p:txBody>
          <a:bodyPr anchorCtr="0" anchor="t" bIns="25400" lIns="25400" spcFirstLastPara="1" rIns="25400" wrap="square" tIns="25400">
            <a:normAutofit/>
          </a:bodyPr>
          <a:lstStyle/>
          <a:p>
            <a:pPr indent="0" lvl="0" marL="0" marR="0" rtl="0" algn="ctr">
              <a:lnSpc>
                <a:spcPct val="104000"/>
              </a:lnSpc>
              <a:spcBef>
                <a:spcPts val="0"/>
              </a:spcBef>
              <a:spcAft>
                <a:spcPts val="0"/>
              </a:spcAft>
              <a:buClr>
                <a:srgbClr val="0A1522"/>
              </a:buClr>
              <a:buSzPts val="2550"/>
              <a:buFont typeface="Georgia"/>
              <a:buNone/>
            </a:pPr>
            <a:r>
              <a:rPr b="0" i="0" lang="en-US" sz="2550" u="none" cap="none" strike="noStrike">
                <a:solidFill>
                  <a:srgbClr val="0A1522"/>
                </a:solidFill>
                <a:latin typeface="Georgia"/>
                <a:ea typeface="Georgia"/>
                <a:cs typeface="Georgia"/>
                <a:sym typeface="Georgia"/>
              </a:rPr>
              <a:t>The bioprocess scientist becomes the manual integration layer.</a:t>
            </a:r>
            <a:endParaRPr b="0" i="0" sz="2550" u="none" cap="none" strike="noStrike">
              <a:solidFill>
                <a:schemeClr val="dk1"/>
              </a:solidFill>
              <a:latin typeface="Calibri"/>
              <a:ea typeface="Calibri"/>
              <a:cs typeface="Calibri"/>
              <a:sym typeface="Calibri"/>
            </a:endParaRPr>
          </a:p>
        </p:txBody>
      </p:sp>
      <p:sp>
        <p:nvSpPr>
          <p:cNvPr id="159" name="Google Shape;159;p7"/>
          <p:cNvSpPr/>
          <p:nvPr/>
        </p:nvSpPr>
        <p:spPr>
          <a:xfrm>
            <a:off x="7079567" y="7993315"/>
            <a:ext cx="10034100" cy="335400"/>
          </a:xfrm>
          <a:prstGeom prst="rect">
            <a:avLst/>
          </a:prstGeom>
          <a:noFill/>
          <a:ln>
            <a:noFill/>
          </a:ln>
        </p:spPr>
        <p:txBody>
          <a:bodyPr anchorCtr="0" anchor="t" bIns="25400" lIns="25400" spcFirstLastPara="1" rIns="25400" wrap="square" tIns="25400">
            <a:normAutofit/>
          </a:bodyPr>
          <a:lstStyle/>
          <a:p>
            <a:pPr indent="0" lvl="0" marL="0" marR="0" rtl="0" algn="ctr">
              <a:lnSpc>
                <a:spcPct val="114000"/>
              </a:lnSpc>
              <a:spcBef>
                <a:spcPts val="0"/>
              </a:spcBef>
              <a:spcAft>
                <a:spcPts val="0"/>
              </a:spcAft>
              <a:buClr>
                <a:srgbClr val="0A1522"/>
              </a:buClr>
              <a:buSzPts val="1800"/>
              <a:buFont typeface="Arial"/>
              <a:buNone/>
            </a:pPr>
            <a:r>
              <a:rPr b="0" i="0" lang="en-US" sz="1800" u="none" cap="none" strike="noStrike">
                <a:solidFill>
                  <a:srgbClr val="0A1522"/>
                </a:solidFill>
                <a:latin typeface="Arial"/>
                <a:ea typeface="Arial"/>
                <a:cs typeface="Arial"/>
                <a:sym typeface="Arial"/>
              </a:rPr>
              <a:t>They repeatedly transfer context, coordinate analyses and reconcile disconnected outputs.</a:t>
            </a:r>
            <a:endParaRPr b="0" i="0" sz="1800" u="none" cap="none" strike="noStrike">
              <a:solidFill>
                <a:schemeClr val="dk1"/>
              </a:solidFill>
              <a:latin typeface="Calibri"/>
              <a:ea typeface="Calibri"/>
              <a:cs typeface="Calibri"/>
              <a:sym typeface="Calibri"/>
            </a:endParaRPr>
          </a:p>
        </p:txBody>
      </p:sp>
      <p:sp>
        <p:nvSpPr>
          <p:cNvPr id="160" name="Google Shape;160;p7"/>
          <p:cNvSpPr/>
          <p:nvPr/>
        </p:nvSpPr>
        <p:spPr>
          <a:xfrm>
            <a:off x="6648270" y="8771884"/>
            <a:ext cx="10896600" cy="340800"/>
          </a:xfrm>
          <a:prstGeom prst="rect">
            <a:avLst/>
          </a:prstGeom>
          <a:noFill/>
          <a:ln>
            <a:noFill/>
          </a:ln>
        </p:spPr>
        <p:txBody>
          <a:bodyPr anchorCtr="0" anchor="t" bIns="25400" lIns="25400" spcFirstLastPara="1" rIns="25400" wrap="square" tIns="25400">
            <a:normAutofit/>
          </a:bodyPr>
          <a:lstStyle/>
          <a:p>
            <a:pPr indent="0" lvl="0" marL="0" marR="0" rtl="0" algn="ctr">
              <a:lnSpc>
                <a:spcPct val="114000"/>
              </a:lnSpc>
              <a:spcBef>
                <a:spcPts val="0"/>
              </a:spcBef>
              <a:spcAft>
                <a:spcPts val="0"/>
              </a:spcAft>
              <a:buClr>
                <a:srgbClr val="0A1522"/>
              </a:buClr>
              <a:buSzPts val="1800"/>
              <a:buFont typeface="Arial"/>
              <a:buNone/>
            </a:pPr>
            <a:r>
              <a:rPr b="1" i="0" lang="en-US" sz="1800" u="none" cap="none" strike="noStrike">
                <a:solidFill>
                  <a:srgbClr val="0A1522"/>
                </a:solidFill>
                <a:latin typeface="Arial"/>
                <a:ea typeface="Arial"/>
                <a:cs typeface="Arial"/>
                <a:sym typeface="Arial"/>
              </a:rPr>
              <a:t>Every exchange is manual — </a:t>
            </a:r>
            <a:r>
              <a:rPr b="0" i="0" lang="en-US" sz="1800" u="none" cap="none" strike="noStrike">
                <a:solidFill>
                  <a:srgbClr val="0A1522"/>
                </a:solidFill>
                <a:latin typeface="Arial"/>
                <a:ea typeface="Arial"/>
                <a:cs typeface="Arial"/>
                <a:sym typeface="Arial"/>
              </a:rPr>
              <a:t>experimental design · raw data · model assumptions · analysis output</a:t>
            </a:r>
            <a:endParaRPr b="0" i="0" sz="1800" u="none" cap="none" strike="noStrike">
              <a:solidFill>
                <a:schemeClr val="dk1"/>
              </a:solidFill>
              <a:latin typeface="Calibri"/>
              <a:ea typeface="Calibri"/>
              <a:cs typeface="Calibri"/>
              <a:sym typeface="Calibri"/>
            </a:endParaRPr>
          </a:p>
        </p:txBody>
      </p:sp>
      <p:pic>
        <p:nvPicPr>
          <p:cNvPr descr="preencoded.png" id="161" name="Google Shape;161;p7"/>
          <p:cNvPicPr preferRelativeResize="0"/>
          <p:nvPr/>
        </p:nvPicPr>
        <p:blipFill rotWithShape="1">
          <a:blip r:embed="rId9">
            <a:alphaModFix amt="72000"/>
          </a:blip>
          <a:srcRect b="0" l="0" r="0" t="0"/>
          <a:stretch/>
        </p:blipFill>
        <p:spPr>
          <a:xfrm>
            <a:off x="1047715" y="9772699"/>
            <a:ext cx="1317434" cy="38094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 name="Shape 166"/>
        <p:cNvGrpSpPr/>
        <p:nvPr/>
      </p:nvGrpSpPr>
      <p:grpSpPr>
        <a:xfrm>
          <a:off x="0" y="0"/>
          <a:ext cx="0" cy="0"/>
          <a:chOff x="0" y="0"/>
          <a:chExt cx="0" cy="0"/>
        </a:xfrm>
      </p:grpSpPr>
      <p:sp>
        <p:nvSpPr>
          <p:cNvPr id="167" name="Google Shape;167;p8"/>
          <p:cNvSpPr/>
          <p:nvPr/>
        </p:nvSpPr>
        <p:spPr>
          <a:xfrm>
            <a:off x="1047715" y="628647"/>
            <a:ext cx="17779745" cy="335321"/>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THE TRELLIS RESOLUTION</a:t>
            </a:r>
            <a:endParaRPr b="0" i="0" sz="1800" u="none" cap="none" strike="noStrike">
              <a:solidFill>
                <a:schemeClr val="dk1"/>
              </a:solidFill>
              <a:latin typeface="Calibri"/>
              <a:ea typeface="Calibri"/>
              <a:cs typeface="Calibri"/>
              <a:sym typeface="Calibri"/>
            </a:endParaRPr>
          </a:p>
        </p:txBody>
      </p:sp>
      <p:sp>
        <p:nvSpPr>
          <p:cNvPr id="168" name="Google Shape;168;p8"/>
          <p:cNvSpPr/>
          <p:nvPr/>
        </p:nvSpPr>
        <p:spPr>
          <a:xfrm>
            <a:off x="1047715" y="1097237"/>
            <a:ext cx="16678274" cy="1072064"/>
          </a:xfrm>
          <a:prstGeom prst="rect">
            <a:avLst/>
          </a:prstGeom>
          <a:noFill/>
          <a:ln>
            <a:noFill/>
          </a:ln>
        </p:spPr>
        <p:txBody>
          <a:bodyPr anchorCtr="0" anchor="t" bIns="25400" lIns="25400" spcFirstLastPara="1" rIns="25400" wrap="square" tIns="25400">
            <a:normAutofit/>
          </a:bodyPr>
          <a:lstStyle/>
          <a:p>
            <a:pPr indent="0" lvl="0" marL="0" marR="0" rtl="0" algn="l">
              <a:lnSpc>
                <a:spcPct val="94000"/>
              </a:lnSpc>
              <a:spcBef>
                <a:spcPts val="0"/>
              </a:spcBef>
              <a:spcAft>
                <a:spcPts val="0"/>
              </a:spcAft>
              <a:buClr>
                <a:srgbClr val="0A1522"/>
              </a:buClr>
              <a:buSzPts val="3600"/>
              <a:buFont typeface="Georgia"/>
              <a:buNone/>
            </a:pPr>
            <a:r>
              <a:rPr b="0" i="0" lang="en-US" sz="3600" u="none" cap="none" strike="noStrike">
                <a:solidFill>
                  <a:srgbClr val="0A1522"/>
                </a:solidFill>
                <a:latin typeface="Georgia"/>
                <a:ea typeface="Georgia"/>
                <a:cs typeface="Georgia"/>
                <a:sym typeface="Georgia"/>
              </a:rPr>
              <a:t>Trellis </a:t>
            </a:r>
            <a:r>
              <a:rPr b="0" i="1" lang="en-US" sz="3600" u="none" cap="none" strike="noStrike">
                <a:solidFill>
                  <a:srgbClr val="38AFD8"/>
                </a:solidFill>
                <a:latin typeface="Georgia"/>
                <a:ea typeface="Georgia"/>
                <a:cs typeface="Georgia"/>
                <a:sym typeface="Georgia"/>
              </a:rPr>
              <a:t>keeps the scientist in control </a:t>
            </a:r>
            <a:r>
              <a:rPr b="0" i="0" lang="en-US" sz="3600" u="none" cap="none" strike="noStrike">
                <a:solidFill>
                  <a:srgbClr val="0A1522"/>
                </a:solidFill>
                <a:latin typeface="Georgia"/>
                <a:ea typeface="Georgia"/>
                <a:cs typeface="Georgia"/>
                <a:sym typeface="Georgia"/>
              </a:rPr>
              <a:t>while specialist agents execute the development loop</a:t>
            </a:r>
            <a:endParaRPr b="0" i="0" sz="3600" u="none" cap="none" strike="noStrike">
              <a:solidFill>
                <a:schemeClr val="dk1"/>
              </a:solidFill>
              <a:latin typeface="Calibri"/>
              <a:ea typeface="Calibri"/>
              <a:cs typeface="Calibri"/>
              <a:sym typeface="Calibri"/>
            </a:endParaRPr>
          </a:p>
        </p:txBody>
      </p:sp>
      <p:sp>
        <p:nvSpPr>
          <p:cNvPr id="169" name="Google Shape;169;p8"/>
          <p:cNvSpPr/>
          <p:nvPr/>
        </p:nvSpPr>
        <p:spPr>
          <a:xfrm>
            <a:off x="1047715" y="4337252"/>
            <a:ext cx="27851" cy="1683760"/>
          </a:xfrm>
          <a:prstGeom prst="rect">
            <a:avLst/>
          </a:prstGeom>
          <a:solidFill>
            <a:srgbClr val="38A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8"/>
          <p:cNvSpPr/>
          <p:nvPr/>
        </p:nvSpPr>
        <p:spPr>
          <a:xfrm>
            <a:off x="1323178" y="4337252"/>
            <a:ext cx="4400473" cy="420962"/>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0A1522"/>
              </a:buClr>
              <a:buSzPts val="2250"/>
              <a:buFont typeface="Arial"/>
              <a:buNone/>
            </a:pPr>
            <a:r>
              <a:rPr b="0" i="0" lang="en-US" sz="2250" u="none" cap="none" strike="noStrike">
                <a:solidFill>
                  <a:srgbClr val="0A1522"/>
                </a:solidFill>
                <a:latin typeface="Arial"/>
                <a:ea typeface="Arial"/>
                <a:cs typeface="Arial"/>
                <a:sym typeface="Arial"/>
              </a:rPr>
              <a:t>AI orchestrates the workflow.</a:t>
            </a:r>
            <a:endParaRPr b="0" i="0" sz="2250" u="none" cap="none" strike="noStrike">
              <a:solidFill>
                <a:schemeClr val="dk1"/>
              </a:solidFill>
              <a:latin typeface="Calibri"/>
              <a:ea typeface="Calibri"/>
              <a:cs typeface="Calibri"/>
              <a:sym typeface="Calibri"/>
            </a:endParaRPr>
          </a:p>
        </p:txBody>
      </p:sp>
      <p:sp>
        <p:nvSpPr>
          <p:cNvPr id="171" name="Google Shape;171;p8"/>
          <p:cNvSpPr/>
          <p:nvPr/>
        </p:nvSpPr>
        <p:spPr>
          <a:xfrm>
            <a:off x="1323178" y="4796269"/>
            <a:ext cx="4400473" cy="420962"/>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0A1522"/>
              </a:buClr>
              <a:buSzPts val="2250"/>
              <a:buFont typeface="Arial"/>
              <a:buNone/>
            </a:pPr>
            <a:r>
              <a:rPr b="0" i="0" lang="en-US" sz="2250" u="none" cap="none" strike="noStrike">
                <a:solidFill>
                  <a:srgbClr val="0A1522"/>
                </a:solidFill>
                <a:latin typeface="Arial"/>
                <a:ea typeface="Arial"/>
                <a:cs typeface="Arial"/>
                <a:sym typeface="Arial"/>
              </a:rPr>
              <a:t>Scientific tools perform the work.</a:t>
            </a:r>
            <a:endParaRPr b="0" i="0" sz="2250" u="none" cap="none" strike="noStrike">
              <a:solidFill>
                <a:schemeClr val="dk1"/>
              </a:solidFill>
              <a:latin typeface="Calibri"/>
              <a:ea typeface="Calibri"/>
              <a:cs typeface="Calibri"/>
              <a:sym typeface="Calibri"/>
            </a:endParaRPr>
          </a:p>
        </p:txBody>
      </p:sp>
      <p:sp>
        <p:nvSpPr>
          <p:cNvPr id="172" name="Google Shape;172;p8"/>
          <p:cNvSpPr/>
          <p:nvPr/>
        </p:nvSpPr>
        <p:spPr>
          <a:xfrm>
            <a:off x="1323178" y="5255286"/>
            <a:ext cx="4120443" cy="803825"/>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38AFD8"/>
              </a:buClr>
              <a:buSzPts val="2250"/>
              <a:buFont typeface="Arial"/>
              <a:buNone/>
            </a:pPr>
            <a:r>
              <a:rPr b="1" i="0" lang="en-US" sz="2250" u="none" cap="none" strike="noStrike">
                <a:solidFill>
                  <a:srgbClr val="38AFD8"/>
                </a:solidFill>
                <a:latin typeface="Arial"/>
                <a:ea typeface="Arial"/>
                <a:cs typeface="Arial"/>
                <a:sym typeface="Arial"/>
              </a:rPr>
              <a:t>The scientist remains in control.</a:t>
            </a:r>
            <a:endParaRPr b="0" i="0" sz="2250" u="none" cap="none" strike="noStrike">
              <a:solidFill>
                <a:schemeClr val="dk1"/>
              </a:solidFill>
              <a:latin typeface="Calibri"/>
              <a:ea typeface="Calibri"/>
              <a:cs typeface="Calibri"/>
              <a:sym typeface="Calibri"/>
            </a:endParaRPr>
          </a:p>
        </p:txBody>
      </p:sp>
      <p:pic>
        <p:nvPicPr>
          <p:cNvPr descr="preencoded.png" id="173" name="Google Shape;173;p8"/>
          <p:cNvPicPr preferRelativeResize="0"/>
          <p:nvPr/>
        </p:nvPicPr>
        <p:blipFill rotWithShape="1">
          <a:blip r:embed="rId3">
            <a:alphaModFix/>
          </a:blip>
          <a:srcRect b="0" l="0" r="0" t="0"/>
          <a:stretch/>
        </p:blipFill>
        <p:spPr>
          <a:xfrm>
            <a:off x="5666435" y="2131201"/>
            <a:ext cx="11620430" cy="6095948"/>
          </a:xfrm>
          <a:prstGeom prst="rect">
            <a:avLst/>
          </a:prstGeom>
          <a:noFill/>
          <a:ln>
            <a:noFill/>
          </a:ln>
        </p:spPr>
      </p:pic>
      <p:sp>
        <p:nvSpPr>
          <p:cNvPr id="174" name="Google Shape;174;p8"/>
          <p:cNvSpPr/>
          <p:nvPr/>
        </p:nvSpPr>
        <p:spPr>
          <a:xfrm>
            <a:off x="9743107" y="2188295"/>
            <a:ext cx="3467086" cy="1181051"/>
          </a:xfrm>
          <a:prstGeom prst="roundRect">
            <a:avLst>
              <a:gd fmla="val 12904" name="adj"/>
            </a:avLst>
          </a:prstGeom>
          <a:solidFill>
            <a:srgbClr val="FFFFFF"/>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p:nvPr/>
        </p:nvSpPr>
        <p:spPr>
          <a:xfrm>
            <a:off x="9958168" y="2502575"/>
            <a:ext cx="552405" cy="552405"/>
          </a:xfrm>
          <a:prstGeom prst="ellipse">
            <a:avLst/>
          </a:prstGeom>
          <a:solidFill>
            <a:srgbClr val="38AFD8">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6" name="Google Shape;176;p8"/>
          <p:cNvPicPr preferRelativeResize="0"/>
          <p:nvPr/>
        </p:nvPicPr>
        <p:blipFill rotWithShape="1">
          <a:blip r:embed="rId4">
            <a:alphaModFix/>
          </a:blip>
          <a:srcRect b="0" l="0" r="0" t="0"/>
          <a:stretch/>
        </p:blipFill>
        <p:spPr>
          <a:xfrm>
            <a:off x="10081930" y="2626338"/>
            <a:ext cx="304793" cy="304793"/>
          </a:xfrm>
          <a:prstGeom prst="rect">
            <a:avLst/>
          </a:prstGeom>
          <a:noFill/>
          <a:ln>
            <a:noFill/>
          </a:ln>
        </p:spPr>
      </p:pic>
      <p:sp>
        <p:nvSpPr>
          <p:cNvPr id="177" name="Google Shape;177;p8"/>
          <p:cNvSpPr/>
          <p:nvPr/>
        </p:nvSpPr>
        <p:spPr>
          <a:xfrm>
            <a:off x="10662969" y="2309510"/>
            <a:ext cx="2376300" cy="550200"/>
          </a:xfrm>
          <a:prstGeom prst="rect">
            <a:avLst/>
          </a:prstGeom>
          <a:noFill/>
          <a:ln>
            <a:noFill/>
          </a:ln>
        </p:spPr>
        <p:txBody>
          <a:bodyPr anchorCtr="0" anchor="t" bIns="25400" lIns="25400" spcFirstLastPara="1" rIns="25400" wrap="square" tIns="25400">
            <a:normAutofit/>
          </a:bodyPr>
          <a:lstStyle/>
          <a:p>
            <a:pPr indent="0" lvl="0" marL="0" marR="0" rtl="0" algn="l">
              <a:lnSpc>
                <a:spcPct val="98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DOE AGENT</a:t>
            </a:r>
            <a:endParaRPr b="0" i="0" sz="1800" u="none" cap="none" strike="noStrike">
              <a:solidFill>
                <a:schemeClr val="dk1"/>
              </a:solidFill>
              <a:latin typeface="Calibri"/>
              <a:ea typeface="Calibri"/>
              <a:cs typeface="Calibri"/>
              <a:sym typeface="Calibri"/>
            </a:endParaRPr>
          </a:p>
        </p:txBody>
      </p:sp>
      <p:sp>
        <p:nvSpPr>
          <p:cNvPr id="178" name="Google Shape;178;p8"/>
          <p:cNvSpPr/>
          <p:nvPr/>
        </p:nvSpPr>
        <p:spPr>
          <a:xfrm>
            <a:off x="10662976" y="2657074"/>
            <a:ext cx="2565300" cy="666600"/>
          </a:xfrm>
          <a:prstGeom prst="rect">
            <a:avLst/>
          </a:prstGeom>
          <a:noFill/>
          <a:ln>
            <a:noFill/>
          </a:ln>
        </p:spPr>
        <p:txBody>
          <a:bodyPr anchorCtr="0" anchor="t" bIns="25400" lIns="25400" spcFirstLastPara="1" rIns="25400" wrap="square" tIns="25400">
            <a:normAutofit/>
          </a:bodyPr>
          <a:lstStyle/>
          <a:p>
            <a:pPr indent="0" lvl="0" marL="0" marR="0" rtl="0" algn="l">
              <a:lnSpc>
                <a:spcPct val="101000"/>
              </a:lnSpc>
              <a:spcBef>
                <a:spcPts val="0"/>
              </a:spcBef>
              <a:spcAft>
                <a:spcPts val="0"/>
              </a:spcAft>
              <a:buClr>
                <a:srgbClr val="0A1522"/>
              </a:buClr>
              <a:buSzPts val="2100"/>
              <a:buFont typeface="Arial"/>
              <a:buNone/>
            </a:pPr>
            <a:r>
              <a:rPr b="1" i="0" lang="en-US" sz="2100" u="none" cap="none" strike="noStrike">
                <a:solidFill>
                  <a:srgbClr val="0A1522"/>
                </a:solidFill>
                <a:latin typeface="Arial"/>
                <a:ea typeface="Arial"/>
                <a:cs typeface="Arial"/>
                <a:sym typeface="Arial"/>
              </a:rPr>
              <a:t>Design experiments</a:t>
            </a:r>
            <a:endParaRPr b="0" i="0" sz="2100" u="none" cap="none" strike="noStrike">
              <a:solidFill>
                <a:schemeClr val="dk1"/>
              </a:solidFill>
              <a:latin typeface="Calibri"/>
              <a:ea typeface="Calibri"/>
              <a:cs typeface="Calibri"/>
              <a:sym typeface="Calibri"/>
            </a:endParaRPr>
          </a:p>
        </p:txBody>
      </p:sp>
      <p:sp>
        <p:nvSpPr>
          <p:cNvPr id="179" name="Google Shape;179;p8"/>
          <p:cNvSpPr/>
          <p:nvPr/>
        </p:nvSpPr>
        <p:spPr>
          <a:xfrm>
            <a:off x="13637878" y="3979020"/>
            <a:ext cx="3467086" cy="1181051"/>
          </a:xfrm>
          <a:prstGeom prst="roundRect">
            <a:avLst>
              <a:gd fmla="val 12904" name="adj"/>
            </a:avLst>
          </a:prstGeom>
          <a:solidFill>
            <a:srgbClr val="FFFFFF"/>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p:nvPr/>
        </p:nvSpPr>
        <p:spPr>
          <a:xfrm>
            <a:off x="13852938" y="4293300"/>
            <a:ext cx="552405" cy="552405"/>
          </a:xfrm>
          <a:prstGeom prst="ellipse">
            <a:avLst/>
          </a:prstGeom>
          <a:solidFill>
            <a:srgbClr val="38AFD8">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1" name="Google Shape;181;p8"/>
          <p:cNvPicPr preferRelativeResize="0"/>
          <p:nvPr/>
        </p:nvPicPr>
        <p:blipFill rotWithShape="1">
          <a:blip r:embed="rId5">
            <a:alphaModFix/>
          </a:blip>
          <a:srcRect b="0" l="0" r="0" t="0"/>
          <a:stretch/>
        </p:blipFill>
        <p:spPr>
          <a:xfrm>
            <a:off x="13976702" y="4417062"/>
            <a:ext cx="304793" cy="304793"/>
          </a:xfrm>
          <a:prstGeom prst="rect">
            <a:avLst/>
          </a:prstGeom>
          <a:noFill/>
          <a:ln>
            <a:noFill/>
          </a:ln>
        </p:spPr>
      </p:pic>
      <p:sp>
        <p:nvSpPr>
          <p:cNvPr id="182" name="Google Shape;182;p8"/>
          <p:cNvSpPr/>
          <p:nvPr/>
        </p:nvSpPr>
        <p:spPr>
          <a:xfrm>
            <a:off x="14557740" y="4082545"/>
            <a:ext cx="2498700" cy="294300"/>
          </a:xfrm>
          <a:prstGeom prst="rect">
            <a:avLst/>
          </a:prstGeom>
          <a:noFill/>
          <a:ln>
            <a:noFill/>
          </a:ln>
        </p:spPr>
        <p:txBody>
          <a:bodyPr anchorCtr="0" anchor="t" bIns="25400" lIns="25400" spcFirstLastPara="1" rIns="25400" wrap="square" tIns="25400">
            <a:normAutofit/>
          </a:bodyPr>
          <a:lstStyle/>
          <a:p>
            <a:pPr indent="0" lvl="0" marL="0" marR="0" rtl="0" algn="l">
              <a:lnSpc>
                <a:spcPct val="98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PROTOCOL AGENT</a:t>
            </a:r>
            <a:endParaRPr b="0" i="0" sz="1800" u="none" cap="none" strike="noStrike">
              <a:solidFill>
                <a:schemeClr val="dk1"/>
              </a:solidFill>
              <a:latin typeface="Calibri"/>
              <a:ea typeface="Calibri"/>
              <a:cs typeface="Calibri"/>
              <a:sym typeface="Calibri"/>
            </a:endParaRPr>
          </a:p>
        </p:txBody>
      </p:sp>
      <p:sp>
        <p:nvSpPr>
          <p:cNvPr id="183" name="Google Shape;183;p8"/>
          <p:cNvSpPr/>
          <p:nvPr/>
        </p:nvSpPr>
        <p:spPr>
          <a:xfrm>
            <a:off x="14557740" y="4446852"/>
            <a:ext cx="2530800" cy="347400"/>
          </a:xfrm>
          <a:prstGeom prst="rect">
            <a:avLst/>
          </a:prstGeom>
          <a:noFill/>
          <a:ln>
            <a:noFill/>
          </a:ln>
        </p:spPr>
        <p:txBody>
          <a:bodyPr anchorCtr="0" anchor="t" bIns="25400" lIns="25400" spcFirstLastPara="1" rIns="25400" wrap="square" tIns="25400">
            <a:normAutofit/>
          </a:bodyPr>
          <a:lstStyle/>
          <a:p>
            <a:pPr indent="0" lvl="0" marL="0" marR="0" rtl="0" algn="l">
              <a:lnSpc>
                <a:spcPct val="101000"/>
              </a:lnSpc>
              <a:spcBef>
                <a:spcPts val="0"/>
              </a:spcBef>
              <a:spcAft>
                <a:spcPts val="0"/>
              </a:spcAft>
              <a:buClr>
                <a:srgbClr val="0A1522"/>
              </a:buClr>
              <a:buSzPts val="2100"/>
              <a:buFont typeface="Arial"/>
              <a:buNone/>
            </a:pPr>
            <a:r>
              <a:rPr b="1" i="0" lang="en-US" sz="2100" u="none" cap="none" strike="noStrike">
                <a:solidFill>
                  <a:srgbClr val="0A1522"/>
                </a:solidFill>
                <a:latin typeface="Arial"/>
                <a:ea typeface="Arial"/>
                <a:cs typeface="Arial"/>
                <a:sym typeface="Arial"/>
              </a:rPr>
              <a:t>Generate protocols</a:t>
            </a:r>
            <a:endParaRPr b="0" i="0" sz="2100" u="none" cap="none" strike="noStrike">
              <a:solidFill>
                <a:schemeClr val="dk1"/>
              </a:solidFill>
              <a:latin typeface="Calibri"/>
              <a:ea typeface="Calibri"/>
              <a:cs typeface="Calibri"/>
              <a:sym typeface="Calibri"/>
            </a:endParaRPr>
          </a:p>
        </p:txBody>
      </p:sp>
      <p:sp>
        <p:nvSpPr>
          <p:cNvPr id="184" name="Google Shape;184;p8"/>
          <p:cNvSpPr/>
          <p:nvPr/>
        </p:nvSpPr>
        <p:spPr>
          <a:xfrm>
            <a:off x="12150989" y="6874641"/>
            <a:ext cx="3467086" cy="1181051"/>
          </a:xfrm>
          <a:prstGeom prst="roundRect">
            <a:avLst>
              <a:gd fmla="val 12904" name="adj"/>
            </a:avLst>
          </a:prstGeom>
          <a:solidFill>
            <a:srgbClr val="FFFFFF"/>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p:nvPr/>
        </p:nvSpPr>
        <p:spPr>
          <a:xfrm>
            <a:off x="12366050" y="7188920"/>
            <a:ext cx="552405" cy="552405"/>
          </a:xfrm>
          <a:prstGeom prst="ellipse">
            <a:avLst/>
          </a:prstGeom>
          <a:solidFill>
            <a:srgbClr val="38AFD8">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6" name="Google Shape;186;p8"/>
          <p:cNvPicPr preferRelativeResize="0"/>
          <p:nvPr/>
        </p:nvPicPr>
        <p:blipFill rotWithShape="1">
          <a:blip r:embed="rId6">
            <a:alphaModFix/>
          </a:blip>
          <a:srcRect b="0" l="0" r="0" t="0"/>
          <a:stretch/>
        </p:blipFill>
        <p:spPr>
          <a:xfrm>
            <a:off x="12489812" y="7312683"/>
            <a:ext cx="304793" cy="304793"/>
          </a:xfrm>
          <a:prstGeom prst="rect">
            <a:avLst/>
          </a:prstGeom>
          <a:noFill/>
          <a:ln>
            <a:noFill/>
          </a:ln>
        </p:spPr>
      </p:pic>
      <p:sp>
        <p:nvSpPr>
          <p:cNvPr id="187" name="Google Shape;187;p8"/>
          <p:cNvSpPr/>
          <p:nvPr/>
        </p:nvSpPr>
        <p:spPr>
          <a:xfrm>
            <a:off x="13070851" y="6912153"/>
            <a:ext cx="2376359" cy="806262"/>
          </a:xfrm>
          <a:prstGeom prst="rect">
            <a:avLst/>
          </a:prstGeom>
          <a:noFill/>
          <a:ln>
            <a:noFill/>
          </a:ln>
        </p:spPr>
        <p:txBody>
          <a:bodyPr anchorCtr="0" anchor="t" bIns="25400" lIns="25400" spcFirstLastPara="1" rIns="25400" wrap="square" tIns="25400">
            <a:normAutofit/>
          </a:bodyPr>
          <a:lstStyle/>
          <a:p>
            <a:pPr indent="0" lvl="0" marL="0" marR="0" rtl="0" algn="l">
              <a:lnSpc>
                <a:spcPct val="98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DATA ENGINEERING AGENT</a:t>
            </a:r>
            <a:endParaRPr b="0" i="0" sz="1800" u="none" cap="none" strike="noStrike">
              <a:solidFill>
                <a:schemeClr val="dk1"/>
              </a:solidFill>
              <a:latin typeface="Calibri"/>
              <a:ea typeface="Calibri"/>
              <a:cs typeface="Calibri"/>
              <a:sym typeface="Calibri"/>
            </a:endParaRPr>
          </a:p>
        </p:txBody>
      </p:sp>
      <p:sp>
        <p:nvSpPr>
          <p:cNvPr id="188" name="Google Shape;188;p8"/>
          <p:cNvSpPr/>
          <p:nvPr/>
        </p:nvSpPr>
        <p:spPr>
          <a:xfrm>
            <a:off x="13070851" y="7570942"/>
            <a:ext cx="2565300" cy="347400"/>
          </a:xfrm>
          <a:prstGeom prst="rect">
            <a:avLst/>
          </a:prstGeom>
          <a:noFill/>
          <a:ln>
            <a:noFill/>
          </a:ln>
        </p:spPr>
        <p:txBody>
          <a:bodyPr anchorCtr="0" anchor="t" bIns="25400" lIns="25400" spcFirstLastPara="1" rIns="25400" wrap="square" tIns="25400">
            <a:normAutofit/>
          </a:bodyPr>
          <a:lstStyle/>
          <a:p>
            <a:pPr indent="0" lvl="0" marL="0" marR="0" rtl="0" algn="l">
              <a:lnSpc>
                <a:spcPct val="101000"/>
              </a:lnSpc>
              <a:spcBef>
                <a:spcPts val="0"/>
              </a:spcBef>
              <a:spcAft>
                <a:spcPts val="0"/>
              </a:spcAft>
              <a:buClr>
                <a:srgbClr val="0A1522"/>
              </a:buClr>
              <a:buSzPts val="2100"/>
              <a:buFont typeface="Arial"/>
              <a:buNone/>
            </a:pPr>
            <a:r>
              <a:rPr b="1" i="0" lang="en-US" sz="2100" u="none" cap="none" strike="noStrike">
                <a:solidFill>
                  <a:srgbClr val="0A1522"/>
                </a:solidFill>
                <a:latin typeface="Arial"/>
                <a:ea typeface="Arial"/>
                <a:cs typeface="Arial"/>
                <a:sym typeface="Arial"/>
              </a:rPr>
              <a:t>Structure the data</a:t>
            </a:r>
            <a:endParaRPr b="0" i="0" sz="2100" u="none" cap="none" strike="noStrike">
              <a:solidFill>
                <a:schemeClr val="dk1"/>
              </a:solidFill>
              <a:latin typeface="Calibri"/>
              <a:ea typeface="Calibri"/>
              <a:cs typeface="Calibri"/>
              <a:sym typeface="Calibri"/>
            </a:endParaRPr>
          </a:p>
        </p:txBody>
      </p:sp>
      <p:sp>
        <p:nvSpPr>
          <p:cNvPr id="189" name="Google Shape;189;p8"/>
          <p:cNvSpPr/>
          <p:nvPr/>
        </p:nvSpPr>
        <p:spPr>
          <a:xfrm>
            <a:off x="7335137" y="6874641"/>
            <a:ext cx="3467086" cy="1181051"/>
          </a:xfrm>
          <a:prstGeom prst="roundRect">
            <a:avLst>
              <a:gd fmla="val 12904" name="adj"/>
            </a:avLst>
          </a:prstGeom>
          <a:solidFill>
            <a:srgbClr val="FFFFFF"/>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p:nvPr/>
        </p:nvSpPr>
        <p:spPr>
          <a:xfrm>
            <a:off x="7550198" y="7188920"/>
            <a:ext cx="552405" cy="552405"/>
          </a:xfrm>
          <a:prstGeom prst="ellipse">
            <a:avLst/>
          </a:prstGeom>
          <a:solidFill>
            <a:srgbClr val="38AFD8">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1" name="Google Shape;191;p8"/>
          <p:cNvPicPr preferRelativeResize="0"/>
          <p:nvPr/>
        </p:nvPicPr>
        <p:blipFill rotWithShape="1">
          <a:blip r:embed="rId7">
            <a:alphaModFix/>
          </a:blip>
          <a:srcRect b="0" l="0" r="0" t="0"/>
          <a:stretch/>
        </p:blipFill>
        <p:spPr>
          <a:xfrm>
            <a:off x="7673961" y="7312683"/>
            <a:ext cx="304793" cy="304793"/>
          </a:xfrm>
          <a:prstGeom prst="rect">
            <a:avLst/>
          </a:prstGeom>
          <a:noFill/>
          <a:ln>
            <a:noFill/>
          </a:ln>
        </p:spPr>
      </p:pic>
      <p:sp>
        <p:nvSpPr>
          <p:cNvPr id="192" name="Google Shape;192;p8"/>
          <p:cNvSpPr/>
          <p:nvPr/>
        </p:nvSpPr>
        <p:spPr>
          <a:xfrm>
            <a:off x="8255000" y="6912153"/>
            <a:ext cx="2376359" cy="806262"/>
          </a:xfrm>
          <a:prstGeom prst="rect">
            <a:avLst/>
          </a:prstGeom>
          <a:noFill/>
          <a:ln>
            <a:noFill/>
          </a:ln>
        </p:spPr>
        <p:txBody>
          <a:bodyPr anchorCtr="0" anchor="t" bIns="25400" lIns="25400" spcFirstLastPara="1" rIns="25400" wrap="square" tIns="25400">
            <a:normAutofit/>
          </a:bodyPr>
          <a:lstStyle/>
          <a:p>
            <a:pPr indent="0" lvl="0" marL="0" marR="0" rtl="0" algn="l">
              <a:lnSpc>
                <a:spcPct val="98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BIOPROCESS MODELLING AGENT</a:t>
            </a:r>
            <a:endParaRPr b="0" i="0" sz="1800" u="none" cap="none" strike="noStrike">
              <a:solidFill>
                <a:schemeClr val="dk1"/>
              </a:solidFill>
              <a:latin typeface="Calibri"/>
              <a:ea typeface="Calibri"/>
              <a:cs typeface="Calibri"/>
              <a:sym typeface="Calibri"/>
            </a:endParaRPr>
          </a:p>
        </p:txBody>
      </p:sp>
      <p:sp>
        <p:nvSpPr>
          <p:cNvPr id="193" name="Google Shape;193;p8"/>
          <p:cNvSpPr/>
          <p:nvPr/>
        </p:nvSpPr>
        <p:spPr>
          <a:xfrm>
            <a:off x="8255000" y="7570942"/>
            <a:ext cx="2565300" cy="347400"/>
          </a:xfrm>
          <a:prstGeom prst="rect">
            <a:avLst/>
          </a:prstGeom>
          <a:noFill/>
          <a:ln>
            <a:noFill/>
          </a:ln>
        </p:spPr>
        <p:txBody>
          <a:bodyPr anchorCtr="0" anchor="t" bIns="25400" lIns="25400" spcFirstLastPara="1" rIns="25400" wrap="square" tIns="25400">
            <a:normAutofit/>
          </a:bodyPr>
          <a:lstStyle/>
          <a:p>
            <a:pPr indent="0" lvl="0" marL="0" marR="0" rtl="0" algn="l">
              <a:lnSpc>
                <a:spcPct val="101000"/>
              </a:lnSpc>
              <a:spcBef>
                <a:spcPts val="0"/>
              </a:spcBef>
              <a:spcAft>
                <a:spcPts val="0"/>
              </a:spcAft>
              <a:buClr>
                <a:srgbClr val="0A1522"/>
              </a:buClr>
              <a:buSzPts val="2100"/>
              <a:buFont typeface="Arial"/>
              <a:buNone/>
            </a:pPr>
            <a:r>
              <a:rPr b="1" i="0" lang="en-US" sz="2100" u="none" cap="none" strike="noStrike">
                <a:solidFill>
                  <a:srgbClr val="0A1522"/>
                </a:solidFill>
                <a:latin typeface="Arial"/>
                <a:ea typeface="Arial"/>
                <a:cs typeface="Arial"/>
                <a:sym typeface="Arial"/>
              </a:rPr>
              <a:t>Build models</a:t>
            </a:r>
            <a:endParaRPr b="0" i="0" sz="2100" u="none" cap="none" strike="noStrike">
              <a:solidFill>
                <a:schemeClr val="dk1"/>
              </a:solidFill>
              <a:latin typeface="Calibri"/>
              <a:ea typeface="Calibri"/>
              <a:cs typeface="Calibri"/>
              <a:sym typeface="Calibri"/>
            </a:endParaRPr>
          </a:p>
        </p:txBody>
      </p:sp>
      <p:sp>
        <p:nvSpPr>
          <p:cNvPr id="194" name="Google Shape;194;p8"/>
          <p:cNvSpPr/>
          <p:nvPr/>
        </p:nvSpPr>
        <p:spPr>
          <a:xfrm>
            <a:off x="5848336" y="3979020"/>
            <a:ext cx="3467086" cy="1181051"/>
          </a:xfrm>
          <a:prstGeom prst="roundRect">
            <a:avLst>
              <a:gd fmla="val 12904" name="adj"/>
            </a:avLst>
          </a:prstGeom>
          <a:solidFill>
            <a:srgbClr val="FFFFFF"/>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
          <p:cNvSpPr/>
          <p:nvPr/>
        </p:nvSpPr>
        <p:spPr>
          <a:xfrm>
            <a:off x="6063397" y="4293300"/>
            <a:ext cx="552405" cy="552405"/>
          </a:xfrm>
          <a:prstGeom prst="ellipse">
            <a:avLst/>
          </a:prstGeom>
          <a:solidFill>
            <a:srgbClr val="38AFD8">
              <a:alpha val="1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6" name="Google Shape;196;p8"/>
          <p:cNvPicPr preferRelativeResize="0"/>
          <p:nvPr/>
        </p:nvPicPr>
        <p:blipFill rotWithShape="1">
          <a:blip r:embed="rId8">
            <a:alphaModFix/>
          </a:blip>
          <a:srcRect b="0" l="0" r="0" t="0"/>
          <a:stretch/>
        </p:blipFill>
        <p:spPr>
          <a:xfrm>
            <a:off x="6187159" y="4417062"/>
            <a:ext cx="304793" cy="304793"/>
          </a:xfrm>
          <a:prstGeom prst="rect">
            <a:avLst/>
          </a:prstGeom>
          <a:noFill/>
          <a:ln>
            <a:noFill/>
          </a:ln>
        </p:spPr>
      </p:pic>
      <p:sp>
        <p:nvSpPr>
          <p:cNvPr id="197" name="Google Shape;197;p8"/>
          <p:cNvSpPr/>
          <p:nvPr/>
        </p:nvSpPr>
        <p:spPr>
          <a:xfrm>
            <a:off x="6768200" y="4082545"/>
            <a:ext cx="2565300" cy="806400"/>
          </a:xfrm>
          <a:prstGeom prst="rect">
            <a:avLst/>
          </a:prstGeom>
          <a:noFill/>
          <a:ln>
            <a:noFill/>
          </a:ln>
        </p:spPr>
        <p:txBody>
          <a:bodyPr anchorCtr="0" anchor="t" bIns="25400" lIns="25400" spcFirstLastPara="1" rIns="25400" wrap="square" tIns="25400">
            <a:normAutofit/>
          </a:bodyPr>
          <a:lstStyle/>
          <a:p>
            <a:pPr indent="0" lvl="0" marL="0" marR="0" rtl="0" algn="l">
              <a:lnSpc>
                <a:spcPct val="98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OPTIMIZATION AGENT</a:t>
            </a:r>
            <a:endParaRPr b="0" i="0" sz="1800" u="none" cap="none" strike="noStrike">
              <a:solidFill>
                <a:schemeClr val="dk1"/>
              </a:solidFill>
              <a:latin typeface="Calibri"/>
              <a:ea typeface="Calibri"/>
              <a:cs typeface="Calibri"/>
              <a:sym typeface="Calibri"/>
            </a:endParaRPr>
          </a:p>
        </p:txBody>
      </p:sp>
      <p:sp>
        <p:nvSpPr>
          <p:cNvPr id="198" name="Google Shape;198;p8"/>
          <p:cNvSpPr/>
          <p:nvPr/>
        </p:nvSpPr>
        <p:spPr>
          <a:xfrm>
            <a:off x="6768198" y="4446852"/>
            <a:ext cx="2408400" cy="656700"/>
          </a:xfrm>
          <a:prstGeom prst="rect">
            <a:avLst/>
          </a:prstGeom>
          <a:noFill/>
          <a:ln>
            <a:noFill/>
          </a:ln>
        </p:spPr>
        <p:txBody>
          <a:bodyPr anchorCtr="0" anchor="t" bIns="25400" lIns="25400" spcFirstLastPara="1" rIns="25400" wrap="square" tIns="25400">
            <a:normAutofit/>
          </a:bodyPr>
          <a:lstStyle/>
          <a:p>
            <a:pPr indent="0" lvl="0" marL="0" marR="0" rtl="0" algn="l">
              <a:lnSpc>
                <a:spcPct val="101000"/>
              </a:lnSpc>
              <a:spcBef>
                <a:spcPts val="0"/>
              </a:spcBef>
              <a:spcAft>
                <a:spcPts val="0"/>
              </a:spcAft>
              <a:buClr>
                <a:srgbClr val="0A1522"/>
              </a:buClr>
              <a:buSzPts val="2100"/>
              <a:buFont typeface="Arial"/>
              <a:buNone/>
            </a:pPr>
            <a:r>
              <a:rPr b="1" i="0" lang="en-US" sz="2100" u="none" cap="none" strike="noStrike">
                <a:solidFill>
                  <a:srgbClr val="0A1522"/>
                </a:solidFill>
                <a:latin typeface="Arial"/>
                <a:ea typeface="Arial"/>
                <a:cs typeface="Arial"/>
                <a:sym typeface="Arial"/>
              </a:rPr>
              <a:t>Optimize &amp; select next ex</a:t>
            </a:r>
            <a:r>
              <a:rPr b="1" lang="en-US" sz="2100">
                <a:solidFill>
                  <a:srgbClr val="0A1522"/>
                </a:solidFill>
              </a:rPr>
              <a:t>periment</a:t>
            </a:r>
            <a:endParaRPr b="0" i="0" sz="2100" u="none" cap="none" strike="noStrike">
              <a:solidFill>
                <a:schemeClr val="dk1"/>
              </a:solidFill>
              <a:latin typeface="Calibri"/>
              <a:ea typeface="Calibri"/>
              <a:cs typeface="Calibri"/>
              <a:sym typeface="Calibri"/>
            </a:endParaRPr>
          </a:p>
        </p:txBody>
      </p:sp>
      <p:sp>
        <p:nvSpPr>
          <p:cNvPr id="199" name="Google Shape;199;p8"/>
          <p:cNvSpPr/>
          <p:nvPr/>
        </p:nvSpPr>
        <p:spPr>
          <a:xfrm>
            <a:off x="10000292" y="3893291"/>
            <a:ext cx="2952715" cy="2952715"/>
          </a:xfrm>
          <a:prstGeom prst="ellipse">
            <a:avLst/>
          </a:prstGeom>
          <a:solidFill>
            <a:srgbClr val="0A1522"/>
          </a:solidFill>
          <a:ln>
            <a:noFill/>
          </a:ln>
          <a:effectLst>
            <a:outerShdw blurRad="101600" rotWithShape="0" algn="bl" dir="16200000" dist="50800">
              <a:srgbClr val="38AFD8">
                <a:alpha val="10196"/>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
          <p:cNvSpPr/>
          <p:nvPr/>
        </p:nvSpPr>
        <p:spPr>
          <a:xfrm>
            <a:off x="10359415" y="5062071"/>
            <a:ext cx="2194377" cy="700951"/>
          </a:xfrm>
          <a:prstGeom prst="rect">
            <a:avLst/>
          </a:prstGeom>
          <a:noFill/>
          <a:ln>
            <a:noFill/>
          </a:ln>
        </p:spPr>
        <p:txBody>
          <a:bodyPr anchorCtr="0" anchor="t" bIns="25400" lIns="25400" spcFirstLastPara="1" rIns="25400" wrap="square" tIns="25400">
            <a:normAutofit/>
          </a:bodyPr>
          <a:lstStyle/>
          <a:p>
            <a:pPr indent="0" lvl="0" marL="0" marR="0" rtl="0" algn="ctr">
              <a:lnSpc>
                <a:spcPct val="101000"/>
              </a:lnSpc>
              <a:spcBef>
                <a:spcPts val="0"/>
              </a:spcBef>
              <a:spcAft>
                <a:spcPts val="0"/>
              </a:spcAft>
              <a:buClr>
                <a:srgbClr val="FFFFFF"/>
              </a:buClr>
              <a:buSzPts val="2250"/>
              <a:buFont typeface="Arial"/>
              <a:buNone/>
            </a:pPr>
            <a:r>
              <a:rPr b="1" i="0" lang="en-US" sz="2250" u="none" cap="none" strike="noStrike">
                <a:solidFill>
                  <a:srgbClr val="FFFFFF"/>
                </a:solidFill>
                <a:latin typeface="Arial"/>
                <a:ea typeface="Arial"/>
                <a:cs typeface="Arial"/>
                <a:sym typeface="Arial"/>
              </a:rPr>
              <a:t>BIOPROCESS SCIENTIST</a:t>
            </a:r>
            <a:endParaRPr b="0" i="0" sz="2250" u="none" cap="none" strike="noStrike">
              <a:solidFill>
                <a:schemeClr val="dk1"/>
              </a:solidFill>
              <a:latin typeface="Calibri"/>
              <a:ea typeface="Calibri"/>
              <a:cs typeface="Calibri"/>
              <a:sym typeface="Calibri"/>
            </a:endParaRPr>
          </a:p>
        </p:txBody>
      </p:sp>
      <p:sp>
        <p:nvSpPr>
          <p:cNvPr id="201" name="Google Shape;201;p8"/>
          <p:cNvSpPr/>
          <p:nvPr/>
        </p:nvSpPr>
        <p:spPr>
          <a:xfrm>
            <a:off x="10314593" y="5820137"/>
            <a:ext cx="2324027" cy="657086"/>
          </a:xfrm>
          <a:prstGeom prst="rect">
            <a:avLst/>
          </a:prstGeom>
          <a:noFill/>
          <a:ln>
            <a:noFill/>
          </a:ln>
        </p:spPr>
        <p:txBody>
          <a:bodyPr anchorCtr="0" anchor="t" bIns="25400" lIns="25400" spcFirstLastPara="1" rIns="25400" wrap="square" tIns="25400">
            <a:normAutofit/>
          </a:bodyPr>
          <a:lstStyle/>
          <a:p>
            <a:pPr indent="0" lvl="0" marL="0" marR="0" rtl="0" algn="ctr">
              <a:lnSpc>
                <a:spcPct val="111000"/>
              </a:lnSpc>
              <a:spcBef>
                <a:spcPts val="0"/>
              </a:spcBef>
              <a:spcAft>
                <a:spcPts val="0"/>
              </a:spcAft>
              <a:buClr>
                <a:srgbClr val="38AFD8"/>
              </a:buClr>
              <a:buSzPts val="1950"/>
              <a:buFont typeface="Arial"/>
              <a:buNone/>
            </a:pPr>
            <a:r>
              <a:rPr b="0" i="0" lang="en-US" sz="1950" u="none" cap="none" strike="noStrike">
                <a:solidFill>
                  <a:srgbClr val="38AFD8"/>
                </a:solidFill>
                <a:latin typeface="Arial"/>
                <a:ea typeface="Arial"/>
                <a:cs typeface="Arial"/>
                <a:sym typeface="Arial"/>
              </a:rPr>
              <a:t>defines · reviews · decides</a:t>
            </a:r>
            <a:endParaRPr b="0" i="0" sz="1950" u="none" cap="none" strike="noStrike">
              <a:solidFill>
                <a:schemeClr val="dk1"/>
              </a:solidFill>
              <a:latin typeface="Calibri"/>
              <a:ea typeface="Calibri"/>
              <a:cs typeface="Calibri"/>
              <a:sym typeface="Calibri"/>
            </a:endParaRPr>
          </a:p>
        </p:txBody>
      </p:sp>
      <p:sp>
        <p:nvSpPr>
          <p:cNvPr id="202" name="Google Shape;202;p8"/>
          <p:cNvSpPr/>
          <p:nvPr/>
        </p:nvSpPr>
        <p:spPr>
          <a:xfrm>
            <a:off x="0" y="8360475"/>
            <a:ext cx="18288000" cy="1181100"/>
          </a:xfrm>
          <a:prstGeom prst="rect">
            <a:avLst/>
          </a:prstGeom>
          <a:solidFill>
            <a:srgbClr val="38AFD8">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8"/>
          <p:cNvSpPr/>
          <p:nvPr/>
        </p:nvSpPr>
        <p:spPr>
          <a:xfrm>
            <a:off x="0" y="9542058"/>
            <a:ext cx="18287929" cy="9525"/>
          </a:xfrm>
          <a:prstGeom prst="rect">
            <a:avLst/>
          </a:prstGeom>
          <a:solidFill>
            <a:srgbClr val="38AFD8">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8"/>
          <p:cNvSpPr/>
          <p:nvPr/>
        </p:nvSpPr>
        <p:spPr>
          <a:xfrm>
            <a:off x="0" y="8360485"/>
            <a:ext cx="18287929" cy="9525"/>
          </a:xfrm>
          <a:prstGeom prst="rect">
            <a:avLst/>
          </a:prstGeom>
          <a:solidFill>
            <a:srgbClr val="38AFD8">
              <a:alpha val="3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8"/>
          <p:cNvSpPr/>
          <p:nvPr/>
        </p:nvSpPr>
        <p:spPr>
          <a:xfrm>
            <a:off x="1047715" y="8556485"/>
            <a:ext cx="8485027" cy="409474"/>
          </a:xfrm>
          <a:prstGeom prst="rect">
            <a:avLst/>
          </a:prstGeom>
          <a:noFill/>
          <a:ln>
            <a:noFill/>
          </a:ln>
        </p:spPr>
        <p:txBody>
          <a:bodyPr anchorCtr="0" anchor="t" bIns="25400" lIns="25400" spcFirstLastPara="1" rIns="25400" wrap="square" tIns="25400">
            <a:normAutofit/>
          </a:bodyPr>
          <a:lstStyle/>
          <a:p>
            <a:pPr indent="0" lvl="0" marL="0" marR="0" rtl="0" algn="l">
              <a:lnSpc>
                <a:spcPct val="113000"/>
              </a:lnSpc>
              <a:spcBef>
                <a:spcPts val="0"/>
              </a:spcBef>
              <a:spcAft>
                <a:spcPts val="0"/>
              </a:spcAft>
              <a:buClr>
                <a:srgbClr val="38AFD8"/>
              </a:buClr>
              <a:buSzPts val="2250"/>
              <a:buFont typeface="Arial"/>
              <a:buNone/>
            </a:pPr>
            <a:r>
              <a:rPr b="1" i="0" lang="en-US" sz="2250" u="none" cap="none" strike="noStrike">
                <a:solidFill>
                  <a:srgbClr val="38AFD8"/>
                </a:solidFill>
                <a:latin typeface="Arial"/>
                <a:ea typeface="Arial"/>
                <a:cs typeface="Arial"/>
                <a:sym typeface="Arial"/>
              </a:rPr>
              <a:t>ONE SHARED, VERSIONED PROCESS CONTEXT</a:t>
            </a:r>
            <a:endParaRPr b="0" i="0" sz="2250" u="none" cap="none" strike="noStrike">
              <a:solidFill>
                <a:schemeClr val="dk1"/>
              </a:solidFill>
              <a:latin typeface="Calibri"/>
              <a:ea typeface="Calibri"/>
              <a:cs typeface="Calibri"/>
              <a:sym typeface="Calibri"/>
            </a:endParaRPr>
          </a:p>
        </p:txBody>
      </p:sp>
      <p:sp>
        <p:nvSpPr>
          <p:cNvPr id="206" name="Google Shape;206;p8"/>
          <p:cNvSpPr/>
          <p:nvPr/>
        </p:nvSpPr>
        <p:spPr>
          <a:xfrm>
            <a:off x="1047715" y="9042135"/>
            <a:ext cx="2316300" cy="347700"/>
          </a:xfrm>
          <a:prstGeom prst="rect">
            <a:avLst/>
          </a:prstGeom>
          <a:noFill/>
          <a:ln>
            <a:noFill/>
          </a:ln>
        </p:spPr>
        <p:txBody>
          <a:bodyPr anchorCtr="0" anchor="t" bIns="25400" lIns="25400" spcFirstLastPara="1" rIns="25400" wrap="square" tIns="25400">
            <a:normAutofit/>
          </a:bodyPr>
          <a:lstStyle/>
          <a:p>
            <a:pPr indent="0" lvl="0" marL="0" marR="0" rtl="0" algn="l">
              <a:lnSpc>
                <a:spcPct val="111000"/>
              </a:lnSpc>
              <a:spcBef>
                <a:spcPts val="0"/>
              </a:spcBef>
              <a:spcAft>
                <a:spcPts val="0"/>
              </a:spcAft>
              <a:buClr>
                <a:srgbClr val="0A1522"/>
              </a:buClr>
              <a:buSzPts val="1950"/>
              <a:buFont typeface="Arial"/>
              <a:buNone/>
            </a:pPr>
            <a:r>
              <a:rPr b="0" i="0" lang="en-US" sz="1950" u="none" cap="none" strike="noStrike">
                <a:solidFill>
                  <a:srgbClr val="0A1522"/>
                </a:solidFill>
                <a:latin typeface="Arial"/>
                <a:ea typeface="Arial"/>
                <a:cs typeface="Arial"/>
                <a:sym typeface="Arial"/>
              </a:rPr>
              <a:t>Experimental design</a:t>
            </a:r>
            <a:endParaRPr b="0" i="0" sz="1950" u="none" cap="none" strike="noStrike">
              <a:solidFill>
                <a:schemeClr val="dk1"/>
              </a:solidFill>
              <a:latin typeface="Calibri"/>
              <a:ea typeface="Calibri"/>
              <a:cs typeface="Calibri"/>
              <a:sym typeface="Calibri"/>
            </a:endParaRPr>
          </a:p>
        </p:txBody>
      </p:sp>
      <p:sp>
        <p:nvSpPr>
          <p:cNvPr id="207" name="Google Shape;207;p8"/>
          <p:cNvSpPr/>
          <p:nvPr/>
        </p:nvSpPr>
        <p:spPr>
          <a:xfrm>
            <a:off x="3800834" y="9042125"/>
            <a:ext cx="1317300" cy="335400"/>
          </a:xfrm>
          <a:prstGeom prst="rect">
            <a:avLst/>
          </a:prstGeom>
          <a:noFill/>
          <a:ln>
            <a:noFill/>
          </a:ln>
        </p:spPr>
        <p:txBody>
          <a:bodyPr anchorCtr="0" anchor="t" bIns="25400" lIns="25400" spcFirstLastPara="1" rIns="25400" wrap="square" tIns="25400">
            <a:normAutofit/>
          </a:bodyPr>
          <a:lstStyle/>
          <a:p>
            <a:pPr indent="0" lvl="0" marL="0" marR="0" rtl="0" algn="l">
              <a:lnSpc>
                <a:spcPct val="111000"/>
              </a:lnSpc>
              <a:spcBef>
                <a:spcPts val="0"/>
              </a:spcBef>
              <a:spcAft>
                <a:spcPts val="0"/>
              </a:spcAft>
              <a:buClr>
                <a:srgbClr val="0A1522"/>
              </a:buClr>
              <a:buSzPts val="1950"/>
              <a:buFont typeface="Arial"/>
              <a:buNone/>
            </a:pPr>
            <a:r>
              <a:rPr b="0" i="0" lang="en-US" sz="1950" u="none" cap="none" strike="noStrike">
                <a:solidFill>
                  <a:srgbClr val="0A1522"/>
                </a:solidFill>
                <a:latin typeface="Arial"/>
                <a:ea typeface="Arial"/>
                <a:cs typeface="Arial"/>
                <a:sym typeface="Arial"/>
              </a:rPr>
              <a:t>Protocols</a:t>
            </a:r>
            <a:endParaRPr b="0" i="0" sz="1950" u="none" cap="none" strike="noStrike">
              <a:solidFill>
                <a:schemeClr val="dk1"/>
              </a:solidFill>
              <a:latin typeface="Calibri"/>
              <a:ea typeface="Calibri"/>
              <a:cs typeface="Calibri"/>
              <a:sym typeface="Calibri"/>
            </a:endParaRPr>
          </a:p>
        </p:txBody>
      </p:sp>
      <p:sp>
        <p:nvSpPr>
          <p:cNvPr id="208" name="Google Shape;208;p8"/>
          <p:cNvSpPr/>
          <p:nvPr/>
        </p:nvSpPr>
        <p:spPr>
          <a:xfrm>
            <a:off x="5554954" y="9042125"/>
            <a:ext cx="2952600" cy="335400"/>
          </a:xfrm>
          <a:prstGeom prst="rect">
            <a:avLst/>
          </a:prstGeom>
          <a:noFill/>
          <a:ln>
            <a:noFill/>
          </a:ln>
        </p:spPr>
        <p:txBody>
          <a:bodyPr anchorCtr="0" anchor="t" bIns="25400" lIns="25400" spcFirstLastPara="1" rIns="25400" wrap="square" tIns="25400">
            <a:normAutofit/>
          </a:bodyPr>
          <a:lstStyle/>
          <a:p>
            <a:pPr indent="0" lvl="0" marL="0" marR="0" rtl="0" algn="l">
              <a:lnSpc>
                <a:spcPct val="111000"/>
              </a:lnSpc>
              <a:spcBef>
                <a:spcPts val="0"/>
              </a:spcBef>
              <a:spcAft>
                <a:spcPts val="0"/>
              </a:spcAft>
              <a:buClr>
                <a:srgbClr val="0A1522"/>
              </a:buClr>
              <a:buSzPts val="1950"/>
              <a:buFont typeface="Arial"/>
              <a:buNone/>
            </a:pPr>
            <a:r>
              <a:rPr b="0" i="0" lang="en-US" sz="1950" u="none" cap="none" strike="noStrike">
                <a:solidFill>
                  <a:srgbClr val="0A1522"/>
                </a:solidFill>
                <a:latin typeface="Arial"/>
                <a:ea typeface="Arial"/>
                <a:cs typeface="Arial"/>
                <a:sym typeface="Arial"/>
              </a:rPr>
              <a:t>Raw &amp; processed data</a:t>
            </a:r>
            <a:endParaRPr b="0" i="0" sz="1950" u="none" cap="none" strike="noStrike">
              <a:solidFill>
                <a:schemeClr val="dk1"/>
              </a:solidFill>
              <a:latin typeface="Calibri"/>
              <a:ea typeface="Calibri"/>
              <a:cs typeface="Calibri"/>
              <a:sym typeface="Calibri"/>
            </a:endParaRPr>
          </a:p>
        </p:txBody>
      </p:sp>
      <p:sp>
        <p:nvSpPr>
          <p:cNvPr id="209" name="Google Shape;209;p8"/>
          <p:cNvSpPr/>
          <p:nvPr/>
        </p:nvSpPr>
        <p:spPr>
          <a:xfrm>
            <a:off x="8944373" y="9042135"/>
            <a:ext cx="2212200" cy="347700"/>
          </a:xfrm>
          <a:prstGeom prst="rect">
            <a:avLst/>
          </a:prstGeom>
          <a:noFill/>
          <a:ln>
            <a:noFill/>
          </a:ln>
        </p:spPr>
        <p:txBody>
          <a:bodyPr anchorCtr="0" anchor="t" bIns="25400" lIns="25400" spcFirstLastPara="1" rIns="25400" wrap="square" tIns="25400">
            <a:normAutofit/>
          </a:bodyPr>
          <a:lstStyle/>
          <a:p>
            <a:pPr indent="0" lvl="0" marL="0" marR="0" rtl="0" algn="l">
              <a:lnSpc>
                <a:spcPct val="111000"/>
              </a:lnSpc>
              <a:spcBef>
                <a:spcPts val="0"/>
              </a:spcBef>
              <a:spcAft>
                <a:spcPts val="0"/>
              </a:spcAft>
              <a:buClr>
                <a:srgbClr val="0A1522"/>
              </a:buClr>
              <a:buSzPts val="1950"/>
              <a:buFont typeface="Arial"/>
              <a:buNone/>
            </a:pPr>
            <a:r>
              <a:rPr b="0" i="0" lang="en-US" sz="1950" u="none" cap="none" strike="noStrike">
                <a:solidFill>
                  <a:srgbClr val="0A1522"/>
                </a:solidFill>
                <a:latin typeface="Arial"/>
                <a:ea typeface="Arial"/>
                <a:cs typeface="Arial"/>
                <a:sym typeface="Arial"/>
              </a:rPr>
              <a:t>Model assumptions</a:t>
            </a:r>
            <a:endParaRPr b="0" i="0" sz="1950" u="none" cap="none" strike="noStrike">
              <a:solidFill>
                <a:schemeClr val="dk1"/>
              </a:solidFill>
              <a:latin typeface="Calibri"/>
              <a:ea typeface="Calibri"/>
              <a:cs typeface="Calibri"/>
              <a:sym typeface="Calibri"/>
            </a:endParaRPr>
          </a:p>
        </p:txBody>
      </p:sp>
      <p:sp>
        <p:nvSpPr>
          <p:cNvPr id="210" name="Google Shape;210;p8"/>
          <p:cNvSpPr/>
          <p:nvPr/>
        </p:nvSpPr>
        <p:spPr>
          <a:xfrm>
            <a:off x="11593393" y="9042124"/>
            <a:ext cx="1063800"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11000"/>
              </a:lnSpc>
              <a:spcBef>
                <a:spcPts val="0"/>
              </a:spcBef>
              <a:spcAft>
                <a:spcPts val="0"/>
              </a:spcAft>
              <a:buClr>
                <a:srgbClr val="0A1522"/>
              </a:buClr>
              <a:buSzPts val="1950"/>
              <a:buFont typeface="Arial"/>
              <a:buNone/>
            </a:pPr>
            <a:r>
              <a:rPr b="0" i="0" lang="en-US" sz="1950" u="none" cap="none" strike="noStrike">
                <a:solidFill>
                  <a:srgbClr val="0A1522"/>
                </a:solidFill>
                <a:latin typeface="Arial"/>
                <a:ea typeface="Arial"/>
                <a:cs typeface="Arial"/>
                <a:sym typeface="Arial"/>
              </a:rPr>
              <a:t>Results</a:t>
            </a:r>
            <a:endParaRPr b="0" i="0" sz="1950" u="none" cap="none" strike="noStrike">
              <a:solidFill>
                <a:schemeClr val="dk1"/>
              </a:solidFill>
              <a:latin typeface="Calibri"/>
              <a:ea typeface="Calibri"/>
              <a:cs typeface="Calibri"/>
              <a:sym typeface="Calibri"/>
            </a:endParaRPr>
          </a:p>
        </p:txBody>
      </p:sp>
      <p:sp>
        <p:nvSpPr>
          <p:cNvPr id="211" name="Google Shape;211;p8"/>
          <p:cNvSpPr/>
          <p:nvPr/>
        </p:nvSpPr>
        <p:spPr>
          <a:xfrm>
            <a:off x="13094012" y="9042135"/>
            <a:ext cx="1332000" cy="347700"/>
          </a:xfrm>
          <a:prstGeom prst="rect">
            <a:avLst/>
          </a:prstGeom>
          <a:noFill/>
          <a:ln>
            <a:noFill/>
          </a:ln>
        </p:spPr>
        <p:txBody>
          <a:bodyPr anchorCtr="0" anchor="t" bIns="25400" lIns="25400" spcFirstLastPara="1" rIns="25400" wrap="square" tIns="25400">
            <a:normAutofit/>
          </a:bodyPr>
          <a:lstStyle/>
          <a:p>
            <a:pPr indent="0" lvl="0" marL="0" marR="0" rtl="0" algn="l">
              <a:lnSpc>
                <a:spcPct val="111000"/>
              </a:lnSpc>
              <a:spcBef>
                <a:spcPts val="0"/>
              </a:spcBef>
              <a:spcAft>
                <a:spcPts val="0"/>
              </a:spcAft>
              <a:buClr>
                <a:srgbClr val="0A1522"/>
              </a:buClr>
              <a:buSzPts val="1950"/>
              <a:buFont typeface="Arial"/>
              <a:buNone/>
            </a:pPr>
            <a:r>
              <a:rPr b="0" i="0" lang="en-US" sz="1950" u="none" cap="none" strike="noStrike">
                <a:solidFill>
                  <a:srgbClr val="0A1522"/>
                </a:solidFill>
                <a:latin typeface="Arial"/>
                <a:ea typeface="Arial"/>
                <a:cs typeface="Arial"/>
                <a:sym typeface="Arial"/>
              </a:rPr>
              <a:t>Uncertainty</a:t>
            </a:r>
            <a:endParaRPr b="0" i="0" sz="1950" u="none" cap="none" strike="noStrike">
              <a:solidFill>
                <a:schemeClr val="dk1"/>
              </a:solidFill>
              <a:latin typeface="Calibri"/>
              <a:ea typeface="Calibri"/>
              <a:cs typeface="Calibri"/>
              <a:sym typeface="Calibri"/>
            </a:endParaRPr>
          </a:p>
        </p:txBody>
      </p:sp>
      <p:sp>
        <p:nvSpPr>
          <p:cNvPr id="212" name="Google Shape;212;p8"/>
          <p:cNvSpPr/>
          <p:nvPr/>
        </p:nvSpPr>
        <p:spPr>
          <a:xfrm>
            <a:off x="14862831" y="9042124"/>
            <a:ext cx="1317300"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11000"/>
              </a:lnSpc>
              <a:spcBef>
                <a:spcPts val="0"/>
              </a:spcBef>
              <a:spcAft>
                <a:spcPts val="0"/>
              </a:spcAft>
              <a:buClr>
                <a:srgbClr val="0A1522"/>
              </a:buClr>
              <a:buSzPts val="1950"/>
              <a:buFont typeface="Arial"/>
              <a:buNone/>
            </a:pPr>
            <a:r>
              <a:rPr b="0" i="0" lang="en-US" sz="1950" u="none" cap="none" strike="noStrike">
                <a:solidFill>
                  <a:srgbClr val="0A1522"/>
                </a:solidFill>
                <a:latin typeface="Arial"/>
                <a:ea typeface="Arial"/>
                <a:cs typeface="Arial"/>
                <a:sym typeface="Arial"/>
              </a:rPr>
              <a:t>Decisions</a:t>
            </a:r>
            <a:endParaRPr b="0" i="0" sz="1950" u="none" cap="none" strike="noStrike">
              <a:solidFill>
                <a:schemeClr val="dk1"/>
              </a:solidFill>
              <a:latin typeface="Calibri"/>
              <a:ea typeface="Calibri"/>
              <a:cs typeface="Calibri"/>
              <a:sym typeface="Calibri"/>
            </a:endParaRPr>
          </a:p>
        </p:txBody>
      </p:sp>
      <p:pic>
        <p:nvPicPr>
          <p:cNvPr descr="preencoded.png" id="213" name="Google Shape;213;p8"/>
          <p:cNvPicPr preferRelativeResize="0"/>
          <p:nvPr/>
        </p:nvPicPr>
        <p:blipFill rotWithShape="1">
          <a:blip r:embed="rId9">
            <a:alphaModFix amt="72000"/>
          </a:blip>
          <a:srcRect b="0" l="0" r="0" t="0"/>
          <a:stretch/>
        </p:blipFill>
        <p:spPr>
          <a:xfrm>
            <a:off x="1047715" y="9772699"/>
            <a:ext cx="1317434" cy="380948"/>
          </a:xfrm>
          <a:prstGeom prst="rect">
            <a:avLst/>
          </a:prstGeom>
          <a:noFill/>
          <a:ln>
            <a:noFill/>
          </a:ln>
        </p:spPr>
      </p:pic>
      <p:pic>
        <p:nvPicPr>
          <p:cNvPr descr="preencoded.png" id="214" name="Google Shape;214;p8"/>
          <p:cNvPicPr preferRelativeResize="0"/>
          <p:nvPr/>
        </p:nvPicPr>
        <p:blipFill>
          <a:blip r:embed="rId10">
            <a:alphaModFix/>
          </a:blip>
          <a:stretch>
            <a:fillRect/>
          </a:stretch>
        </p:blipFill>
        <p:spPr>
          <a:xfrm>
            <a:off x="11143309" y="4300175"/>
            <a:ext cx="666680" cy="66668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10"/>
          <p:cNvSpPr/>
          <p:nvPr/>
        </p:nvSpPr>
        <p:spPr>
          <a:xfrm>
            <a:off x="1047715" y="628647"/>
            <a:ext cx="17779745" cy="335321"/>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USE CASE · BIOPHARMA</a:t>
            </a:r>
            <a:endParaRPr b="0" i="0" sz="1800" u="none" cap="none" strike="noStrike">
              <a:solidFill>
                <a:schemeClr val="dk1"/>
              </a:solidFill>
              <a:latin typeface="Calibri"/>
              <a:ea typeface="Calibri"/>
              <a:cs typeface="Calibri"/>
              <a:sym typeface="Calibri"/>
            </a:endParaRPr>
          </a:p>
        </p:txBody>
      </p:sp>
      <p:sp>
        <p:nvSpPr>
          <p:cNvPr id="221" name="Google Shape;221;p10"/>
          <p:cNvSpPr/>
          <p:nvPr/>
        </p:nvSpPr>
        <p:spPr>
          <a:xfrm>
            <a:off x="1047715" y="1097237"/>
            <a:ext cx="15893343" cy="1043865"/>
          </a:xfrm>
          <a:prstGeom prst="rect">
            <a:avLst/>
          </a:prstGeom>
          <a:noFill/>
          <a:ln>
            <a:noFill/>
          </a:ln>
        </p:spPr>
        <p:txBody>
          <a:bodyPr anchorCtr="0" anchor="t" bIns="25400" lIns="25400" spcFirstLastPara="1" rIns="25400" wrap="square" tIns="25400">
            <a:normAutofit/>
          </a:bodyPr>
          <a:lstStyle/>
          <a:p>
            <a:pPr indent="0" lvl="0" marL="0" marR="0" rtl="0" algn="l">
              <a:lnSpc>
                <a:spcPct val="97000"/>
              </a:lnSpc>
              <a:spcBef>
                <a:spcPts val="0"/>
              </a:spcBef>
              <a:spcAft>
                <a:spcPts val="0"/>
              </a:spcAft>
              <a:buClr>
                <a:srgbClr val="0A1522"/>
              </a:buClr>
              <a:buSzPts val="3600"/>
              <a:buFont typeface="Georgia"/>
              <a:buNone/>
            </a:pPr>
            <a:r>
              <a:rPr b="0" i="0" lang="en-US" sz="3600" u="none" cap="none" strike="noStrike">
                <a:solidFill>
                  <a:srgbClr val="0A1522"/>
                </a:solidFill>
                <a:latin typeface="Georgia"/>
                <a:ea typeface="Georgia"/>
                <a:cs typeface="Georgia"/>
                <a:sym typeface="Georgia"/>
              </a:rPr>
              <a:t>Trellis guides successive experiments toward a higher-productivity CHO process — within culture-health and measured-quality guardrails.</a:t>
            </a:r>
            <a:endParaRPr b="0" i="0" sz="3600" u="none" cap="none" strike="noStrike">
              <a:solidFill>
                <a:schemeClr val="dk1"/>
              </a:solidFill>
              <a:latin typeface="Calibri"/>
              <a:ea typeface="Calibri"/>
              <a:cs typeface="Calibri"/>
              <a:sym typeface="Calibri"/>
            </a:endParaRPr>
          </a:p>
        </p:txBody>
      </p:sp>
      <p:sp>
        <p:nvSpPr>
          <p:cNvPr id="222" name="Google Shape;222;p10"/>
          <p:cNvSpPr/>
          <p:nvPr/>
        </p:nvSpPr>
        <p:spPr>
          <a:xfrm>
            <a:off x="1047715" y="2426769"/>
            <a:ext cx="342827" cy="342827"/>
          </a:xfrm>
          <a:prstGeom prst="ellipse">
            <a:avLst/>
          </a:prstGeom>
          <a:solidFill>
            <a:srgbClr val="38A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
          <p:cNvSpPr/>
          <p:nvPr/>
        </p:nvSpPr>
        <p:spPr>
          <a:xfrm>
            <a:off x="1009615" y="2426769"/>
            <a:ext cx="419027" cy="380927"/>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1650"/>
              <a:buFont typeface="Arial"/>
              <a:buNone/>
            </a:pPr>
            <a:r>
              <a:rPr b="1" i="0" lang="en-US" sz="1650" u="none" cap="none" strike="noStrike">
                <a:solidFill>
                  <a:srgbClr val="FFFFFF"/>
                </a:solidFill>
                <a:latin typeface="Arial"/>
                <a:ea typeface="Arial"/>
                <a:cs typeface="Arial"/>
                <a:sym typeface="Arial"/>
              </a:rPr>
              <a:t>1</a:t>
            </a:r>
            <a:endParaRPr b="0" i="0" sz="1650" u="none" cap="none" strike="noStrike">
              <a:solidFill>
                <a:schemeClr val="dk1"/>
              </a:solidFill>
              <a:latin typeface="Calibri"/>
              <a:ea typeface="Calibri"/>
              <a:cs typeface="Calibri"/>
              <a:sym typeface="Calibri"/>
            </a:endParaRPr>
          </a:p>
        </p:txBody>
      </p:sp>
      <p:sp>
        <p:nvSpPr>
          <p:cNvPr id="224" name="Google Shape;224;p10"/>
          <p:cNvSpPr/>
          <p:nvPr/>
        </p:nvSpPr>
        <p:spPr>
          <a:xfrm>
            <a:off x="1504818" y="2455838"/>
            <a:ext cx="4108077" cy="322788"/>
          </a:xfrm>
          <a:prstGeom prst="rect">
            <a:avLst/>
          </a:prstGeom>
          <a:noFill/>
          <a:ln>
            <a:noFill/>
          </a:ln>
        </p:spPr>
        <p:txBody>
          <a:bodyPr anchorCtr="0" anchor="t" bIns="25400" lIns="25400" spcFirstLastPara="1" rIns="25400" wrap="square" tIns="25400">
            <a:normAutofit/>
          </a:bodyPr>
          <a:lstStyle/>
          <a:p>
            <a:pPr indent="0" lvl="0" marL="0" marR="0" rtl="0" algn="l">
              <a:lnSpc>
                <a:spcPct val="102000"/>
              </a:lnSpc>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DESIGN THE JOINT SEARCH</a:t>
            </a:r>
            <a:endParaRPr b="0" i="0" sz="1950" u="none" cap="none" strike="noStrike">
              <a:solidFill>
                <a:schemeClr val="dk1"/>
              </a:solidFill>
              <a:latin typeface="Calibri"/>
              <a:ea typeface="Calibri"/>
              <a:cs typeface="Calibri"/>
              <a:sym typeface="Calibri"/>
            </a:endParaRPr>
          </a:p>
        </p:txBody>
      </p:sp>
      <p:sp>
        <p:nvSpPr>
          <p:cNvPr id="225" name="Google Shape;225;p10"/>
          <p:cNvSpPr/>
          <p:nvPr/>
        </p:nvSpPr>
        <p:spPr>
          <a:xfrm>
            <a:off x="1047715" y="2902932"/>
            <a:ext cx="5324017" cy="1028634"/>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2E3A46"/>
              </a:buClr>
              <a:buSzPts val="1950"/>
              <a:buFont typeface="Arial"/>
              <a:buNone/>
            </a:pPr>
            <a:r>
              <a:rPr b="0" i="0" lang="en-US" sz="1950" u="none" cap="none" strike="noStrike">
                <a:solidFill>
                  <a:srgbClr val="2E3A46"/>
                </a:solidFill>
                <a:latin typeface="Arial"/>
                <a:ea typeface="Arial"/>
                <a:cs typeface="Arial"/>
                <a:sym typeface="Arial"/>
              </a:rPr>
              <a:t>Explore media, feed, schedule, pH strategy, temperature-shift timing and setpoint together.</a:t>
            </a:r>
            <a:endParaRPr b="0" i="0" sz="1950" u="none" cap="none" strike="noStrike">
              <a:solidFill>
                <a:schemeClr val="dk1"/>
              </a:solidFill>
              <a:latin typeface="Calibri"/>
              <a:ea typeface="Calibri"/>
              <a:cs typeface="Calibri"/>
              <a:sym typeface="Calibri"/>
            </a:endParaRPr>
          </a:p>
        </p:txBody>
      </p:sp>
      <p:pic>
        <p:nvPicPr>
          <p:cNvPr descr="preencoded.png" id="226" name="Google Shape;226;p10"/>
          <p:cNvPicPr preferRelativeResize="0"/>
          <p:nvPr/>
        </p:nvPicPr>
        <p:blipFill rotWithShape="1">
          <a:blip r:embed="rId3">
            <a:alphaModFix/>
          </a:blip>
          <a:srcRect b="0" l="0" r="0" t="0"/>
          <a:stretch/>
        </p:blipFill>
        <p:spPr>
          <a:xfrm>
            <a:off x="1047715" y="3893466"/>
            <a:ext cx="5168948" cy="3810000"/>
          </a:xfrm>
          <a:prstGeom prst="rect">
            <a:avLst/>
          </a:prstGeom>
          <a:noFill/>
          <a:ln>
            <a:noFill/>
          </a:ln>
        </p:spPr>
      </p:pic>
      <p:sp>
        <p:nvSpPr>
          <p:cNvPr id="227" name="Google Shape;227;p10"/>
          <p:cNvSpPr/>
          <p:nvPr/>
        </p:nvSpPr>
        <p:spPr>
          <a:xfrm>
            <a:off x="6445215" y="2426769"/>
            <a:ext cx="342827" cy="342827"/>
          </a:xfrm>
          <a:prstGeom prst="ellipse">
            <a:avLst/>
          </a:prstGeom>
          <a:solidFill>
            <a:srgbClr val="38A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0"/>
          <p:cNvSpPr/>
          <p:nvPr/>
        </p:nvSpPr>
        <p:spPr>
          <a:xfrm>
            <a:off x="6407115" y="2426769"/>
            <a:ext cx="419027" cy="380927"/>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1650"/>
              <a:buFont typeface="Arial"/>
              <a:buNone/>
            </a:pPr>
            <a:r>
              <a:rPr b="1" i="0" lang="en-US" sz="1650" u="none" cap="none" strike="noStrike">
                <a:solidFill>
                  <a:srgbClr val="FFFFFF"/>
                </a:solidFill>
                <a:latin typeface="Arial"/>
                <a:ea typeface="Arial"/>
                <a:cs typeface="Arial"/>
                <a:sym typeface="Arial"/>
              </a:rPr>
              <a:t>2</a:t>
            </a:r>
            <a:endParaRPr b="0" i="0" sz="1650" u="none" cap="none" strike="noStrike">
              <a:solidFill>
                <a:schemeClr val="dk1"/>
              </a:solidFill>
              <a:latin typeface="Calibri"/>
              <a:ea typeface="Calibri"/>
              <a:cs typeface="Calibri"/>
              <a:sym typeface="Calibri"/>
            </a:endParaRPr>
          </a:p>
        </p:txBody>
      </p:sp>
      <p:sp>
        <p:nvSpPr>
          <p:cNvPr id="229" name="Google Shape;229;p10"/>
          <p:cNvSpPr/>
          <p:nvPr/>
        </p:nvSpPr>
        <p:spPr>
          <a:xfrm>
            <a:off x="6902318" y="2455838"/>
            <a:ext cx="4289787" cy="322788"/>
          </a:xfrm>
          <a:prstGeom prst="rect">
            <a:avLst/>
          </a:prstGeom>
          <a:noFill/>
          <a:ln>
            <a:noFill/>
          </a:ln>
        </p:spPr>
        <p:txBody>
          <a:bodyPr anchorCtr="0" anchor="t" bIns="25400" lIns="25400" spcFirstLastPara="1" rIns="25400" wrap="square" tIns="25400">
            <a:normAutofit/>
          </a:bodyPr>
          <a:lstStyle/>
          <a:p>
            <a:pPr indent="0" lvl="0" marL="0" marR="0" rtl="0" algn="l">
              <a:lnSpc>
                <a:spcPct val="102000"/>
              </a:lnSpc>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LEARN CULTURE BEHAVIOUR</a:t>
            </a:r>
            <a:endParaRPr b="0" i="0" sz="1950" u="none" cap="none" strike="noStrike">
              <a:solidFill>
                <a:schemeClr val="dk1"/>
              </a:solidFill>
              <a:latin typeface="Calibri"/>
              <a:ea typeface="Calibri"/>
              <a:cs typeface="Calibri"/>
              <a:sym typeface="Calibri"/>
            </a:endParaRPr>
          </a:p>
        </p:txBody>
      </p:sp>
      <p:sp>
        <p:nvSpPr>
          <p:cNvPr id="230" name="Google Shape;230;p10"/>
          <p:cNvSpPr/>
          <p:nvPr/>
        </p:nvSpPr>
        <p:spPr>
          <a:xfrm>
            <a:off x="6445215" y="2902932"/>
            <a:ext cx="5324017" cy="1028634"/>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2E3A46"/>
              </a:buClr>
              <a:buSzPts val="1950"/>
              <a:buFont typeface="Arial"/>
              <a:buNone/>
            </a:pPr>
            <a:r>
              <a:rPr b="0" i="0" lang="en-US" sz="1950" u="none" cap="none" strike="noStrike">
                <a:solidFill>
                  <a:srgbClr val="2E3A46"/>
                </a:solidFill>
                <a:latin typeface="Arial"/>
                <a:ea typeface="Arial"/>
                <a:cs typeface="Arial"/>
                <a:sym typeface="Arial"/>
              </a:rPr>
              <a:t>Link interventions to cell, metabolite and titer trajectories — and to measured quality responses.</a:t>
            </a:r>
            <a:endParaRPr b="0" i="0" sz="1950" u="none" cap="none" strike="noStrike">
              <a:solidFill>
                <a:schemeClr val="dk1"/>
              </a:solidFill>
              <a:latin typeface="Calibri"/>
              <a:ea typeface="Calibri"/>
              <a:cs typeface="Calibri"/>
              <a:sym typeface="Calibri"/>
            </a:endParaRPr>
          </a:p>
        </p:txBody>
      </p:sp>
      <p:pic>
        <p:nvPicPr>
          <p:cNvPr descr="preencoded.png" id="231" name="Google Shape;231;p10"/>
          <p:cNvPicPr preferRelativeResize="0"/>
          <p:nvPr/>
        </p:nvPicPr>
        <p:blipFill rotWithShape="1">
          <a:blip r:embed="rId4">
            <a:alphaModFix/>
          </a:blip>
          <a:srcRect b="0" l="0" r="0" t="0"/>
          <a:stretch/>
        </p:blipFill>
        <p:spPr>
          <a:xfrm>
            <a:off x="6445215" y="3893466"/>
            <a:ext cx="5168948" cy="3810000"/>
          </a:xfrm>
          <a:prstGeom prst="rect">
            <a:avLst/>
          </a:prstGeom>
          <a:noFill/>
          <a:ln>
            <a:noFill/>
          </a:ln>
        </p:spPr>
      </p:pic>
      <p:sp>
        <p:nvSpPr>
          <p:cNvPr id="232" name="Google Shape;232;p10"/>
          <p:cNvSpPr/>
          <p:nvPr/>
        </p:nvSpPr>
        <p:spPr>
          <a:xfrm>
            <a:off x="11842714" y="2426769"/>
            <a:ext cx="342827" cy="342827"/>
          </a:xfrm>
          <a:prstGeom prst="ellipse">
            <a:avLst/>
          </a:prstGeom>
          <a:solidFill>
            <a:srgbClr val="38A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0"/>
          <p:cNvSpPr/>
          <p:nvPr/>
        </p:nvSpPr>
        <p:spPr>
          <a:xfrm>
            <a:off x="11804614" y="2426769"/>
            <a:ext cx="419027" cy="380927"/>
          </a:xfrm>
          <a:prstGeom prst="rect">
            <a:avLst/>
          </a:prstGeom>
          <a:noFill/>
          <a:ln>
            <a:noFill/>
          </a:ln>
        </p:spPr>
        <p:txBody>
          <a:bodyPr anchorCtr="0" anchor="ctr" bIns="25400" lIns="25400" spcFirstLastPara="1" rIns="25400" wrap="square" tIns="25400">
            <a:normAutofit/>
          </a:bodyPr>
          <a:lstStyle/>
          <a:p>
            <a:pPr indent="0" lvl="0" marL="0" marR="0" rtl="0" algn="ctr">
              <a:spcBef>
                <a:spcPts val="0"/>
              </a:spcBef>
              <a:spcAft>
                <a:spcPts val="0"/>
              </a:spcAft>
              <a:buClr>
                <a:srgbClr val="FFFFFF"/>
              </a:buClr>
              <a:buSzPts val="1650"/>
              <a:buFont typeface="Arial"/>
              <a:buNone/>
            </a:pPr>
            <a:r>
              <a:rPr b="1" i="0" lang="en-US" sz="1650" u="none" cap="none" strike="noStrike">
                <a:solidFill>
                  <a:srgbClr val="FFFFFF"/>
                </a:solidFill>
                <a:latin typeface="Arial"/>
                <a:ea typeface="Arial"/>
                <a:cs typeface="Arial"/>
                <a:sym typeface="Arial"/>
              </a:rPr>
              <a:t>3</a:t>
            </a:r>
            <a:endParaRPr b="0" i="0" sz="1650" u="none" cap="none" strike="noStrike">
              <a:solidFill>
                <a:schemeClr val="dk1"/>
              </a:solidFill>
              <a:latin typeface="Calibri"/>
              <a:ea typeface="Calibri"/>
              <a:cs typeface="Calibri"/>
              <a:sym typeface="Calibri"/>
            </a:endParaRPr>
          </a:p>
        </p:txBody>
      </p:sp>
      <p:sp>
        <p:nvSpPr>
          <p:cNvPr id="234" name="Google Shape;234;p10"/>
          <p:cNvSpPr/>
          <p:nvPr/>
        </p:nvSpPr>
        <p:spPr>
          <a:xfrm>
            <a:off x="12299817" y="2455838"/>
            <a:ext cx="3599329" cy="322788"/>
          </a:xfrm>
          <a:prstGeom prst="rect">
            <a:avLst/>
          </a:prstGeom>
          <a:noFill/>
          <a:ln>
            <a:noFill/>
          </a:ln>
        </p:spPr>
        <p:txBody>
          <a:bodyPr anchorCtr="0" anchor="t" bIns="25400" lIns="25400" spcFirstLastPara="1" rIns="25400" wrap="square" tIns="25400">
            <a:normAutofit/>
          </a:bodyPr>
          <a:lstStyle/>
          <a:p>
            <a:pPr indent="0" lvl="0" marL="0" marR="0" rtl="0" algn="l">
              <a:lnSpc>
                <a:spcPct val="102000"/>
              </a:lnSpc>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OPTIMIZE AND CONFIRM</a:t>
            </a:r>
            <a:endParaRPr b="0" i="0" sz="1950" u="none" cap="none" strike="noStrike">
              <a:solidFill>
                <a:schemeClr val="dk1"/>
              </a:solidFill>
              <a:latin typeface="Calibri"/>
              <a:ea typeface="Calibri"/>
              <a:cs typeface="Calibri"/>
              <a:sym typeface="Calibri"/>
            </a:endParaRPr>
          </a:p>
        </p:txBody>
      </p:sp>
      <p:sp>
        <p:nvSpPr>
          <p:cNvPr id="235" name="Google Shape;235;p10"/>
          <p:cNvSpPr/>
          <p:nvPr/>
        </p:nvSpPr>
        <p:spPr>
          <a:xfrm>
            <a:off x="11842714" y="2902932"/>
            <a:ext cx="5324017" cy="1028634"/>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2E3A46"/>
              </a:buClr>
              <a:buSzPts val="1950"/>
              <a:buFont typeface="Arial"/>
              <a:buNone/>
            </a:pPr>
            <a:r>
              <a:rPr b="0" i="0" lang="en-US" sz="1950" u="none" cap="none" strike="noStrike">
                <a:solidFill>
                  <a:srgbClr val="2E3A46"/>
                </a:solidFill>
                <a:latin typeface="Arial"/>
                <a:ea typeface="Arial"/>
                <a:cs typeface="Arial"/>
                <a:sym typeface="Arial"/>
              </a:rPr>
              <a:t>Recommend a candidate strategy; test productivity, culture health, quality responses and repeatability.</a:t>
            </a:r>
            <a:endParaRPr b="0" i="0" sz="1950" u="none" cap="none" strike="noStrike">
              <a:solidFill>
                <a:schemeClr val="dk1"/>
              </a:solidFill>
              <a:latin typeface="Calibri"/>
              <a:ea typeface="Calibri"/>
              <a:cs typeface="Calibri"/>
              <a:sym typeface="Calibri"/>
            </a:endParaRPr>
          </a:p>
        </p:txBody>
      </p:sp>
      <p:pic>
        <p:nvPicPr>
          <p:cNvPr descr="preencoded.png" id="236" name="Google Shape;236;p10"/>
          <p:cNvPicPr preferRelativeResize="0"/>
          <p:nvPr/>
        </p:nvPicPr>
        <p:blipFill rotWithShape="1">
          <a:blip r:embed="rId5">
            <a:alphaModFix/>
          </a:blip>
          <a:srcRect b="0" l="0" r="0" t="0"/>
          <a:stretch/>
        </p:blipFill>
        <p:spPr>
          <a:xfrm>
            <a:off x="11842714" y="3893466"/>
            <a:ext cx="5168948" cy="3810000"/>
          </a:xfrm>
          <a:prstGeom prst="rect">
            <a:avLst/>
          </a:prstGeom>
          <a:noFill/>
          <a:ln>
            <a:noFill/>
          </a:ln>
        </p:spPr>
      </p:pic>
      <p:sp>
        <p:nvSpPr>
          <p:cNvPr id="237" name="Google Shape;237;p10"/>
          <p:cNvSpPr/>
          <p:nvPr/>
        </p:nvSpPr>
        <p:spPr>
          <a:xfrm>
            <a:off x="1047715" y="8590603"/>
            <a:ext cx="16192499" cy="1124914"/>
          </a:xfrm>
          <a:prstGeom prst="roundRect">
            <a:avLst>
              <a:gd fmla="val 11854" name="adj"/>
            </a:avLst>
          </a:prstGeom>
          <a:solidFill>
            <a:srgbClr val="F1F3F5"/>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
          <p:cNvSpPr/>
          <p:nvPr/>
        </p:nvSpPr>
        <p:spPr>
          <a:xfrm>
            <a:off x="1377052" y="8846047"/>
            <a:ext cx="4201200" cy="6519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SCIENTIST DEFINES THE OBJECTIVE</a:t>
            </a:r>
            <a:endParaRPr b="0" i="0" sz="1950" u="none" cap="none" strike="noStrike">
              <a:solidFill>
                <a:schemeClr val="dk1"/>
              </a:solidFill>
              <a:latin typeface="Calibri"/>
              <a:ea typeface="Calibri"/>
              <a:cs typeface="Calibri"/>
              <a:sym typeface="Calibri"/>
            </a:endParaRPr>
          </a:p>
        </p:txBody>
      </p:sp>
      <p:sp>
        <p:nvSpPr>
          <p:cNvPr id="239" name="Google Shape;239;p10"/>
          <p:cNvSpPr/>
          <p:nvPr/>
        </p:nvSpPr>
        <p:spPr>
          <a:xfrm>
            <a:off x="4761802" y="8974771"/>
            <a:ext cx="876300" cy="3945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38AFD8"/>
              </a:buClr>
              <a:buSzPts val="2400"/>
              <a:buFont typeface="Arial"/>
              <a:buNone/>
            </a:pPr>
            <a:r>
              <a:rPr b="0" i="0" lang="en-US" sz="2900" u="none" cap="none" strike="noStrike">
                <a:solidFill>
                  <a:srgbClr val="38AFD8"/>
                </a:solidFill>
                <a:latin typeface="Arial"/>
                <a:ea typeface="Arial"/>
                <a:cs typeface="Arial"/>
                <a:sym typeface="Arial"/>
              </a:rPr>
              <a:t>→</a:t>
            </a:r>
            <a:endParaRPr b="0" i="0" sz="2900" u="none" cap="none" strike="noStrike">
              <a:solidFill>
                <a:schemeClr val="dk1"/>
              </a:solidFill>
              <a:latin typeface="Calibri"/>
              <a:ea typeface="Calibri"/>
              <a:cs typeface="Calibri"/>
              <a:sym typeface="Calibri"/>
            </a:endParaRPr>
          </a:p>
        </p:txBody>
      </p:sp>
      <p:sp>
        <p:nvSpPr>
          <p:cNvPr id="240" name="Google Shape;240;p10"/>
          <p:cNvSpPr/>
          <p:nvPr/>
        </p:nvSpPr>
        <p:spPr>
          <a:xfrm>
            <a:off x="5793004" y="8824724"/>
            <a:ext cx="6245100" cy="3450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38AFD8"/>
              </a:buClr>
              <a:buSzPts val="1950"/>
              <a:buFont typeface="Arial"/>
              <a:buNone/>
            </a:pPr>
            <a:r>
              <a:rPr b="1" i="0" lang="en-US" sz="1950" u="none" cap="none" strike="noStrike">
                <a:solidFill>
                  <a:srgbClr val="38AFD8"/>
                </a:solidFill>
                <a:latin typeface="Arial"/>
                <a:ea typeface="Arial"/>
                <a:cs typeface="Arial"/>
                <a:sym typeface="Arial"/>
              </a:rPr>
              <a:t>TRELLIS RUNS THE LEARNING CYCLE</a:t>
            </a:r>
            <a:endParaRPr b="0" i="0" sz="1950" u="none" cap="none" strike="noStrike">
              <a:solidFill>
                <a:schemeClr val="dk1"/>
              </a:solidFill>
              <a:latin typeface="Calibri"/>
              <a:ea typeface="Calibri"/>
              <a:cs typeface="Calibri"/>
              <a:sym typeface="Calibri"/>
            </a:endParaRPr>
          </a:p>
        </p:txBody>
      </p:sp>
      <p:sp>
        <p:nvSpPr>
          <p:cNvPr id="241" name="Google Shape;241;p10"/>
          <p:cNvSpPr/>
          <p:nvPr/>
        </p:nvSpPr>
        <p:spPr>
          <a:xfrm>
            <a:off x="5793004" y="9188787"/>
            <a:ext cx="6279900" cy="330600"/>
          </a:xfrm>
          <a:prstGeom prst="rect">
            <a:avLst/>
          </a:prstGeom>
          <a:noFill/>
          <a:ln>
            <a:noFill/>
          </a:ln>
        </p:spPr>
        <p:txBody>
          <a:bodyPr anchorCtr="0" anchor="t" bIns="25400" lIns="25400" spcFirstLastPara="1" rIns="25400" wrap="square" tIns="25400">
            <a:normAutofit/>
          </a:bodyPr>
          <a:lstStyle/>
          <a:p>
            <a:pPr indent="0" lvl="0" marL="0" marR="0" rtl="0" algn="l">
              <a:lnSpc>
                <a:spcPct val="112000"/>
              </a:lnSpc>
              <a:spcBef>
                <a:spcPts val="0"/>
              </a:spcBef>
              <a:spcAft>
                <a:spcPts val="0"/>
              </a:spcAft>
              <a:buClr>
                <a:srgbClr val="0A1522"/>
              </a:buClr>
              <a:buSzPts val="1800"/>
              <a:buFont typeface="Arial"/>
              <a:buNone/>
            </a:pPr>
            <a:r>
              <a:rPr b="0" i="0" lang="en-US" sz="1800" u="none" cap="none" strike="noStrike">
                <a:solidFill>
                  <a:srgbClr val="0A1522"/>
                </a:solidFill>
                <a:latin typeface="Arial"/>
                <a:ea typeface="Arial"/>
                <a:cs typeface="Arial"/>
                <a:sym typeface="Arial"/>
              </a:rPr>
              <a:t>DoE · Protocols · Data · Models · Simulation · Optimization</a:t>
            </a:r>
            <a:endParaRPr b="0" i="0" sz="1800" u="none" cap="none" strike="noStrike">
              <a:solidFill>
                <a:schemeClr val="dk1"/>
              </a:solidFill>
              <a:latin typeface="Calibri"/>
              <a:ea typeface="Calibri"/>
              <a:cs typeface="Calibri"/>
              <a:sym typeface="Calibri"/>
            </a:endParaRPr>
          </a:p>
        </p:txBody>
      </p:sp>
      <p:sp>
        <p:nvSpPr>
          <p:cNvPr id="242" name="Google Shape;242;p10"/>
          <p:cNvSpPr/>
          <p:nvPr/>
        </p:nvSpPr>
        <p:spPr>
          <a:xfrm>
            <a:off x="11960319" y="8974771"/>
            <a:ext cx="876300" cy="3945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38AFD8"/>
              </a:buClr>
              <a:buSzPts val="2400"/>
              <a:buFont typeface="Arial"/>
              <a:buNone/>
            </a:pPr>
            <a:r>
              <a:rPr b="0" i="0" lang="en-US" sz="2900" u="none" cap="none" strike="noStrike">
                <a:solidFill>
                  <a:srgbClr val="38AFD8"/>
                </a:solidFill>
                <a:latin typeface="Arial"/>
                <a:ea typeface="Arial"/>
                <a:cs typeface="Arial"/>
                <a:sym typeface="Arial"/>
              </a:rPr>
              <a:t>→</a:t>
            </a:r>
            <a:endParaRPr b="0" i="0" sz="2900" u="none" cap="none" strike="noStrike">
              <a:solidFill>
                <a:schemeClr val="dk1"/>
              </a:solidFill>
              <a:latin typeface="Calibri"/>
              <a:ea typeface="Calibri"/>
              <a:cs typeface="Calibri"/>
              <a:sym typeface="Calibri"/>
            </a:endParaRPr>
          </a:p>
        </p:txBody>
      </p:sp>
      <p:sp>
        <p:nvSpPr>
          <p:cNvPr id="243" name="Google Shape;243;p10"/>
          <p:cNvSpPr/>
          <p:nvPr/>
        </p:nvSpPr>
        <p:spPr>
          <a:xfrm>
            <a:off x="12798435" y="8846047"/>
            <a:ext cx="4201200" cy="651900"/>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SCIENTIST APPROVES THE NEXT EXPERIMENT</a:t>
            </a:r>
            <a:endParaRPr b="0" i="0" sz="1950" u="none" cap="none" strike="noStrike">
              <a:solidFill>
                <a:schemeClr val="dk1"/>
              </a:solidFill>
              <a:latin typeface="Calibri"/>
              <a:ea typeface="Calibri"/>
              <a:cs typeface="Calibri"/>
              <a:sym typeface="Calibri"/>
            </a:endParaRPr>
          </a:p>
        </p:txBody>
      </p:sp>
      <p:sp>
        <p:nvSpPr>
          <p:cNvPr id="244" name="Google Shape;244;p10"/>
          <p:cNvSpPr/>
          <p:nvPr/>
        </p:nvSpPr>
        <p:spPr>
          <a:xfrm>
            <a:off x="13733790" y="9777572"/>
            <a:ext cx="3857068" cy="29989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1522"/>
              </a:buClr>
              <a:buSzPts val="1800"/>
              <a:buFont typeface="Arial"/>
              <a:buNone/>
            </a:pPr>
            <a:r>
              <a:rPr b="0" i="1" lang="en-US" sz="1800" u="none" cap="none" strike="noStrike">
                <a:solidFill>
                  <a:srgbClr val="0A1522"/>
                </a:solidFill>
                <a:latin typeface="Arial"/>
                <a:ea typeface="Arial"/>
                <a:cs typeface="Arial"/>
                <a:sym typeface="Arial"/>
              </a:rPr>
              <a:t>Illustrative — not customer results.</a:t>
            </a:r>
            <a:endParaRPr b="0" i="0" sz="1800" u="none" cap="none" strike="noStrike">
              <a:solidFill>
                <a:schemeClr val="dk1"/>
              </a:solidFill>
              <a:latin typeface="Calibri"/>
              <a:ea typeface="Calibri"/>
              <a:cs typeface="Calibri"/>
              <a:sym typeface="Calibri"/>
            </a:endParaRPr>
          </a:p>
        </p:txBody>
      </p:sp>
      <p:pic>
        <p:nvPicPr>
          <p:cNvPr descr="preencoded.png" id="245" name="Google Shape;245;p10"/>
          <p:cNvPicPr preferRelativeResize="0"/>
          <p:nvPr/>
        </p:nvPicPr>
        <p:blipFill rotWithShape="1">
          <a:blip r:embed="rId6">
            <a:alphaModFix amt="72000"/>
          </a:blip>
          <a:srcRect b="0" l="0" r="0" t="0"/>
          <a:stretch/>
        </p:blipFill>
        <p:spPr>
          <a:xfrm>
            <a:off x="1047715" y="9772699"/>
            <a:ext cx="1317434" cy="38094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0" name="Shape 250"/>
        <p:cNvGrpSpPr/>
        <p:nvPr/>
      </p:nvGrpSpPr>
      <p:grpSpPr>
        <a:xfrm>
          <a:off x="0" y="0"/>
          <a:ext cx="0" cy="0"/>
          <a:chOff x="0" y="0"/>
          <a:chExt cx="0" cy="0"/>
        </a:xfrm>
      </p:grpSpPr>
      <p:sp>
        <p:nvSpPr>
          <p:cNvPr id="251" name="Google Shape;251;p12"/>
          <p:cNvSpPr/>
          <p:nvPr/>
        </p:nvSpPr>
        <p:spPr>
          <a:xfrm>
            <a:off x="1047715" y="628647"/>
            <a:ext cx="17779745" cy="335321"/>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BIOPHARMA · </a:t>
            </a:r>
            <a:r>
              <a:rPr b="1" lang="en-US" sz="1800">
                <a:solidFill>
                  <a:srgbClr val="38AFD8"/>
                </a:solidFill>
              </a:rPr>
              <a:t>MORE USE CASES</a:t>
            </a:r>
            <a:endParaRPr b="0" i="0" sz="1800" u="none" cap="none" strike="noStrike">
              <a:solidFill>
                <a:schemeClr val="dk1"/>
              </a:solidFill>
              <a:latin typeface="Calibri"/>
              <a:ea typeface="Calibri"/>
              <a:cs typeface="Calibri"/>
              <a:sym typeface="Calibri"/>
            </a:endParaRPr>
          </a:p>
        </p:txBody>
      </p:sp>
      <p:sp>
        <p:nvSpPr>
          <p:cNvPr id="252" name="Google Shape;252;p12"/>
          <p:cNvSpPr/>
          <p:nvPr/>
        </p:nvSpPr>
        <p:spPr>
          <a:xfrm>
            <a:off x="1047715" y="1097237"/>
            <a:ext cx="17183042" cy="550121"/>
          </a:xfrm>
          <a:prstGeom prst="rect">
            <a:avLst/>
          </a:prstGeom>
          <a:noFill/>
          <a:ln>
            <a:noFill/>
          </a:ln>
        </p:spPr>
        <p:txBody>
          <a:bodyPr anchorCtr="0" anchor="t" bIns="25400" lIns="25400" spcFirstLastPara="1" rIns="25400" wrap="square" tIns="25400">
            <a:normAutofit/>
          </a:bodyPr>
          <a:lstStyle/>
          <a:p>
            <a:pPr indent="0" lvl="0" marL="0" marR="0" rtl="0" algn="l">
              <a:lnSpc>
                <a:spcPct val="99000"/>
              </a:lnSpc>
              <a:spcBef>
                <a:spcPts val="0"/>
              </a:spcBef>
              <a:spcAft>
                <a:spcPts val="0"/>
              </a:spcAft>
              <a:buClr>
                <a:srgbClr val="0A1522"/>
              </a:buClr>
              <a:buSzPts val="3600"/>
              <a:buFont typeface="Georgia"/>
              <a:buNone/>
            </a:pPr>
            <a:r>
              <a:rPr b="0" i="0" lang="en-US" sz="3600" u="none" cap="none" strike="noStrike">
                <a:solidFill>
                  <a:srgbClr val="0A1522"/>
                </a:solidFill>
                <a:latin typeface="Georgia"/>
                <a:ea typeface="Georgia"/>
                <a:cs typeface="Georgia"/>
                <a:sym typeface="Georgia"/>
              </a:rPr>
              <a:t>Trellis also helps teams adapt, recover and de-risk CHO processes.</a:t>
            </a:r>
            <a:endParaRPr b="0" i="0" sz="3600" u="none" cap="none" strike="noStrike">
              <a:solidFill>
                <a:schemeClr val="dk1"/>
              </a:solidFill>
              <a:latin typeface="Calibri"/>
              <a:ea typeface="Calibri"/>
              <a:cs typeface="Calibri"/>
              <a:sym typeface="Calibri"/>
            </a:endParaRPr>
          </a:p>
        </p:txBody>
      </p:sp>
      <p:pic>
        <p:nvPicPr>
          <p:cNvPr descr="preencoded.png" id="253" name="Google Shape;253;p12"/>
          <p:cNvPicPr preferRelativeResize="0"/>
          <p:nvPr/>
        </p:nvPicPr>
        <p:blipFill rotWithShape="1">
          <a:blip r:embed="rId3">
            <a:alphaModFix/>
          </a:blip>
          <a:srcRect b="0" l="0" r="0" t="0"/>
          <a:stretch/>
        </p:blipFill>
        <p:spPr>
          <a:xfrm>
            <a:off x="1333448" y="1856870"/>
            <a:ext cx="4822292" cy="3428965"/>
          </a:xfrm>
          <a:prstGeom prst="rect">
            <a:avLst/>
          </a:prstGeom>
          <a:noFill/>
          <a:ln>
            <a:noFill/>
          </a:ln>
        </p:spPr>
      </p:pic>
      <p:sp>
        <p:nvSpPr>
          <p:cNvPr id="254" name="Google Shape;254;p12"/>
          <p:cNvSpPr/>
          <p:nvPr/>
        </p:nvSpPr>
        <p:spPr>
          <a:xfrm>
            <a:off x="3120051" y="5438231"/>
            <a:ext cx="1209081" cy="409474"/>
          </a:xfrm>
          <a:prstGeom prst="rect">
            <a:avLst/>
          </a:prstGeom>
          <a:noFill/>
          <a:ln>
            <a:noFill/>
          </a:ln>
        </p:spPr>
        <p:txBody>
          <a:bodyPr anchorCtr="0" anchor="t" bIns="25400" lIns="25400" spcFirstLastPara="1" rIns="25400" wrap="square" tIns="25400">
            <a:normAutofit/>
          </a:bodyPr>
          <a:lstStyle/>
          <a:p>
            <a:pPr indent="0" lvl="0" marL="0" marR="0" rtl="0" algn="ctr">
              <a:lnSpc>
                <a:spcPct val="113000"/>
              </a:lnSpc>
              <a:spcBef>
                <a:spcPts val="0"/>
              </a:spcBef>
              <a:spcAft>
                <a:spcPts val="0"/>
              </a:spcAft>
              <a:buClr>
                <a:srgbClr val="38AFD8"/>
              </a:buClr>
              <a:buSzPts val="2250"/>
              <a:buFont typeface="Arial"/>
              <a:buNone/>
            </a:pPr>
            <a:r>
              <a:rPr b="1" i="0" lang="en-US" sz="2250" u="none" cap="none" strike="noStrike">
                <a:solidFill>
                  <a:srgbClr val="38AFD8"/>
                </a:solidFill>
                <a:latin typeface="Arial"/>
                <a:ea typeface="Arial"/>
                <a:cs typeface="Arial"/>
                <a:sym typeface="Arial"/>
              </a:rPr>
              <a:t>ADAPT</a:t>
            </a:r>
            <a:endParaRPr b="0" i="0" sz="2250" u="none" cap="none" strike="noStrike">
              <a:solidFill>
                <a:schemeClr val="dk1"/>
              </a:solidFill>
              <a:latin typeface="Calibri"/>
              <a:ea typeface="Calibri"/>
              <a:cs typeface="Calibri"/>
              <a:sym typeface="Calibri"/>
            </a:endParaRPr>
          </a:p>
        </p:txBody>
      </p:sp>
      <p:sp>
        <p:nvSpPr>
          <p:cNvPr id="255" name="Google Shape;255;p12"/>
          <p:cNvSpPr/>
          <p:nvPr/>
        </p:nvSpPr>
        <p:spPr>
          <a:xfrm>
            <a:off x="1534257" y="5923881"/>
            <a:ext cx="4420674" cy="380927"/>
          </a:xfrm>
          <a:prstGeom prst="rect">
            <a:avLst/>
          </a:prstGeom>
          <a:noFill/>
          <a:ln>
            <a:noFill/>
          </a:ln>
        </p:spPr>
        <p:txBody>
          <a:bodyPr anchorCtr="0" anchor="t" bIns="25400" lIns="25400" spcFirstLastPara="1" rIns="25400" wrap="square" tIns="25400">
            <a:normAutofit/>
          </a:bodyPr>
          <a:lstStyle/>
          <a:p>
            <a:pPr indent="0" lvl="0" marL="0" marR="0" rtl="0" algn="ctr">
              <a:lnSpc>
                <a:spcPct val="104000"/>
              </a:lnSpc>
              <a:spcBef>
                <a:spcPts val="0"/>
              </a:spcBef>
              <a:spcAft>
                <a:spcPts val="0"/>
              </a:spcAft>
              <a:buClr>
                <a:srgbClr val="0A1522"/>
              </a:buClr>
              <a:buSzPts val="2250"/>
              <a:buFont typeface="Arial"/>
              <a:buNone/>
            </a:pPr>
            <a:r>
              <a:rPr b="1" i="0" lang="en-US" sz="2250" u="none" cap="none" strike="noStrike">
                <a:solidFill>
                  <a:srgbClr val="0A1522"/>
                </a:solidFill>
                <a:latin typeface="Arial"/>
                <a:ea typeface="Arial"/>
                <a:cs typeface="Arial"/>
                <a:sym typeface="Arial"/>
              </a:rPr>
              <a:t>Adapt a platform to a new clone</a:t>
            </a:r>
            <a:endParaRPr b="0" i="0" sz="2250" u="none" cap="none" strike="noStrike">
              <a:solidFill>
                <a:schemeClr val="dk1"/>
              </a:solidFill>
              <a:latin typeface="Calibri"/>
              <a:ea typeface="Calibri"/>
              <a:cs typeface="Calibri"/>
              <a:sym typeface="Calibri"/>
            </a:endParaRPr>
          </a:p>
        </p:txBody>
      </p:sp>
      <p:sp>
        <p:nvSpPr>
          <p:cNvPr id="256" name="Google Shape;256;p12"/>
          <p:cNvSpPr/>
          <p:nvPr/>
        </p:nvSpPr>
        <p:spPr>
          <a:xfrm>
            <a:off x="1261113" y="6361923"/>
            <a:ext cx="4966961" cy="1093996"/>
          </a:xfrm>
          <a:prstGeom prst="rect">
            <a:avLst/>
          </a:prstGeom>
          <a:noFill/>
          <a:ln>
            <a:noFill/>
          </a:ln>
        </p:spPr>
        <p:txBody>
          <a:bodyPr anchorCtr="0" anchor="t" bIns="25400" lIns="25400" spcFirstLastPara="1" rIns="25400" wrap="square" tIns="25400">
            <a:normAutofit/>
          </a:bodyPr>
          <a:lstStyle/>
          <a:p>
            <a:pPr indent="0" lvl="0" marL="0" marR="0" rtl="0" algn="ctr">
              <a:lnSpc>
                <a:spcPct val="115000"/>
              </a:lnSpc>
              <a:spcBef>
                <a:spcPts val="0"/>
              </a:spcBef>
              <a:spcAft>
                <a:spcPts val="0"/>
              </a:spcAft>
              <a:buClr>
                <a:srgbClr val="2E3A46"/>
              </a:buClr>
              <a:buSzPts val="2100"/>
              <a:buFont typeface="Arial"/>
              <a:buNone/>
            </a:pPr>
            <a:r>
              <a:rPr b="0" i="0" lang="en-US" sz="2100" u="none" cap="none" strike="noStrike">
                <a:solidFill>
                  <a:srgbClr val="2E3A46"/>
                </a:solidFill>
                <a:latin typeface="Arial"/>
                <a:ea typeface="Arial"/>
                <a:cs typeface="Arial"/>
                <a:sym typeface="Arial"/>
              </a:rPr>
              <a:t>Determine what can remain fixed — and which clone-specific changes require evidence.</a:t>
            </a:r>
            <a:endParaRPr b="0" i="0" sz="2100" u="none" cap="none" strike="noStrike">
              <a:solidFill>
                <a:schemeClr val="dk1"/>
              </a:solidFill>
              <a:latin typeface="Calibri"/>
              <a:ea typeface="Calibri"/>
              <a:cs typeface="Calibri"/>
              <a:sym typeface="Calibri"/>
            </a:endParaRPr>
          </a:p>
        </p:txBody>
      </p:sp>
      <p:sp>
        <p:nvSpPr>
          <p:cNvPr id="257" name="Google Shape;257;p12"/>
          <p:cNvSpPr/>
          <p:nvPr/>
        </p:nvSpPr>
        <p:spPr>
          <a:xfrm>
            <a:off x="6441473" y="1856870"/>
            <a:ext cx="9525" cy="6313445"/>
          </a:xfrm>
          <a:prstGeom prst="rect">
            <a:avLst/>
          </a:prstGeom>
          <a:solidFill>
            <a:srgbClr val="0A1522">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8" name="Google Shape;258;p12"/>
          <p:cNvPicPr preferRelativeResize="0"/>
          <p:nvPr/>
        </p:nvPicPr>
        <p:blipFill rotWithShape="1">
          <a:blip r:embed="rId4">
            <a:alphaModFix/>
          </a:blip>
          <a:srcRect b="0" l="0" r="0" t="0"/>
          <a:stretch/>
        </p:blipFill>
        <p:spPr>
          <a:xfrm>
            <a:off x="6732775" y="1856870"/>
            <a:ext cx="4822379" cy="3428965"/>
          </a:xfrm>
          <a:prstGeom prst="rect">
            <a:avLst/>
          </a:prstGeom>
          <a:noFill/>
          <a:ln>
            <a:noFill/>
          </a:ln>
        </p:spPr>
      </p:pic>
      <p:sp>
        <p:nvSpPr>
          <p:cNvPr id="259" name="Google Shape;259;p12"/>
          <p:cNvSpPr/>
          <p:nvPr/>
        </p:nvSpPr>
        <p:spPr>
          <a:xfrm>
            <a:off x="8234747" y="5438231"/>
            <a:ext cx="1778431" cy="409474"/>
          </a:xfrm>
          <a:prstGeom prst="rect">
            <a:avLst/>
          </a:prstGeom>
          <a:noFill/>
          <a:ln>
            <a:noFill/>
          </a:ln>
        </p:spPr>
        <p:txBody>
          <a:bodyPr anchorCtr="0" anchor="t" bIns="25400" lIns="25400" spcFirstLastPara="1" rIns="25400" wrap="square" tIns="25400">
            <a:normAutofit/>
          </a:bodyPr>
          <a:lstStyle/>
          <a:p>
            <a:pPr indent="0" lvl="0" marL="0" marR="0" rtl="0" algn="ctr">
              <a:lnSpc>
                <a:spcPct val="113000"/>
              </a:lnSpc>
              <a:spcBef>
                <a:spcPts val="0"/>
              </a:spcBef>
              <a:spcAft>
                <a:spcPts val="0"/>
              </a:spcAft>
              <a:buClr>
                <a:srgbClr val="38AFD8"/>
              </a:buClr>
              <a:buSzPts val="2250"/>
              <a:buFont typeface="Arial"/>
              <a:buNone/>
            </a:pPr>
            <a:r>
              <a:rPr b="1" i="0" lang="en-US" sz="2250" u="none" cap="none" strike="noStrike">
                <a:solidFill>
                  <a:srgbClr val="38AFD8"/>
                </a:solidFill>
                <a:latin typeface="Arial"/>
                <a:ea typeface="Arial"/>
                <a:cs typeface="Arial"/>
                <a:sym typeface="Arial"/>
              </a:rPr>
              <a:t>RECOVER</a:t>
            </a:r>
            <a:endParaRPr b="0" i="0" sz="2250" u="none" cap="none" strike="noStrike">
              <a:solidFill>
                <a:schemeClr val="dk1"/>
              </a:solidFill>
              <a:latin typeface="Calibri"/>
              <a:ea typeface="Calibri"/>
              <a:cs typeface="Calibri"/>
              <a:sym typeface="Calibri"/>
            </a:endParaRPr>
          </a:p>
        </p:txBody>
      </p:sp>
      <p:sp>
        <p:nvSpPr>
          <p:cNvPr id="260" name="Google Shape;260;p12"/>
          <p:cNvSpPr/>
          <p:nvPr/>
        </p:nvSpPr>
        <p:spPr>
          <a:xfrm>
            <a:off x="6575814" y="5923881"/>
            <a:ext cx="5136215" cy="380927"/>
          </a:xfrm>
          <a:prstGeom prst="rect">
            <a:avLst/>
          </a:prstGeom>
          <a:noFill/>
          <a:ln>
            <a:noFill/>
          </a:ln>
        </p:spPr>
        <p:txBody>
          <a:bodyPr anchorCtr="0" anchor="t" bIns="25400" lIns="25400" spcFirstLastPara="1" rIns="25400" wrap="square" tIns="25400">
            <a:normAutofit/>
          </a:bodyPr>
          <a:lstStyle/>
          <a:p>
            <a:pPr indent="0" lvl="0" marL="0" marR="0" rtl="0" algn="ctr">
              <a:lnSpc>
                <a:spcPct val="104000"/>
              </a:lnSpc>
              <a:spcBef>
                <a:spcPts val="0"/>
              </a:spcBef>
              <a:spcAft>
                <a:spcPts val="0"/>
              </a:spcAft>
              <a:buClr>
                <a:srgbClr val="0A1522"/>
              </a:buClr>
              <a:buSzPts val="2250"/>
              <a:buFont typeface="Arial"/>
              <a:buNone/>
            </a:pPr>
            <a:r>
              <a:rPr b="1" i="0" lang="en-US" sz="2250" u="none" cap="none" strike="noStrike">
                <a:solidFill>
                  <a:srgbClr val="0A1522"/>
                </a:solidFill>
                <a:latin typeface="Arial"/>
                <a:ea typeface="Arial"/>
                <a:cs typeface="Arial"/>
                <a:sym typeface="Arial"/>
              </a:rPr>
              <a:t>Recover low or variable performance</a:t>
            </a:r>
            <a:endParaRPr b="0" i="0" sz="2250" u="none" cap="none" strike="noStrike">
              <a:solidFill>
                <a:schemeClr val="dk1"/>
              </a:solidFill>
              <a:latin typeface="Calibri"/>
              <a:ea typeface="Calibri"/>
              <a:cs typeface="Calibri"/>
              <a:sym typeface="Calibri"/>
            </a:endParaRPr>
          </a:p>
        </p:txBody>
      </p:sp>
      <p:sp>
        <p:nvSpPr>
          <p:cNvPr id="261" name="Google Shape;261;p12"/>
          <p:cNvSpPr/>
          <p:nvPr/>
        </p:nvSpPr>
        <p:spPr>
          <a:xfrm>
            <a:off x="6660439" y="6361923"/>
            <a:ext cx="4967051" cy="742031"/>
          </a:xfrm>
          <a:prstGeom prst="rect">
            <a:avLst/>
          </a:prstGeom>
          <a:noFill/>
          <a:ln>
            <a:noFill/>
          </a:ln>
        </p:spPr>
        <p:txBody>
          <a:bodyPr anchorCtr="0" anchor="t" bIns="25400" lIns="25400" spcFirstLastPara="1" rIns="25400" wrap="square" tIns="25400">
            <a:normAutofit/>
          </a:bodyPr>
          <a:lstStyle/>
          <a:p>
            <a:pPr indent="0" lvl="0" marL="0" marR="0" rtl="0" algn="ctr">
              <a:lnSpc>
                <a:spcPct val="115000"/>
              </a:lnSpc>
              <a:spcBef>
                <a:spcPts val="0"/>
              </a:spcBef>
              <a:spcAft>
                <a:spcPts val="0"/>
              </a:spcAft>
              <a:buClr>
                <a:srgbClr val="2E3A46"/>
              </a:buClr>
              <a:buSzPts val="2100"/>
              <a:buFont typeface="Arial"/>
              <a:buNone/>
            </a:pPr>
            <a:r>
              <a:rPr b="0" i="0" lang="en-US" sz="2100" u="none" cap="none" strike="noStrike">
                <a:solidFill>
                  <a:srgbClr val="2E3A46"/>
                </a:solidFill>
                <a:latin typeface="Arial"/>
                <a:ea typeface="Arial"/>
                <a:cs typeface="Arial"/>
                <a:sym typeface="Arial"/>
              </a:rPr>
              <a:t>Rank and test hypotheses for low titer, early viability loss or run-to-run variability.</a:t>
            </a:r>
            <a:endParaRPr b="0" i="0" sz="2100" u="none" cap="none" strike="noStrike">
              <a:solidFill>
                <a:schemeClr val="dk1"/>
              </a:solidFill>
              <a:latin typeface="Calibri"/>
              <a:ea typeface="Calibri"/>
              <a:cs typeface="Calibri"/>
              <a:sym typeface="Calibri"/>
            </a:endParaRPr>
          </a:p>
        </p:txBody>
      </p:sp>
      <p:sp>
        <p:nvSpPr>
          <p:cNvPr id="262" name="Google Shape;262;p12"/>
          <p:cNvSpPr/>
          <p:nvPr/>
        </p:nvSpPr>
        <p:spPr>
          <a:xfrm>
            <a:off x="11840887" y="1856870"/>
            <a:ext cx="9525" cy="6313445"/>
          </a:xfrm>
          <a:prstGeom prst="rect">
            <a:avLst/>
          </a:prstGeom>
          <a:solidFill>
            <a:srgbClr val="0A1522">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63" name="Google Shape;263;p12"/>
          <p:cNvPicPr preferRelativeResize="0"/>
          <p:nvPr/>
        </p:nvPicPr>
        <p:blipFill rotWithShape="1">
          <a:blip r:embed="rId5">
            <a:alphaModFix/>
          </a:blip>
          <a:srcRect b="0" l="0" r="0" t="0"/>
          <a:stretch/>
        </p:blipFill>
        <p:spPr>
          <a:xfrm>
            <a:off x="12132190" y="1856870"/>
            <a:ext cx="4822292" cy="3428965"/>
          </a:xfrm>
          <a:prstGeom prst="rect">
            <a:avLst/>
          </a:prstGeom>
          <a:noFill/>
          <a:ln>
            <a:noFill/>
          </a:ln>
        </p:spPr>
      </p:pic>
      <p:sp>
        <p:nvSpPr>
          <p:cNvPr id="264" name="Google Shape;264;p12"/>
          <p:cNvSpPr/>
          <p:nvPr/>
        </p:nvSpPr>
        <p:spPr>
          <a:xfrm>
            <a:off x="13773847" y="5438231"/>
            <a:ext cx="1498973" cy="409474"/>
          </a:xfrm>
          <a:prstGeom prst="rect">
            <a:avLst/>
          </a:prstGeom>
          <a:noFill/>
          <a:ln>
            <a:noFill/>
          </a:ln>
        </p:spPr>
        <p:txBody>
          <a:bodyPr anchorCtr="0" anchor="t" bIns="25400" lIns="25400" spcFirstLastPara="1" rIns="25400" wrap="square" tIns="25400">
            <a:normAutofit/>
          </a:bodyPr>
          <a:lstStyle/>
          <a:p>
            <a:pPr indent="0" lvl="0" marL="0" marR="0" rtl="0" algn="ctr">
              <a:lnSpc>
                <a:spcPct val="113000"/>
              </a:lnSpc>
              <a:spcBef>
                <a:spcPts val="0"/>
              </a:spcBef>
              <a:spcAft>
                <a:spcPts val="0"/>
              </a:spcAft>
              <a:buClr>
                <a:srgbClr val="38AFD8"/>
              </a:buClr>
              <a:buSzPts val="2250"/>
              <a:buFont typeface="Arial"/>
              <a:buNone/>
            </a:pPr>
            <a:r>
              <a:rPr b="1" i="0" lang="en-US" sz="2250" u="none" cap="none" strike="noStrike">
                <a:solidFill>
                  <a:srgbClr val="38AFD8"/>
                </a:solidFill>
                <a:latin typeface="Arial"/>
                <a:ea typeface="Arial"/>
                <a:cs typeface="Arial"/>
                <a:sym typeface="Arial"/>
              </a:rPr>
              <a:t>DE-RISK</a:t>
            </a:r>
            <a:endParaRPr b="0" i="0" sz="2250" u="none" cap="none" strike="noStrike">
              <a:solidFill>
                <a:schemeClr val="dk1"/>
              </a:solidFill>
              <a:latin typeface="Calibri"/>
              <a:ea typeface="Calibri"/>
              <a:cs typeface="Calibri"/>
              <a:sym typeface="Calibri"/>
            </a:endParaRPr>
          </a:p>
        </p:txBody>
      </p:sp>
      <p:sp>
        <p:nvSpPr>
          <p:cNvPr id="265" name="Google Shape;265;p12"/>
          <p:cNvSpPr/>
          <p:nvPr/>
        </p:nvSpPr>
        <p:spPr>
          <a:xfrm>
            <a:off x="11965846" y="5923881"/>
            <a:ext cx="5154980" cy="380927"/>
          </a:xfrm>
          <a:prstGeom prst="rect">
            <a:avLst/>
          </a:prstGeom>
          <a:noFill/>
          <a:ln>
            <a:noFill/>
          </a:ln>
        </p:spPr>
        <p:txBody>
          <a:bodyPr anchorCtr="0" anchor="t" bIns="25400" lIns="25400" spcFirstLastPara="1" rIns="25400" wrap="square" tIns="25400">
            <a:normAutofit/>
          </a:bodyPr>
          <a:lstStyle/>
          <a:p>
            <a:pPr indent="0" lvl="0" marL="0" marR="0" rtl="0" algn="ctr">
              <a:lnSpc>
                <a:spcPct val="104000"/>
              </a:lnSpc>
              <a:spcBef>
                <a:spcPts val="0"/>
              </a:spcBef>
              <a:spcAft>
                <a:spcPts val="0"/>
              </a:spcAft>
              <a:buClr>
                <a:srgbClr val="0A1522"/>
              </a:buClr>
              <a:buSzPts val="2250"/>
              <a:buFont typeface="Arial"/>
              <a:buNone/>
            </a:pPr>
            <a:r>
              <a:rPr b="1" i="0" lang="en-US" sz="2250" u="none" cap="none" strike="noStrike">
                <a:solidFill>
                  <a:srgbClr val="0A1522"/>
                </a:solidFill>
                <a:latin typeface="Arial"/>
                <a:ea typeface="Arial"/>
                <a:cs typeface="Arial"/>
                <a:sym typeface="Arial"/>
              </a:rPr>
              <a:t>Define a candidate operating window</a:t>
            </a:r>
            <a:endParaRPr b="0" i="0" sz="2250" u="none" cap="none" strike="noStrike">
              <a:solidFill>
                <a:schemeClr val="dk1"/>
              </a:solidFill>
              <a:latin typeface="Calibri"/>
              <a:ea typeface="Calibri"/>
              <a:cs typeface="Calibri"/>
              <a:sym typeface="Calibri"/>
            </a:endParaRPr>
          </a:p>
        </p:txBody>
      </p:sp>
      <p:sp>
        <p:nvSpPr>
          <p:cNvPr id="266" name="Google Shape;266;p12"/>
          <p:cNvSpPr/>
          <p:nvPr/>
        </p:nvSpPr>
        <p:spPr>
          <a:xfrm>
            <a:off x="12059855" y="6361923"/>
            <a:ext cx="4966961" cy="1093996"/>
          </a:xfrm>
          <a:prstGeom prst="rect">
            <a:avLst/>
          </a:prstGeom>
          <a:noFill/>
          <a:ln>
            <a:noFill/>
          </a:ln>
        </p:spPr>
        <p:txBody>
          <a:bodyPr anchorCtr="0" anchor="t" bIns="25400" lIns="25400" spcFirstLastPara="1" rIns="25400" wrap="square" tIns="25400">
            <a:normAutofit/>
          </a:bodyPr>
          <a:lstStyle/>
          <a:p>
            <a:pPr indent="0" lvl="0" marL="0" marR="0" rtl="0" algn="ctr">
              <a:lnSpc>
                <a:spcPct val="115000"/>
              </a:lnSpc>
              <a:spcBef>
                <a:spcPts val="0"/>
              </a:spcBef>
              <a:spcAft>
                <a:spcPts val="0"/>
              </a:spcAft>
              <a:buClr>
                <a:srgbClr val="2E3A46"/>
              </a:buClr>
              <a:buSzPts val="2100"/>
              <a:buFont typeface="Arial"/>
              <a:buNone/>
            </a:pPr>
            <a:r>
              <a:rPr b="0" i="0" lang="en-US" sz="2100" u="none" cap="none" strike="noStrike">
                <a:solidFill>
                  <a:srgbClr val="2E3A46"/>
                </a:solidFill>
                <a:latin typeface="Arial"/>
                <a:ea typeface="Arial"/>
                <a:cs typeface="Arial"/>
                <a:sym typeface="Arial"/>
              </a:rPr>
              <a:t>Identify supported ranges, important interactions and evidence gaps before formal process characterization.</a:t>
            </a:r>
            <a:endParaRPr b="0" i="0" sz="2100" u="none" cap="none" strike="noStrike">
              <a:solidFill>
                <a:schemeClr val="dk1"/>
              </a:solidFill>
              <a:latin typeface="Calibri"/>
              <a:ea typeface="Calibri"/>
              <a:cs typeface="Calibri"/>
              <a:sym typeface="Calibri"/>
            </a:endParaRPr>
          </a:p>
        </p:txBody>
      </p:sp>
      <p:sp>
        <p:nvSpPr>
          <p:cNvPr id="267" name="Google Shape;267;p12"/>
          <p:cNvSpPr/>
          <p:nvPr/>
        </p:nvSpPr>
        <p:spPr>
          <a:xfrm>
            <a:off x="1047715" y="8379807"/>
            <a:ext cx="16192499" cy="959637"/>
          </a:xfrm>
          <a:prstGeom prst="rect">
            <a:avLst/>
          </a:prstGeom>
          <a:solidFill>
            <a:srgbClr val="38AFD8">
              <a:alpha val="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2"/>
          <p:cNvSpPr/>
          <p:nvPr/>
        </p:nvSpPr>
        <p:spPr>
          <a:xfrm>
            <a:off x="1047715" y="9333873"/>
            <a:ext cx="16192499" cy="9525"/>
          </a:xfrm>
          <a:prstGeom prst="rect">
            <a:avLst/>
          </a:prstGeom>
          <a:solidFill>
            <a:srgbClr val="38AFD8">
              <a:alpha val="2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2"/>
          <p:cNvSpPr/>
          <p:nvPr/>
        </p:nvSpPr>
        <p:spPr>
          <a:xfrm>
            <a:off x="1047715" y="8379807"/>
            <a:ext cx="16192499" cy="9525"/>
          </a:xfrm>
          <a:prstGeom prst="rect">
            <a:avLst/>
          </a:prstGeom>
          <a:solidFill>
            <a:srgbClr val="38AFD8">
              <a:alpha val="2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2"/>
          <p:cNvSpPr/>
          <p:nvPr/>
        </p:nvSpPr>
        <p:spPr>
          <a:xfrm>
            <a:off x="804828" y="8537773"/>
            <a:ext cx="16643603" cy="681803"/>
          </a:xfrm>
          <a:prstGeom prst="rect">
            <a:avLst/>
          </a:prstGeom>
          <a:noFill/>
          <a:ln>
            <a:noFill/>
          </a:ln>
        </p:spPr>
        <p:txBody>
          <a:bodyPr anchorCtr="0" anchor="t" bIns="25400" lIns="25400" spcFirstLastPara="1" rIns="25400" wrap="square" tIns="25400">
            <a:normAutofit/>
          </a:bodyPr>
          <a:lstStyle/>
          <a:p>
            <a:pPr indent="0" lvl="0" marL="0" marR="0" rtl="0" algn="ctr">
              <a:lnSpc>
                <a:spcPct val="116000"/>
              </a:lnSpc>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ACROSS ALL THREE, TRELLIS AGENTS ORCHESTRATE THE SAME SCIENTIST-APPROVED, MODEL-GUIDED LEARNING LOOP.</a:t>
            </a:r>
            <a:endParaRPr b="0" i="0" sz="1950" u="none" cap="none" strike="noStrike">
              <a:solidFill>
                <a:schemeClr val="dk1"/>
              </a:solidFill>
              <a:latin typeface="Calibri"/>
              <a:ea typeface="Calibri"/>
              <a:cs typeface="Calibri"/>
              <a:sym typeface="Calibri"/>
            </a:endParaRPr>
          </a:p>
        </p:txBody>
      </p:sp>
      <p:sp>
        <p:nvSpPr>
          <p:cNvPr id="271" name="Google Shape;271;p12"/>
          <p:cNvSpPr/>
          <p:nvPr/>
        </p:nvSpPr>
        <p:spPr>
          <a:xfrm>
            <a:off x="238090" y="9453719"/>
            <a:ext cx="17811749" cy="299898"/>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0A1522"/>
              </a:buClr>
              <a:buSzPts val="1800"/>
              <a:buFont typeface="Arial"/>
              <a:buNone/>
            </a:pPr>
            <a:r>
              <a:rPr b="0" i="1" lang="en-US" sz="1800" u="none" cap="none" strike="noStrike">
                <a:solidFill>
                  <a:srgbClr val="0A1522"/>
                </a:solidFill>
                <a:latin typeface="Arial"/>
                <a:ea typeface="Arial"/>
                <a:cs typeface="Arial"/>
                <a:sym typeface="Arial"/>
              </a:rPr>
              <a:t>Illustrative applications — not customer results.</a:t>
            </a:r>
            <a:endParaRPr b="0" i="0" sz="1800" u="none" cap="none" strike="noStrike">
              <a:solidFill>
                <a:schemeClr val="dk1"/>
              </a:solidFill>
              <a:latin typeface="Calibri"/>
              <a:ea typeface="Calibri"/>
              <a:cs typeface="Calibri"/>
              <a:sym typeface="Calibri"/>
            </a:endParaRPr>
          </a:p>
        </p:txBody>
      </p:sp>
      <p:pic>
        <p:nvPicPr>
          <p:cNvPr descr="preencoded.png" id="272" name="Google Shape;272;p12"/>
          <p:cNvPicPr preferRelativeResize="0"/>
          <p:nvPr/>
        </p:nvPicPr>
        <p:blipFill rotWithShape="1">
          <a:blip r:embed="rId6">
            <a:alphaModFix amt="72000"/>
          </a:blip>
          <a:srcRect b="0" l="0" r="0" t="0"/>
          <a:stretch/>
        </p:blipFill>
        <p:spPr>
          <a:xfrm>
            <a:off x="1047715" y="9772699"/>
            <a:ext cx="1317434" cy="38094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13"/>
          <p:cNvSpPr/>
          <p:nvPr/>
        </p:nvSpPr>
        <p:spPr>
          <a:xfrm>
            <a:off x="1047715" y="628647"/>
            <a:ext cx="17779745" cy="335321"/>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TEAM</a:t>
            </a:r>
            <a:endParaRPr b="0" i="0" sz="1800" u="none" cap="none" strike="noStrike">
              <a:solidFill>
                <a:schemeClr val="dk1"/>
              </a:solidFill>
              <a:latin typeface="Calibri"/>
              <a:ea typeface="Calibri"/>
              <a:cs typeface="Calibri"/>
              <a:sym typeface="Calibri"/>
            </a:endParaRPr>
          </a:p>
        </p:txBody>
      </p:sp>
      <p:sp>
        <p:nvSpPr>
          <p:cNvPr id="279" name="Google Shape;279;p13"/>
          <p:cNvSpPr/>
          <p:nvPr/>
        </p:nvSpPr>
        <p:spPr>
          <a:xfrm>
            <a:off x="1047715" y="1097237"/>
            <a:ext cx="15893343" cy="1072064"/>
          </a:xfrm>
          <a:prstGeom prst="rect">
            <a:avLst/>
          </a:prstGeom>
          <a:noFill/>
          <a:ln>
            <a:noFill/>
          </a:ln>
        </p:spPr>
        <p:txBody>
          <a:bodyPr anchorCtr="0" anchor="t" bIns="25400" lIns="25400" spcFirstLastPara="1" rIns="25400" wrap="square" tIns="25400">
            <a:normAutofit/>
          </a:bodyPr>
          <a:lstStyle/>
          <a:p>
            <a:pPr indent="0" lvl="0" marL="0" marR="0" rtl="0" algn="l">
              <a:lnSpc>
                <a:spcPct val="94000"/>
              </a:lnSpc>
              <a:spcBef>
                <a:spcPts val="0"/>
              </a:spcBef>
              <a:spcAft>
                <a:spcPts val="0"/>
              </a:spcAft>
              <a:buClr>
                <a:srgbClr val="0A1522"/>
              </a:buClr>
              <a:buSzPts val="3600"/>
              <a:buFont typeface="Georgia"/>
              <a:buNone/>
            </a:pPr>
            <a:r>
              <a:rPr b="0" i="0" lang="en-US" sz="3600" u="none" cap="none" strike="noStrike">
                <a:solidFill>
                  <a:srgbClr val="0A1522"/>
                </a:solidFill>
                <a:latin typeface="Georgia"/>
                <a:ea typeface="Georgia"/>
                <a:cs typeface="Georgia"/>
                <a:sym typeface="Georgia"/>
              </a:rPr>
              <a:t>Your scientists will work directly with the </a:t>
            </a:r>
            <a:r>
              <a:rPr b="0" i="1" lang="en-US" sz="3600" u="none" cap="none" strike="noStrike">
                <a:solidFill>
                  <a:srgbClr val="38AFD8"/>
                </a:solidFill>
                <a:latin typeface="Georgia"/>
                <a:ea typeface="Georgia"/>
                <a:cs typeface="Georgia"/>
                <a:sym typeface="Georgia"/>
              </a:rPr>
              <a:t>multidisciplinary team </a:t>
            </a:r>
            <a:r>
              <a:rPr b="0" i="0" lang="en-US" sz="3600" u="none" cap="none" strike="noStrike">
                <a:solidFill>
                  <a:srgbClr val="0A1522"/>
                </a:solidFill>
                <a:latin typeface="Georgia"/>
                <a:ea typeface="Georgia"/>
                <a:cs typeface="Georgia"/>
                <a:sym typeface="Georgia"/>
              </a:rPr>
              <a:t>building Trellis</a:t>
            </a:r>
            <a:endParaRPr b="0" i="0" sz="3600" u="none" cap="none" strike="noStrike">
              <a:solidFill>
                <a:schemeClr val="dk1"/>
              </a:solidFill>
              <a:latin typeface="Calibri"/>
              <a:ea typeface="Calibri"/>
              <a:cs typeface="Calibri"/>
              <a:sym typeface="Calibri"/>
            </a:endParaRPr>
          </a:p>
        </p:txBody>
      </p:sp>
      <p:sp>
        <p:nvSpPr>
          <p:cNvPr id="280" name="Google Shape;280;p13"/>
          <p:cNvSpPr/>
          <p:nvPr/>
        </p:nvSpPr>
        <p:spPr>
          <a:xfrm>
            <a:off x="1047715" y="2245477"/>
            <a:ext cx="16344862" cy="382668"/>
          </a:xfrm>
          <a:prstGeom prst="rect">
            <a:avLst/>
          </a:prstGeom>
          <a:noFill/>
          <a:ln>
            <a:noFill/>
          </a:ln>
        </p:spPr>
        <p:txBody>
          <a:bodyPr anchorCtr="0" anchor="t" bIns="25400" lIns="25400" spcFirstLastPara="1" rIns="25400" wrap="square" tIns="25400">
            <a:normAutofit/>
          </a:bodyPr>
          <a:lstStyle/>
          <a:p>
            <a:pPr indent="0" lvl="0" marL="0" marR="0" rtl="0" algn="l">
              <a:lnSpc>
                <a:spcPct val="115000"/>
              </a:lnSpc>
              <a:spcBef>
                <a:spcPts val="0"/>
              </a:spcBef>
              <a:spcAft>
                <a:spcPts val="0"/>
              </a:spcAft>
              <a:buClr>
                <a:srgbClr val="0A1522"/>
              </a:buClr>
              <a:buSzPts val="2025"/>
              <a:buFont typeface="Arial"/>
              <a:buNone/>
            </a:pPr>
            <a:r>
              <a:rPr b="0" i="0" lang="en-US" sz="2025" u="none" cap="none" strike="noStrike">
                <a:solidFill>
                  <a:srgbClr val="0A1522"/>
                </a:solidFill>
                <a:latin typeface="Arial"/>
                <a:ea typeface="Arial"/>
                <a:cs typeface="Arial"/>
                <a:sym typeface="Arial"/>
              </a:rPr>
              <a:t>We combine bioprocess science, computational modelling, AI and software engineering across the complete development workflow.</a:t>
            </a:r>
            <a:endParaRPr b="0" i="0" sz="2025" u="none" cap="none" strike="noStrike">
              <a:solidFill>
                <a:schemeClr val="dk1"/>
              </a:solidFill>
              <a:latin typeface="Calibri"/>
              <a:ea typeface="Calibri"/>
              <a:cs typeface="Calibri"/>
              <a:sym typeface="Calibri"/>
            </a:endParaRPr>
          </a:p>
        </p:txBody>
      </p:sp>
      <p:sp>
        <p:nvSpPr>
          <p:cNvPr id="281" name="Google Shape;281;p13"/>
          <p:cNvSpPr/>
          <p:nvPr/>
        </p:nvSpPr>
        <p:spPr>
          <a:xfrm>
            <a:off x="1047715" y="2780475"/>
            <a:ext cx="2081980" cy="35716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0A1522"/>
              </a:buClr>
              <a:buSzPts val="1875"/>
              <a:buFont typeface="Arial"/>
              <a:buNone/>
            </a:pPr>
            <a:r>
              <a:rPr b="1" i="0" lang="en-US" sz="1875" u="none" cap="none" strike="noStrike">
                <a:solidFill>
                  <a:srgbClr val="0A1522"/>
                </a:solidFill>
                <a:latin typeface="Arial"/>
                <a:ea typeface="Arial"/>
                <a:cs typeface="Arial"/>
                <a:sym typeface="Arial"/>
              </a:rPr>
              <a:t>LEADERSHIP</a:t>
            </a:r>
            <a:endParaRPr b="0" i="0" sz="1875" u="none" cap="none" strike="noStrike">
              <a:solidFill>
                <a:schemeClr val="dk1"/>
              </a:solidFill>
              <a:latin typeface="Calibri"/>
              <a:ea typeface="Calibri"/>
              <a:cs typeface="Calibri"/>
              <a:sym typeface="Calibri"/>
            </a:endParaRPr>
          </a:p>
        </p:txBody>
      </p:sp>
      <p:sp>
        <p:nvSpPr>
          <p:cNvPr id="282" name="Google Shape;282;p13"/>
          <p:cNvSpPr/>
          <p:nvPr/>
        </p:nvSpPr>
        <p:spPr>
          <a:xfrm>
            <a:off x="3180222" y="2935221"/>
            <a:ext cx="14059993" cy="9525"/>
          </a:xfrm>
          <a:prstGeom prst="rect">
            <a:avLst/>
          </a:prstGeom>
          <a:solidFill>
            <a:srgbClr val="0A1522">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3"/>
          <p:cNvSpPr/>
          <p:nvPr/>
        </p:nvSpPr>
        <p:spPr>
          <a:xfrm>
            <a:off x="1047715" y="3289972"/>
            <a:ext cx="7962913" cy="1973148"/>
          </a:xfrm>
          <a:prstGeom prst="roundRect">
            <a:avLst>
              <a:gd fmla="val 8689" name="adj"/>
            </a:avLst>
          </a:prstGeom>
          <a:solidFill>
            <a:srgbClr val="F1F3F5"/>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3"/>
          <p:cNvSpPr/>
          <p:nvPr/>
        </p:nvSpPr>
        <p:spPr>
          <a:xfrm>
            <a:off x="1319958" y="3505033"/>
            <a:ext cx="1543026" cy="1543026"/>
          </a:xfrm>
          <a:prstGeom prst="ellipse">
            <a:avLst/>
          </a:prstGeom>
          <a:solidFill>
            <a:srgbClr val="E6E9EC"/>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5" name="Google Shape;285;p13"/>
          <p:cNvPicPr preferRelativeResize="0"/>
          <p:nvPr/>
        </p:nvPicPr>
        <p:blipFill rotWithShape="1">
          <a:blip r:embed="rId3">
            <a:alphaModFix/>
          </a:blip>
          <a:srcRect b="0" l="0" r="0" t="0"/>
          <a:stretch/>
        </p:blipFill>
        <p:spPr>
          <a:xfrm>
            <a:off x="1233615" y="3462808"/>
            <a:ext cx="1715711" cy="1715712"/>
          </a:xfrm>
          <a:prstGeom prst="rect">
            <a:avLst/>
          </a:prstGeom>
          <a:noFill/>
          <a:ln>
            <a:noFill/>
          </a:ln>
        </p:spPr>
      </p:pic>
      <p:sp>
        <p:nvSpPr>
          <p:cNvPr id="286" name="Google Shape;286;p13">
            <a:hlinkClick r:id="rId4"/>
          </p:cNvPr>
          <p:cNvSpPr/>
          <p:nvPr/>
        </p:nvSpPr>
        <p:spPr>
          <a:xfrm>
            <a:off x="3110595" y="3584582"/>
            <a:ext cx="6190571" cy="407211"/>
          </a:xfrm>
          <a:prstGeom prst="rect">
            <a:avLst/>
          </a:prstGeom>
          <a:noFill/>
          <a:ln>
            <a:noFill/>
          </a:ln>
        </p:spPr>
        <p:txBody>
          <a:bodyPr anchorCtr="0" anchor="t" bIns="25400" lIns="25400" spcFirstLastPara="1" rIns="25400" wrap="square" tIns="25400">
            <a:normAutofit/>
          </a:bodyPr>
          <a:lstStyle/>
          <a:p>
            <a:pPr indent="0" lvl="0" marL="0" marR="0" rtl="0" algn="l">
              <a:lnSpc>
                <a:spcPct val="99000"/>
              </a:lnSpc>
              <a:spcBef>
                <a:spcPts val="0"/>
              </a:spcBef>
              <a:spcAft>
                <a:spcPts val="0"/>
              </a:spcAft>
              <a:buClr>
                <a:srgbClr val="0A1522"/>
              </a:buClr>
              <a:buSzPts val="2550"/>
              <a:buFont typeface="Arial"/>
              <a:buNone/>
            </a:pPr>
            <a:r>
              <a:rPr b="1" i="0" lang="en-US" sz="2550" u="sng" cap="none" strike="noStrike">
                <a:solidFill>
                  <a:srgbClr val="0A1522"/>
                </a:solidFill>
                <a:latin typeface="Arial"/>
                <a:ea typeface="Arial"/>
                <a:cs typeface="Arial"/>
                <a:sym typeface="Arial"/>
              </a:rPr>
              <a:t>Dr. Pushkar Pendse</a:t>
            </a:r>
            <a:endParaRPr b="0" i="0" sz="2550" u="none" cap="none" strike="noStrike">
              <a:solidFill>
                <a:schemeClr val="dk1"/>
              </a:solidFill>
              <a:latin typeface="Calibri"/>
              <a:ea typeface="Calibri"/>
              <a:cs typeface="Calibri"/>
              <a:sym typeface="Calibri"/>
            </a:endParaRPr>
          </a:p>
        </p:txBody>
      </p:sp>
      <p:sp>
        <p:nvSpPr>
          <p:cNvPr id="287" name="Google Shape;287;p13"/>
          <p:cNvSpPr/>
          <p:nvPr/>
        </p:nvSpPr>
        <p:spPr>
          <a:xfrm>
            <a:off x="3110595" y="4010787"/>
            <a:ext cx="6190571" cy="335234"/>
          </a:xfrm>
          <a:prstGeom prst="rect">
            <a:avLst/>
          </a:prstGeom>
          <a:noFill/>
          <a:ln>
            <a:noFill/>
          </a:ln>
        </p:spPr>
        <p:txBody>
          <a:bodyPr anchorCtr="0" anchor="t" bIns="25400" lIns="25400" spcFirstLastPara="1" rIns="25400" wrap="square" tIns="25400">
            <a:normAutofit/>
          </a:bodyPr>
          <a:lstStyle/>
          <a:p>
            <a:pPr indent="0" lvl="0" marL="0" marR="0" rtl="0" algn="l">
              <a:lnSpc>
                <a:spcPct val="107000"/>
              </a:lnSpc>
              <a:spcBef>
                <a:spcPts val="0"/>
              </a:spcBef>
              <a:spcAft>
                <a:spcPts val="0"/>
              </a:spcAft>
              <a:buClr>
                <a:srgbClr val="38AFD8"/>
              </a:buClr>
              <a:buSzPts val="1950"/>
              <a:buFont typeface="Arial"/>
              <a:buNone/>
            </a:pPr>
            <a:r>
              <a:rPr b="1" i="0" lang="en-US" sz="1950" u="none" cap="none" strike="noStrike">
                <a:solidFill>
                  <a:srgbClr val="38AFD8"/>
                </a:solidFill>
                <a:latin typeface="Arial"/>
                <a:ea typeface="Arial"/>
                <a:cs typeface="Arial"/>
                <a:sym typeface="Arial"/>
              </a:rPr>
              <a:t>CEO</a:t>
            </a:r>
            <a:endParaRPr b="0" i="0" sz="1950" u="none" cap="none" strike="noStrike">
              <a:solidFill>
                <a:schemeClr val="dk1"/>
              </a:solidFill>
              <a:latin typeface="Calibri"/>
              <a:ea typeface="Calibri"/>
              <a:cs typeface="Calibri"/>
              <a:sym typeface="Calibri"/>
            </a:endParaRPr>
          </a:p>
        </p:txBody>
      </p:sp>
      <p:sp>
        <p:nvSpPr>
          <p:cNvPr id="288" name="Google Shape;288;p13"/>
          <p:cNvSpPr/>
          <p:nvPr/>
        </p:nvSpPr>
        <p:spPr>
          <a:xfrm>
            <a:off x="3110595" y="4365016"/>
            <a:ext cx="5796626" cy="641594"/>
          </a:xfrm>
          <a:prstGeom prst="rect">
            <a:avLst/>
          </a:prstGeom>
          <a:noFill/>
          <a:ln>
            <a:noFill/>
          </a:ln>
        </p:spPr>
        <p:txBody>
          <a:bodyPr anchorCtr="0" anchor="t" bIns="25400" lIns="25400" spcFirstLastPara="1" rIns="25400" wrap="square" tIns="25400">
            <a:normAutofit/>
          </a:bodyPr>
          <a:lstStyle/>
          <a:p>
            <a:pPr indent="0" lvl="0" marL="0" marR="0" rtl="0" algn="l">
              <a:lnSpc>
                <a:spcPct val="115000"/>
              </a:lnSpc>
              <a:spcBef>
                <a:spcPts val="0"/>
              </a:spcBef>
              <a:spcAft>
                <a:spcPts val="0"/>
              </a:spcAft>
              <a:buClr>
                <a:srgbClr val="0A1522"/>
              </a:buClr>
              <a:buSzPts val="1800"/>
              <a:buFont typeface="Arial"/>
              <a:buNone/>
            </a:pPr>
            <a:r>
              <a:rPr b="0" i="0" lang="en-US" sz="1800" u="none" cap="none" strike="noStrike">
                <a:solidFill>
                  <a:srgbClr val="0A1522"/>
                </a:solidFill>
                <a:latin typeface="Arial"/>
                <a:ea typeface="Arial"/>
                <a:cs typeface="Arial"/>
                <a:sym typeface="Arial"/>
              </a:rPr>
              <a:t>Bioprocess strategy · Process engineering · Pharmaceutical manufacturing</a:t>
            </a:r>
            <a:endParaRPr b="0" i="0" sz="1800" u="none" cap="none" strike="noStrike">
              <a:solidFill>
                <a:schemeClr val="dk1"/>
              </a:solidFill>
              <a:latin typeface="Calibri"/>
              <a:ea typeface="Calibri"/>
              <a:cs typeface="Calibri"/>
              <a:sym typeface="Calibri"/>
            </a:endParaRPr>
          </a:p>
        </p:txBody>
      </p:sp>
      <p:sp>
        <p:nvSpPr>
          <p:cNvPr id="289" name="Google Shape;289;p13"/>
          <p:cNvSpPr/>
          <p:nvPr/>
        </p:nvSpPr>
        <p:spPr>
          <a:xfrm>
            <a:off x="9277301" y="3289972"/>
            <a:ext cx="7962913" cy="1973148"/>
          </a:xfrm>
          <a:prstGeom prst="roundRect">
            <a:avLst>
              <a:gd fmla="val 8689" name="adj"/>
            </a:avLst>
          </a:prstGeom>
          <a:solidFill>
            <a:srgbClr val="F1F3F5"/>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3"/>
          <p:cNvSpPr/>
          <p:nvPr/>
        </p:nvSpPr>
        <p:spPr>
          <a:xfrm>
            <a:off x="9549543" y="3505033"/>
            <a:ext cx="1543026" cy="1543026"/>
          </a:xfrm>
          <a:prstGeom prst="ellipse">
            <a:avLst/>
          </a:prstGeom>
          <a:solidFill>
            <a:srgbClr val="E6E9EC"/>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1" name="Google Shape;291;p13"/>
          <p:cNvPicPr preferRelativeResize="0"/>
          <p:nvPr/>
        </p:nvPicPr>
        <p:blipFill rotWithShape="1">
          <a:blip r:embed="rId5">
            <a:alphaModFix/>
          </a:blip>
          <a:srcRect b="0" l="0" r="0" t="0"/>
          <a:stretch/>
        </p:blipFill>
        <p:spPr>
          <a:xfrm>
            <a:off x="9555113" y="3510603"/>
            <a:ext cx="1531885" cy="1531885"/>
          </a:xfrm>
          <a:prstGeom prst="rect">
            <a:avLst/>
          </a:prstGeom>
          <a:noFill/>
          <a:ln>
            <a:noFill/>
          </a:ln>
        </p:spPr>
      </p:pic>
      <p:sp>
        <p:nvSpPr>
          <p:cNvPr id="292" name="Google Shape;292;p13">
            <a:hlinkClick r:id="rId6"/>
          </p:cNvPr>
          <p:cNvSpPr/>
          <p:nvPr/>
        </p:nvSpPr>
        <p:spPr>
          <a:xfrm>
            <a:off x="11340180" y="3584582"/>
            <a:ext cx="6190571" cy="407211"/>
          </a:xfrm>
          <a:prstGeom prst="rect">
            <a:avLst/>
          </a:prstGeom>
          <a:noFill/>
          <a:ln>
            <a:noFill/>
          </a:ln>
        </p:spPr>
        <p:txBody>
          <a:bodyPr anchorCtr="0" anchor="t" bIns="25400" lIns="25400" spcFirstLastPara="1" rIns="25400" wrap="square" tIns="25400">
            <a:normAutofit/>
          </a:bodyPr>
          <a:lstStyle/>
          <a:p>
            <a:pPr indent="0" lvl="0" marL="0" marR="0" rtl="0" algn="l">
              <a:lnSpc>
                <a:spcPct val="99000"/>
              </a:lnSpc>
              <a:spcBef>
                <a:spcPts val="0"/>
              </a:spcBef>
              <a:spcAft>
                <a:spcPts val="0"/>
              </a:spcAft>
              <a:buClr>
                <a:srgbClr val="0A1522"/>
              </a:buClr>
              <a:buSzPts val="2550"/>
              <a:buFont typeface="Arial"/>
              <a:buNone/>
            </a:pPr>
            <a:r>
              <a:rPr b="1" i="0" lang="en-US" sz="2550" u="sng" cap="none" strike="noStrike">
                <a:solidFill>
                  <a:srgbClr val="0A1522"/>
                </a:solidFill>
                <a:latin typeface="Arial"/>
                <a:ea typeface="Arial"/>
                <a:cs typeface="Arial"/>
                <a:sym typeface="Arial"/>
              </a:rPr>
              <a:t>Dr. Shilpa Nargund</a:t>
            </a:r>
            <a:endParaRPr b="0" i="0" sz="2550" u="none" cap="none" strike="noStrike">
              <a:solidFill>
                <a:schemeClr val="dk1"/>
              </a:solidFill>
              <a:latin typeface="Calibri"/>
              <a:ea typeface="Calibri"/>
              <a:cs typeface="Calibri"/>
              <a:sym typeface="Calibri"/>
            </a:endParaRPr>
          </a:p>
        </p:txBody>
      </p:sp>
      <p:sp>
        <p:nvSpPr>
          <p:cNvPr id="293" name="Google Shape;293;p13"/>
          <p:cNvSpPr/>
          <p:nvPr/>
        </p:nvSpPr>
        <p:spPr>
          <a:xfrm>
            <a:off x="11340180" y="4010787"/>
            <a:ext cx="6190571" cy="335234"/>
          </a:xfrm>
          <a:prstGeom prst="rect">
            <a:avLst/>
          </a:prstGeom>
          <a:noFill/>
          <a:ln>
            <a:noFill/>
          </a:ln>
        </p:spPr>
        <p:txBody>
          <a:bodyPr anchorCtr="0" anchor="t" bIns="25400" lIns="25400" spcFirstLastPara="1" rIns="25400" wrap="square" tIns="25400">
            <a:normAutofit/>
          </a:bodyPr>
          <a:lstStyle/>
          <a:p>
            <a:pPr indent="0" lvl="0" marL="0" marR="0" rtl="0" algn="l">
              <a:lnSpc>
                <a:spcPct val="107000"/>
              </a:lnSpc>
              <a:spcBef>
                <a:spcPts val="0"/>
              </a:spcBef>
              <a:spcAft>
                <a:spcPts val="0"/>
              </a:spcAft>
              <a:buClr>
                <a:srgbClr val="38AFD8"/>
              </a:buClr>
              <a:buSzPts val="1950"/>
              <a:buFont typeface="Arial"/>
              <a:buNone/>
            </a:pPr>
            <a:r>
              <a:rPr b="1" i="0" lang="en-US" sz="1950" u="none" cap="none" strike="noStrike">
                <a:solidFill>
                  <a:srgbClr val="38AFD8"/>
                </a:solidFill>
                <a:latin typeface="Arial"/>
                <a:ea typeface="Arial"/>
                <a:cs typeface="Arial"/>
                <a:sym typeface="Arial"/>
              </a:rPr>
              <a:t>CTO</a:t>
            </a:r>
            <a:endParaRPr b="0" i="0" sz="1950" u="none" cap="none" strike="noStrike">
              <a:solidFill>
                <a:schemeClr val="dk1"/>
              </a:solidFill>
              <a:latin typeface="Calibri"/>
              <a:ea typeface="Calibri"/>
              <a:cs typeface="Calibri"/>
              <a:sym typeface="Calibri"/>
            </a:endParaRPr>
          </a:p>
        </p:txBody>
      </p:sp>
      <p:sp>
        <p:nvSpPr>
          <p:cNvPr id="294" name="Google Shape;294;p13"/>
          <p:cNvSpPr/>
          <p:nvPr/>
        </p:nvSpPr>
        <p:spPr>
          <a:xfrm>
            <a:off x="11340180" y="4365016"/>
            <a:ext cx="5796626" cy="641594"/>
          </a:xfrm>
          <a:prstGeom prst="rect">
            <a:avLst/>
          </a:prstGeom>
          <a:noFill/>
          <a:ln>
            <a:noFill/>
          </a:ln>
        </p:spPr>
        <p:txBody>
          <a:bodyPr anchorCtr="0" anchor="t" bIns="25400" lIns="25400" spcFirstLastPara="1" rIns="25400" wrap="square" tIns="25400">
            <a:normAutofit/>
          </a:bodyPr>
          <a:lstStyle/>
          <a:p>
            <a:pPr indent="0" lvl="0" marL="0" marR="0" rtl="0" algn="l">
              <a:lnSpc>
                <a:spcPct val="115000"/>
              </a:lnSpc>
              <a:spcBef>
                <a:spcPts val="0"/>
              </a:spcBef>
              <a:spcAft>
                <a:spcPts val="0"/>
              </a:spcAft>
              <a:buClr>
                <a:srgbClr val="0A1522"/>
              </a:buClr>
              <a:buSzPts val="1800"/>
              <a:buFont typeface="Arial"/>
              <a:buNone/>
            </a:pPr>
            <a:r>
              <a:rPr b="0" i="0" lang="en-US" sz="1800" u="none" cap="none" strike="noStrike">
                <a:solidFill>
                  <a:srgbClr val="0A1522"/>
                </a:solidFill>
                <a:latin typeface="Arial"/>
                <a:ea typeface="Arial"/>
                <a:cs typeface="Arial"/>
                <a:sym typeface="Arial"/>
              </a:rPr>
              <a:t>Bioprocess modelling &amp; digital twins · Scientific product development</a:t>
            </a:r>
            <a:endParaRPr b="0" i="0" sz="1800" u="none" cap="none" strike="noStrike">
              <a:solidFill>
                <a:schemeClr val="dk1"/>
              </a:solidFill>
              <a:latin typeface="Calibri"/>
              <a:ea typeface="Calibri"/>
              <a:cs typeface="Calibri"/>
              <a:sym typeface="Calibri"/>
            </a:endParaRPr>
          </a:p>
        </p:txBody>
      </p:sp>
      <p:sp>
        <p:nvSpPr>
          <p:cNvPr id="295" name="Google Shape;295;p13"/>
          <p:cNvSpPr/>
          <p:nvPr/>
        </p:nvSpPr>
        <p:spPr>
          <a:xfrm>
            <a:off x="1047715" y="5453550"/>
            <a:ext cx="2860612" cy="35716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0A1522"/>
              </a:buClr>
              <a:buSzPts val="1875"/>
              <a:buFont typeface="Arial"/>
              <a:buNone/>
            </a:pPr>
            <a:r>
              <a:rPr b="1" i="0" lang="en-US" sz="1875" u="none" cap="none" strike="noStrike">
                <a:solidFill>
                  <a:srgbClr val="0A1522"/>
                </a:solidFill>
                <a:latin typeface="Arial"/>
                <a:ea typeface="Arial"/>
                <a:cs typeface="Arial"/>
                <a:sym typeface="Arial"/>
              </a:rPr>
              <a:t>TECHNICAL TEAM</a:t>
            </a:r>
            <a:endParaRPr b="0" i="0" sz="1875" u="none" cap="none" strike="noStrike">
              <a:solidFill>
                <a:schemeClr val="dk1"/>
              </a:solidFill>
              <a:latin typeface="Calibri"/>
              <a:ea typeface="Calibri"/>
              <a:cs typeface="Calibri"/>
              <a:sym typeface="Calibri"/>
            </a:endParaRPr>
          </a:p>
        </p:txBody>
      </p:sp>
      <p:sp>
        <p:nvSpPr>
          <p:cNvPr id="296" name="Google Shape;296;p13"/>
          <p:cNvSpPr/>
          <p:nvPr/>
        </p:nvSpPr>
        <p:spPr>
          <a:xfrm>
            <a:off x="3888069" y="5608296"/>
            <a:ext cx="13352145" cy="9525"/>
          </a:xfrm>
          <a:prstGeom prst="rect">
            <a:avLst/>
          </a:prstGeom>
          <a:solidFill>
            <a:srgbClr val="0A1522">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13"/>
          <p:cNvSpPr/>
          <p:nvPr/>
        </p:nvSpPr>
        <p:spPr>
          <a:xfrm>
            <a:off x="1047715" y="5963046"/>
            <a:ext cx="5245103" cy="1977760"/>
          </a:xfrm>
          <a:prstGeom prst="roundRect">
            <a:avLst>
              <a:gd fmla="val 7706" name="adj"/>
            </a:avLst>
          </a:prstGeom>
          <a:solidFill>
            <a:srgbClr val="FFFFFF"/>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3"/>
          <p:cNvSpPr/>
          <p:nvPr/>
        </p:nvSpPr>
        <p:spPr>
          <a:xfrm>
            <a:off x="1300897" y="6361401"/>
            <a:ext cx="1181051" cy="1181051"/>
          </a:xfrm>
          <a:prstGeom prst="ellipse">
            <a:avLst/>
          </a:prstGeom>
          <a:solidFill>
            <a:srgbClr val="F1F3F5"/>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9" name="Google Shape;299;p13"/>
          <p:cNvPicPr preferRelativeResize="0"/>
          <p:nvPr/>
        </p:nvPicPr>
        <p:blipFill rotWithShape="1">
          <a:blip r:embed="rId7">
            <a:alphaModFix/>
          </a:blip>
          <a:srcRect b="0" l="0" r="0" t="0"/>
          <a:stretch/>
        </p:blipFill>
        <p:spPr>
          <a:xfrm>
            <a:off x="1306467" y="6366971"/>
            <a:ext cx="1169911" cy="1169911"/>
          </a:xfrm>
          <a:prstGeom prst="rect">
            <a:avLst/>
          </a:prstGeom>
          <a:noFill/>
          <a:ln>
            <a:noFill/>
          </a:ln>
        </p:spPr>
      </p:pic>
      <p:sp>
        <p:nvSpPr>
          <p:cNvPr id="300" name="Google Shape;300;p13">
            <a:hlinkClick r:id="rId8"/>
          </p:cNvPr>
          <p:cNvSpPr/>
          <p:nvPr/>
        </p:nvSpPr>
        <p:spPr>
          <a:xfrm>
            <a:off x="2691439" y="6315273"/>
            <a:ext cx="3683017" cy="347419"/>
          </a:xfrm>
          <a:prstGeom prst="rect">
            <a:avLst/>
          </a:prstGeom>
          <a:noFill/>
          <a:ln>
            <a:noFill/>
          </a:ln>
        </p:spPr>
        <p:txBody>
          <a:bodyPr anchorCtr="0" anchor="t" bIns="25400" lIns="25400" spcFirstLastPara="1" rIns="25400" wrap="square" tIns="25400">
            <a:normAutofit/>
          </a:bodyPr>
          <a:lstStyle/>
          <a:p>
            <a:pPr indent="0" lvl="0" marL="0" marR="0" rtl="0" algn="l">
              <a:lnSpc>
                <a:spcPct val="101000"/>
              </a:lnSpc>
              <a:spcBef>
                <a:spcPts val="0"/>
              </a:spcBef>
              <a:spcAft>
                <a:spcPts val="0"/>
              </a:spcAft>
              <a:buClr>
                <a:srgbClr val="0A1522"/>
              </a:buClr>
              <a:buSzPts val="2100"/>
              <a:buFont typeface="Arial"/>
              <a:buNone/>
            </a:pPr>
            <a:r>
              <a:rPr b="1" i="0" lang="en-US" sz="2100" u="sng" cap="none" strike="noStrike">
                <a:solidFill>
                  <a:srgbClr val="0A1522"/>
                </a:solidFill>
                <a:latin typeface="Arial"/>
                <a:ea typeface="Arial"/>
                <a:cs typeface="Arial"/>
                <a:sym typeface="Arial"/>
              </a:rPr>
              <a:t>Dr. Gaurav Deshmukh</a:t>
            </a:r>
            <a:endParaRPr b="0" i="0" sz="2100" u="none" cap="none" strike="noStrike">
              <a:solidFill>
                <a:schemeClr val="dk1"/>
              </a:solidFill>
              <a:latin typeface="Calibri"/>
              <a:ea typeface="Calibri"/>
              <a:cs typeface="Calibri"/>
              <a:sym typeface="Calibri"/>
            </a:endParaRPr>
          </a:p>
        </p:txBody>
      </p:sp>
      <p:sp>
        <p:nvSpPr>
          <p:cNvPr id="301" name="Google Shape;301;p13"/>
          <p:cNvSpPr/>
          <p:nvPr/>
        </p:nvSpPr>
        <p:spPr>
          <a:xfrm>
            <a:off x="2691439" y="6672200"/>
            <a:ext cx="3683017" cy="312431"/>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Computational Engineering</a:t>
            </a:r>
            <a:endParaRPr b="0" i="0" sz="1800" u="none" cap="none" strike="noStrike">
              <a:solidFill>
                <a:schemeClr val="dk1"/>
              </a:solidFill>
              <a:latin typeface="Calibri"/>
              <a:ea typeface="Calibri"/>
              <a:cs typeface="Calibri"/>
              <a:sym typeface="Calibri"/>
            </a:endParaRPr>
          </a:p>
        </p:txBody>
      </p:sp>
      <p:sp>
        <p:nvSpPr>
          <p:cNvPr id="302" name="Google Shape;302;p13"/>
          <p:cNvSpPr/>
          <p:nvPr/>
        </p:nvSpPr>
        <p:spPr>
          <a:xfrm>
            <a:off x="2691439" y="6994138"/>
            <a:ext cx="3448643" cy="632542"/>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0A1522"/>
              </a:buClr>
              <a:buSzPts val="1800"/>
              <a:buFont typeface="Arial"/>
              <a:buNone/>
            </a:pPr>
            <a:r>
              <a:rPr b="0" i="0" lang="en-US" sz="1800" u="none" cap="none" strike="noStrike">
                <a:solidFill>
                  <a:srgbClr val="0A1522"/>
                </a:solidFill>
                <a:latin typeface="Arial"/>
                <a:ea typeface="Arial"/>
                <a:cs typeface="Arial"/>
                <a:sym typeface="Arial"/>
              </a:rPr>
              <a:t>Mechanistic &amp; hybrid modelling · ML · Scientific computing</a:t>
            </a:r>
            <a:endParaRPr b="0" i="0" sz="1800" u="none" cap="none" strike="noStrike">
              <a:solidFill>
                <a:schemeClr val="dk1"/>
              </a:solidFill>
              <a:latin typeface="Calibri"/>
              <a:ea typeface="Calibri"/>
              <a:cs typeface="Calibri"/>
              <a:sym typeface="Calibri"/>
            </a:endParaRPr>
          </a:p>
        </p:txBody>
      </p:sp>
      <p:sp>
        <p:nvSpPr>
          <p:cNvPr id="303" name="Google Shape;303;p13"/>
          <p:cNvSpPr/>
          <p:nvPr/>
        </p:nvSpPr>
        <p:spPr>
          <a:xfrm>
            <a:off x="6521369" y="5963046"/>
            <a:ext cx="5245190" cy="1977760"/>
          </a:xfrm>
          <a:prstGeom prst="roundRect">
            <a:avLst>
              <a:gd fmla="val 7706" name="adj"/>
            </a:avLst>
          </a:prstGeom>
          <a:solidFill>
            <a:srgbClr val="FFFFFF"/>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3"/>
          <p:cNvSpPr/>
          <p:nvPr/>
        </p:nvSpPr>
        <p:spPr>
          <a:xfrm>
            <a:off x="6774552" y="6361401"/>
            <a:ext cx="1181051" cy="1181051"/>
          </a:xfrm>
          <a:prstGeom prst="ellipse">
            <a:avLst/>
          </a:prstGeom>
          <a:solidFill>
            <a:srgbClr val="F1F3F5"/>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5" name="Google Shape;305;p13"/>
          <p:cNvPicPr preferRelativeResize="0"/>
          <p:nvPr/>
        </p:nvPicPr>
        <p:blipFill rotWithShape="1">
          <a:blip r:embed="rId9">
            <a:alphaModFix/>
          </a:blip>
          <a:srcRect b="0" l="0" r="0" t="0"/>
          <a:stretch/>
        </p:blipFill>
        <p:spPr>
          <a:xfrm>
            <a:off x="6780122" y="6366971"/>
            <a:ext cx="1169911" cy="1169911"/>
          </a:xfrm>
          <a:prstGeom prst="rect">
            <a:avLst/>
          </a:prstGeom>
          <a:noFill/>
          <a:ln>
            <a:noFill/>
          </a:ln>
        </p:spPr>
      </p:pic>
      <p:sp>
        <p:nvSpPr>
          <p:cNvPr id="306" name="Google Shape;306;p13">
            <a:hlinkClick r:id="rId10"/>
          </p:cNvPr>
          <p:cNvSpPr/>
          <p:nvPr/>
        </p:nvSpPr>
        <p:spPr>
          <a:xfrm>
            <a:off x="8165093" y="6178108"/>
            <a:ext cx="3683113" cy="347419"/>
          </a:xfrm>
          <a:prstGeom prst="rect">
            <a:avLst/>
          </a:prstGeom>
          <a:noFill/>
          <a:ln>
            <a:noFill/>
          </a:ln>
        </p:spPr>
        <p:txBody>
          <a:bodyPr anchorCtr="0" anchor="t" bIns="25400" lIns="25400" spcFirstLastPara="1" rIns="25400" wrap="square" tIns="25400">
            <a:normAutofit/>
          </a:bodyPr>
          <a:lstStyle/>
          <a:p>
            <a:pPr indent="0" lvl="0" marL="0" marR="0" rtl="0" algn="l">
              <a:lnSpc>
                <a:spcPct val="101000"/>
              </a:lnSpc>
              <a:spcBef>
                <a:spcPts val="0"/>
              </a:spcBef>
              <a:spcAft>
                <a:spcPts val="0"/>
              </a:spcAft>
              <a:buClr>
                <a:srgbClr val="0A1522"/>
              </a:buClr>
              <a:buSzPts val="2100"/>
              <a:buFont typeface="Arial"/>
              <a:buNone/>
            </a:pPr>
            <a:r>
              <a:rPr b="1" i="0" lang="en-US" sz="2100" u="sng" cap="none" strike="noStrike">
                <a:solidFill>
                  <a:srgbClr val="0A1522"/>
                </a:solidFill>
                <a:latin typeface="Arial"/>
                <a:ea typeface="Arial"/>
                <a:cs typeface="Arial"/>
                <a:sym typeface="Arial"/>
              </a:rPr>
              <a:t>Anmol Goel</a:t>
            </a:r>
            <a:endParaRPr b="0" i="0" sz="2100" u="none" cap="none" strike="noStrike">
              <a:solidFill>
                <a:schemeClr val="dk1"/>
              </a:solidFill>
              <a:latin typeface="Calibri"/>
              <a:ea typeface="Calibri"/>
              <a:cs typeface="Calibri"/>
              <a:sym typeface="Calibri"/>
            </a:endParaRPr>
          </a:p>
        </p:txBody>
      </p:sp>
      <p:sp>
        <p:nvSpPr>
          <p:cNvPr id="307" name="Google Shape;307;p13"/>
          <p:cNvSpPr/>
          <p:nvPr/>
        </p:nvSpPr>
        <p:spPr>
          <a:xfrm>
            <a:off x="8165093" y="6535034"/>
            <a:ext cx="3448733" cy="586762"/>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Bioprocess Systems Engineering</a:t>
            </a:r>
            <a:endParaRPr b="0" i="0" sz="1800" u="none" cap="none" strike="noStrike">
              <a:solidFill>
                <a:schemeClr val="dk1"/>
              </a:solidFill>
              <a:latin typeface="Calibri"/>
              <a:ea typeface="Calibri"/>
              <a:cs typeface="Calibri"/>
              <a:sym typeface="Calibri"/>
            </a:endParaRPr>
          </a:p>
        </p:txBody>
      </p:sp>
      <p:sp>
        <p:nvSpPr>
          <p:cNvPr id="308" name="Google Shape;308;p13"/>
          <p:cNvSpPr/>
          <p:nvPr/>
        </p:nvSpPr>
        <p:spPr>
          <a:xfrm>
            <a:off x="8165093" y="7131304"/>
            <a:ext cx="3448733" cy="632542"/>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0A1522"/>
              </a:buClr>
              <a:buSzPts val="1800"/>
              <a:buFont typeface="Arial"/>
              <a:buNone/>
            </a:pPr>
            <a:r>
              <a:rPr b="0" i="0" lang="en-US" sz="1800" u="none" cap="none" strike="noStrike">
                <a:solidFill>
                  <a:srgbClr val="0A1522"/>
                </a:solidFill>
                <a:latin typeface="Arial"/>
                <a:ea typeface="Arial"/>
                <a:cs typeface="Arial"/>
                <a:sym typeface="Arial"/>
              </a:rPr>
              <a:t>Experimental design · Protocols · Bioprocess workflows</a:t>
            </a:r>
            <a:endParaRPr b="0" i="0" sz="1800" u="none" cap="none" strike="noStrike">
              <a:solidFill>
                <a:schemeClr val="dk1"/>
              </a:solidFill>
              <a:latin typeface="Calibri"/>
              <a:ea typeface="Calibri"/>
              <a:cs typeface="Calibri"/>
              <a:sym typeface="Calibri"/>
            </a:endParaRPr>
          </a:p>
        </p:txBody>
      </p:sp>
      <p:sp>
        <p:nvSpPr>
          <p:cNvPr id="309" name="Google Shape;309;p13"/>
          <p:cNvSpPr/>
          <p:nvPr/>
        </p:nvSpPr>
        <p:spPr>
          <a:xfrm>
            <a:off x="11995111" y="5963046"/>
            <a:ext cx="5245103" cy="1977760"/>
          </a:xfrm>
          <a:prstGeom prst="roundRect">
            <a:avLst>
              <a:gd fmla="val 7706" name="adj"/>
            </a:avLst>
          </a:prstGeom>
          <a:solidFill>
            <a:srgbClr val="FFFFFF"/>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3"/>
          <p:cNvSpPr/>
          <p:nvPr/>
        </p:nvSpPr>
        <p:spPr>
          <a:xfrm>
            <a:off x="12248293" y="6361401"/>
            <a:ext cx="1181051" cy="1181051"/>
          </a:xfrm>
          <a:prstGeom prst="ellipse">
            <a:avLst/>
          </a:prstGeom>
          <a:solidFill>
            <a:srgbClr val="F1F3F5"/>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1" name="Google Shape;311;p13"/>
          <p:cNvPicPr preferRelativeResize="0"/>
          <p:nvPr/>
        </p:nvPicPr>
        <p:blipFill rotWithShape="1">
          <a:blip r:embed="rId11">
            <a:alphaModFix/>
          </a:blip>
          <a:srcRect b="0" l="0" r="0" t="0"/>
          <a:stretch/>
        </p:blipFill>
        <p:spPr>
          <a:xfrm>
            <a:off x="12253864" y="6366971"/>
            <a:ext cx="1169911" cy="1169911"/>
          </a:xfrm>
          <a:prstGeom prst="rect">
            <a:avLst/>
          </a:prstGeom>
          <a:noFill/>
          <a:ln>
            <a:noFill/>
          </a:ln>
        </p:spPr>
      </p:pic>
      <p:sp>
        <p:nvSpPr>
          <p:cNvPr id="312" name="Google Shape;312;p13">
            <a:hlinkClick r:id="rId12"/>
          </p:cNvPr>
          <p:cNvSpPr/>
          <p:nvPr/>
        </p:nvSpPr>
        <p:spPr>
          <a:xfrm>
            <a:off x="13638835" y="6315273"/>
            <a:ext cx="3683017" cy="347419"/>
          </a:xfrm>
          <a:prstGeom prst="rect">
            <a:avLst/>
          </a:prstGeom>
          <a:noFill/>
          <a:ln>
            <a:noFill/>
          </a:ln>
        </p:spPr>
        <p:txBody>
          <a:bodyPr anchorCtr="0" anchor="t" bIns="25400" lIns="25400" spcFirstLastPara="1" rIns="25400" wrap="square" tIns="25400">
            <a:normAutofit/>
          </a:bodyPr>
          <a:lstStyle/>
          <a:p>
            <a:pPr indent="0" lvl="0" marL="0" marR="0" rtl="0" algn="l">
              <a:lnSpc>
                <a:spcPct val="101000"/>
              </a:lnSpc>
              <a:spcBef>
                <a:spcPts val="0"/>
              </a:spcBef>
              <a:spcAft>
                <a:spcPts val="0"/>
              </a:spcAft>
              <a:buClr>
                <a:srgbClr val="0A1522"/>
              </a:buClr>
              <a:buSzPts val="2100"/>
              <a:buFont typeface="Arial"/>
              <a:buNone/>
            </a:pPr>
            <a:r>
              <a:rPr b="1" i="0" lang="en-US" sz="2100" u="sng" cap="none" strike="noStrike">
                <a:solidFill>
                  <a:srgbClr val="0A1522"/>
                </a:solidFill>
                <a:latin typeface="Arial"/>
                <a:ea typeface="Arial"/>
                <a:cs typeface="Arial"/>
                <a:sym typeface="Arial"/>
              </a:rPr>
              <a:t>Nikhil Bhamwani</a:t>
            </a:r>
            <a:endParaRPr b="0" i="0" sz="2100" u="none" cap="none" strike="noStrike">
              <a:solidFill>
                <a:schemeClr val="dk1"/>
              </a:solidFill>
              <a:latin typeface="Calibri"/>
              <a:ea typeface="Calibri"/>
              <a:cs typeface="Calibri"/>
              <a:sym typeface="Calibri"/>
            </a:endParaRPr>
          </a:p>
        </p:txBody>
      </p:sp>
      <p:sp>
        <p:nvSpPr>
          <p:cNvPr id="313" name="Google Shape;313;p13"/>
          <p:cNvSpPr/>
          <p:nvPr/>
        </p:nvSpPr>
        <p:spPr>
          <a:xfrm>
            <a:off x="13638835" y="6672200"/>
            <a:ext cx="3683017" cy="312431"/>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Software Engineering</a:t>
            </a:r>
            <a:endParaRPr b="0" i="0" sz="1800" u="none" cap="none" strike="noStrike">
              <a:solidFill>
                <a:schemeClr val="dk1"/>
              </a:solidFill>
              <a:latin typeface="Calibri"/>
              <a:ea typeface="Calibri"/>
              <a:cs typeface="Calibri"/>
              <a:sym typeface="Calibri"/>
            </a:endParaRPr>
          </a:p>
        </p:txBody>
      </p:sp>
      <p:sp>
        <p:nvSpPr>
          <p:cNvPr id="314" name="Google Shape;314;p13"/>
          <p:cNvSpPr/>
          <p:nvPr/>
        </p:nvSpPr>
        <p:spPr>
          <a:xfrm>
            <a:off x="13638835" y="6994138"/>
            <a:ext cx="3448643" cy="632542"/>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0A1522"/>
              </a:buClr>
              <a:buSzPts val="1800"/>
              <a:buFont typeface="Arial"/>
              <a:buNone/>
            </a:pPr>
            <a:r>
              <a:rPr b="0" i="0" lang="en-US" sz="1800" u="none" cap="none" strike="noStrike">
                <a:solidFill>
                  <a:srgbClr val="0A1522"/>
                </a:solidFill>
                <a:latin typeface="Arial"/>
                <a:ea typeface="Arial"/>
                <a:cs typeface="Arial"/>
                <a:sym typeface="Arial"/>
              </a:rPr>
              <a:t>Product engineering · Data infrastructure · Systems integration</a:t>
            </a:r>
            <a:endParaRPr b="0" i="0" sz="1800" u="none" cap="none" strike="noStrike">
              <a:solidFill>
                <a:schemeClr val="dk1"/>
              </a:solidFill>
              <a:latin typeface="Calibri"/>
              <a:ea typeface="Calibri"/>
              <a:cs typeface="Calibri"/>
              <a:sym typeface="Calibri"/>
            </a:endParaRPr>
          </a:p>
        </p:txBody>
      </p:sp>
      <p:sp>
        <p:nvSpPr>
          <p:cNvPr id="315" name="Google Shape;315;p13"/>
          <p:cNvSpPr/>
          <p:nvPr/>
        </p:nvSpPr>
        <p:spPr>
          <a:xfrm>
            <a:off x="1047715" y="8238463"/>
            <a:ext cx="16192499" cy="9525"/>
          </a:xfrm>
          <a:prstGeom prst="rect">
            <a:avLst/>
          </a:prstGeom>
          <a:solidFill>
            <a:srgbClr val="0A1522">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13"/>
          <p:cNvSpPr/>
          <p:nvPr/>
        </p:nvSpPr>
        <p:spPr>
          <a:xfrm>
            <a:off x="1047715" y="8472585"/>
            <a:ext cx="17778411" cy="35716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0A1522"/>
              </a:buClr>
              <a:buSzPts val="1875"/>
              <a:buFont typeface="Arial"/>
              <a:buNone/>
            </a:pPr>
            <a:r>
              <a:rPr b="1" i="0" lang="en-US" sz="1875" u="none" cap="none" strike="noStrike">
                <a:solidFill>
                  <a:srgbClr val="0A1522"/>
                </a:solidFill>
                <a:latin typeface="Arial"/>
                <a:ea typeface="Arial"/>
                <a:cs typeface="Arial"/>
                <a:sym typeface="Arial"/>
              </a:rPr>
              <a:t>SELECTED EXPERIENCE ACROSS INDUSTRY AND ACADEMIA</a:t>
            </a:r>
            <a:endParaRPr b="0" i="0" sz="1875" u="none" cap="none" strike="noStrike">
              <a:solidFill>
                <a:schemeClr val="dk1"/>
              </a:solidFill>
              <a:latin typeface="Calibri"/>
              <a:ea typeface="Calibri"/>
              <a:cs typeface="Calibri"/>
              <a:sym typeface="Calibri"/>
            </a:endParaRPr>
          </a:p>
        </p:txBody>
      </p:sp>
      <p:pic>
        <p:nvPicPr>
          <p:cNvPr descr="preencoded.png" id="317" name="Google Shape;317;p13"/>
          <p:cNvPicPr preferRelativeResize="0"/>
          <p:nvPr/>
        </p:nvPicPr>
        <p:blipFill rotWithShape="1">
          <a:blip r:embed="rId13">
            <a:alphaModFix amt="88000"/>
          </a:blip>
          <a:srcRect b="-55" l="0" r="0" t="-55"/>
          <a:stretch/>
        </p:blipFill>
        <p:spPr>
          <a:xfrm>
            <a:off x="1047715" y="8958321"/>
            <a:ext cx="744402" cy="304793"/>
          </a:xfrm>
          <a:prstGeom prst="rect">
            <a:avLst/>
          </a:prstGeom>
          <a:noFill/>
          <a:ln>
            <a:noFill/>
          </a:ln>
        </p:spPr>
      </p:pic>
      <p:pic>
        <p:nvPicPr>
          <p:cNvPr descr="preencoded.png" id="318" name="Google Shape;318;p13"/>
          <p:cNvPicPr preferRelativeResize="0"/>
          <p:nvPr/>
        </p:nvPicPr>
        <p:blipFill rotWithShape="1">
          <a:blip r:embed="rId14">
            <a:alphaModFix amt="88000"/>
          </a:blip>
          <a:srcRect b="0" l="-324" r="-324" t="0"/>
          <a:stretch/>
        </p:blipFill>
        <p:spPr>
          <a:xfrm>
            <a:off x="2287253" y="8967808"/>
            <a:ext cx="1116907" cy="285733"/>
          </a:xfrm>
          <a:prstGeom prst="rect">
            <a:avLst/>
          </a:prstGeom>
          <a:noFill/>
          <a:ln>
            <a:noFill/>
          </a:ln>
        </p:spPr>
      </p:pic>
      <p:pic>
        <p:nvPicPr>
          <p:cNvPr descr="preencoded.png" id="319" name="Google Shape;319;p13"/>
          <p:cNvPicPr preferRelativeResize="0"/>
          <p:nvPr/>
        </p:nvPicPr>
        <p:blipFill rotWithShape="1">
          <a:blip r:embed="rId15">
            <a:alphaModFix amt="88000"/>
          </a:blip>
          <a:srcRect b="-6" l="0" r="0" t="-6"/>
          <a:stretch/>
        </p:blipFill>
        <p:spPr>
          <a:xfrm>
            <a:off x="3899297" y="8972595"/>
            <a:ext cx="702016" cy="276159"/>
          </a:xfrm>
          <a:prstGeom prst="rect">
            <a:avLst/>
          </a:prstGeom>
          <a:noFill/>
          <a:ln>
            <a:noFill/>
          </a:ln>
        </p:spPr>
      </p:pic>
      <p:pic>
        <p:nvPicPr>
          <p:cNvPr descr="preencoded.png" id="320" name="Google Shape;320;p13"/>
          <p:cNvPicPr preferRelativeResize="0"/>
          <p:nvPr/>
        </p:nvPicPr>
        <p:blipFill rotWithShape="1">
          <a:blip r:embed="rId16">
            <a:alphaModFix amt="88000"/>
          </a:blip>
          <a:srcRect b="-29" l="0" r="0" t="-29"/>
          <a:stretch/>
        </p:blipFill>
        <p:spPr>
          <a:xfrm>
            <a:off x="5096449" y="8972595"/>
            <a:ext cx="732739" cy="276159"/>
          </a:xfrm>
          <a:prstGeom prst="rect">
            <a:avLst/>
          </a:prstGeom>
          <a:noFill/>
          <a:ln>
            <a:noFill/>
          </a:ln>
        </p:spPr>
      </p:pic>
      <p:pic>
        <p:nvPicPr>
          <p:cNvPr descr="preencoded.png" id="321" name="Google Shape;321;p13"/>
          <p:cNvPicPr preferRelativeResize="0"/>
          <p:nvPr/>
        </p:nvPicPr>
        <p:blipFill rotWithShape="1">
          <a:blip r:embed="rId17">
            <a:alphaModFix amt="88000"/>
          </a:blip>
          <a:srcRect b="-12950" l="0" r="0" t="-12950"/>
          <a:stretch/>
        </p:blipFill>
        <p:spPr>
          <a:xfrm>
            <a:off x="6324324" y="8944048"/>
            <a:ext cx="1333448" cy="333340"/>
          </a:xfrm>
          <a:prstGeom prst="rect">
            <a:avLst/>
          </a:prstGeom>
          <a:noFill/>
          <a:ln>
            <a:noFill/>
          </a:ln>
        </p:spPr>
      </p:pic>
      <p:pic>
        <p:nvPicPr>
          <p:cNvPr descr="preencoded.png" id="322" name="Google Shape;322;p13"/>
          <p:cNvPicPr preferRelativeResize="0"/>
          <p:nvPr/>
        </p:nvPicPr>
        <p:blipFill rotWithShape="1">
          <a:blip r:embed="rId18">
            <a:alphaModFix amt="88000"/>
          </a:blip>
          <a:srcRect b="-9523" l="0" r="0" t="-9523"/>
          <a:stretch/>
        </p:blipFill>
        <p:spPr>
          <a:xfrm>
            <a:off x="8152909" y="8967808"/>
            <a:ext cx="1333448" cy="285733"/>
          </a:xfrm>
          <a:prstGeom prst="rect">
            <a:avLst/>
          </a:prstGeom>
          <a:noFill/>
          <a:ln>
            <a:noFill/>
          </a:ln>
        </p:spPr>
      </p:pic>
      <p:pic>
        <p:nvPicPr>
          <p:cNvPr descr="preencoded.png" id="323" name="Google Shape;323;p13"/>
          <p:cNvPicPr preferRelativeResize="0"/>
          <p:nvPr/>
        </p:nvPicPr>
        <p:blipFill rotWithShape="1">
          <a:blip r:embed="rId19">
            <a:alphaModFix amt="88000"/>
          </a:blip>
          <a:srcRect b="0" l="0" r="0" t="0"/>
          <a:stretch/>
        </p:blipFill>
        <p:spPr>
          <a:xfrm>
            <a:off x="9981406" y="8972595"/>
            <a:ext cx="565895" cy="276159"/>
          </a:xfrm>
          <a:prstGeom prst="rect">
            <a:avLst/>
          </a:prstGeom>
          <a:noFill/>
          <a:ln>
            <a:noFill/>
          </a:ln>
        </p:spPr>
      </p:pic>
      <p:pic>
        <p:nvPicPr>
          <p:cNvPr descr="preencoded.png" id="324" name="Google Shape;324;p13"/>
          <p:cNvPicPr preferRelativeResize="0"/>
          <p:nvPr/>
        </p:nvPicPr>
        <p:blipFill rotWithShape="1">
          <a:blip r:embed="rId20">
            <a:alphaModFix amt="88000"/>
          </a:blip>
          <a:srcRect b="-29531" l="0" r="0" t="-29531"/>
          <a:stretch/>
        </p:blipFill>
        <p:spPr>
          <a:xfrm>
            <a:off x="11042438" y="8967808"/>
            <a:ext cx="1333448" cy="285733"/>
          </a:xfrm>
          <a:prstGeom prst="rect">
            <a:avLst/>
          </a:prstGeom>
          <a:noFill/>
          <a:ln>
            <a:noFill/>
          </a:ln>
        </p:spPr>
      </p:pic>
      <p:pic>
        <p:nvPicPr>
          <p:cNvPr descr="preencoded.png" id="325" name="Google Shape;325;p13"/>
          <p:cNvPicPr preferRelativeResize="0"/>
          <p:nvPr/>
        </p:nvPicPr>
        <p:blipFill rotWithShape="1">
          <a:blip r:embed="rId21">
            <a:alphaModFix amt="88000"/>
          </a:blip>
          <a:srcRect b="-2" l="0" r="0" t="-2"/>
          <a:stretch/>
        </p:blipFill>
        <p:spPr>
          <a:xfrm>
            <a:off x="12871021" y="8948835"/>
            <a:ext cx="978001" cy="323766"/>
          </a:xfrm>
          <a:prstGeom prst="rect">
            <a:avLst/>
          </a:prstGeom>
          <a:noFill/>
          <a:ln>
            <a:noFill/>
          </a:ln>
        </p:spPr>
      </p:pic>
      <p:sp>
        <p:nvSpPr>
          <p:cNvPr id="326" name="Google Shape;326;p13"/>
          <p:cNvSpPr/>
          <p:nvPr/>
        </p:nvSpPr>
        <p:spPr>
          <a:xfrm>
            <a:off x="14344158" y="8967808"/>
            <a:ext cx="1065689" cy="323833"/>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4A4F57"/>
              </a:buClr>
              <a:buSzPts val="1875"/>
              <a:buFont typeface="Arial"/>
              <a:buNone/>
            </a:pPr>
            <a:r>
              <a:rPr b="1" i="0" lang="en-US" sz="1875" u="none" cap="none" strike="noStrike">
                <a:solidFill>
                  <a:srgbClr val="4A4F57"/>
                </a:solidFill>
                <a:latin typeface="Arial"/>
                <a:ea typeface="Arial"/>
                <a:cs typeface="Arial"/>
                <a:sym typeface="Arial"/>
              </a:rPr>
              <a:t>IIT Delhi</a:t>
            </a:r>
            <a:endParaRPr b="0" i="0" sz="1875" u="none" cap="none" strike="noStrike">
              <a:solidFill>
                <a:schemeClr val="dk1"/>
              </a:solidFill>
              <a:latin typeface="Calibri"/>
              <a:ea typeface="Calibri"/>
              <a:cs typeface="Calibri"/>
              <a:sym typeface="Calibri"/>
            </a:endParaRPr>
          </a:p>
        </p:txBody>
      </p:sp>
      <p:sp>
        <p:nvSpPr>
          <p:cNvPr id="327" name="Google Shape;327;p13"/>
          <p:cNvSpPr/>
          <p:nvPr/>
        </p:nvSpPr>
        <p:spPr>
          <a:xfrm>
            <a:off x="15828784" y="8967808"/>
            <a:ext cx="1552573" cy="323833"/>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4A4F57"/>
              </a:buClr>
              <a:buSzPts val="1875"/>
              <a:buFont typeface="Arial"/>
              <a:buNone/>
            </a:pPr>
            <a:r>
              <a:rPr b="1" i="0" lang="en-US" sz="1875" u="none" cap="none" strike="noStrike">
                <a:solidFill>
                  <a:srgbClr val="4A4F57"/>
                </a:solidFill>
                <a:latin typeface="Arial"/>
                <a:ea typeface="Arial"/>
                <a:cs typeface="Arial"/>
                <a:sym typeface="Arial"/>
              </a:rPr>
              <a:t>ICT Mumbai</a:t>
            </a:r>
            <a:endParaRPr b="0" i="0" sz="1875" u="none" cap="none" strike="noStrike">
              <a:solidFill>
                <a:schemeClr val="dk1"/>
              </a:solidFill>
              <a:latin typeface="Calibri"/>
              <a:ea typeface="Calibri"/>
              <a:cs typeface="Calibri"/>
              <a:sym typeface="Calibri"/>
            </a:endParaRPr>
          </a:p>
        </p:txBody>
      </p:sp>
      <p:pic>
        <p:nvPicPr>
          <p:cNvPr descr="preencoded.png" id="328" name="Google Shape;328;p13"/>
          <p:cNvPicPr preferRelativeResize="0"/>
          <p:nvPr/>
        </p:nvPicPr>
        <p:blipFill rotWithShape="1">
          <a:blip r:embed="rId22">
            <a:alphaModFix amt="72000"/>
          </a:blip>
          <a:srcRect b="0" l="0" r="0" t="0"/>
          <a:stretch/>
        </p:blipFill>
        <p:spPr>
          <a:xfrm>
            <a:off x="1047715" y="9772699"/>
            <a:ext cx="1317434" cy="38094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3" name="Shape 333"/>
        <p:cNvGrpSpPr/>
        <p:nvPr/>
      </p:nvGrpSpPr>
      <p:grpSpPr>
        <a:xfrm>
          <a:off x="0" y="0"/>
          <a:ext cx="0" cy="0"/>
          <a:chOff x="0" y="0"/>
          <a:chExt cx="0" cy="0"/>
        </a:xfrm>
      </p:grpSpPr>
      <p:sp>
        <p:nvSpPr>
          <p:cNvPr id="334" name="Google Shape;334;p14"/>
          <p:cNvSpPr/>
          <p:nvPr/>
        </p:nvSpPr>
        <p:spPr>
          <a:xfrm>
            <a:off x="1047715" y="628647"/>
            <a:ext cx="17779745" cy="335321"/>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PAID PILOT</a:t>
            </a:r>
            <a:endParaRPr b="0" i="0" sz="1800" u="none" cap="none" strike="noStrike">
              <a:solidFill>
                <a:schemeClr val="dk1"/>
              </a:solidFill>
              <a:latin typeface="Calibri"/>
              <a:ea typeface="Calibri"/>
              <a:cs typeface="Calibri"/>
              <a:sym typeface="Calibri"/>
            </a:endParaRPr>
          </a:p>
        </p:txBody>
      </p:sp>
      <p:sp>
        <p:nvSpPr>
          <p:cNvPr id="335" name="Google Shape;335;p14"/>
          <p:cNvSpPr/>
          <p:nvPr/>
        </p:nvSpPr>
        <p:spPr>
          <a:xfrm>
            <a:off x="1047715" y="1097237"/>
            <a:ext cx="15893343" cy="998085"/>
          </a:xfrm>
          <a:prstGeom prst="rect">
            <a:avLst/>
          </a:prstGeom>
          <a:noFill/>
          <a:ln>
            <a:noFill/>
          </a:ln>
        </p:spPr>
        <p:txBody>
          <a:bodyPr anchorCtr="0" anchor="t" bIns="25400" lIns="25400" spcFirstLastPara="1" rIns="25400" wrap="square" tIns="25400">
            <a:normAutofit/>
          </a:bodyPr>
          <a:lstStyle/>
          <a:p>
            <a:pPr indent="0" lvl="0" marL="0" marR="0" rtl="0" algn="l">
              <a:lnSpc>
                <a:spcPct val="93000"/>
              </a:lnSpc>
              <a:spcBef>
                <a:spcPts val="0"/>
              </a:spcBef>
              <a:spcAft>
                <a:spcPts val="0"/>
              </a:spcAft>
              <a:buClr>
                <a:srgbClr val="0A1522"/>
              </a:buClr>
              <a:buSzPts val="3600"/>
              <a:buFont typeface="Georgia"/>
              <a:buNone/>
            </a:pPr>
            <a:r>
              <a:rPr b="0" i="0" lang="en-US" sz="3600" u="none" cap="none" strike="noStrike">
                <a:solidFill>
                  <a:srgbClr val="0A1522"/>
                </a:solidFill>
                <a:latin typeface="Georgia"/>
                <a:ea typeface="Georgia"/>
                <a:cs typeface="Georgia"/>
                <a:sym typeface="Georgia"/>
              </a:rPr>
              <a:t>Start with one process and one objective — prove the value in a focused paid pilot</a:t>
            </a:r>
            <a:endParaRPr b="0" i="0" sz="3600" u="none" cap="none" strike="noStrike">
              <a:solidFill>
                <a:schemeClr val="dk1"/>
              </a:solidFill>
              <a:latin typeface="Calibri"/>
              <a:ea typeface="Calibri"/>
              <a:cs typeface="Calibri"/>
              <a:sym typeface="Calibri"/>
            </a:endParaRPr>
          </a:p>
        </p:txBody>
      </p:sp>
      <p:sp>
        <p:nvSpPr>
          <p:cNvPr id="336" name="Google Shape;336;p14"/>
          <p:cNvSpPr/>
          <p:nvPr/>
        </p:nvSpPr>
        <p:spPr>
          <a:xfrm>
            <a:off x="1047715" y="2504838"/>
            <a:ext cx="2555840" cy="18973"/>
          </a:xfrm>
          <a:prstGeom prst="rect">
            <a:avLst/>
          </a:prstGeom>
          <a:solidFill>
            <a:srgbClr val="38AFD8">
              <a:alpha val="2196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4"/>
          <p:cNvSpPr/>
          <p:nvPr/>
        </p:nvSpPr>
        <p:spPr>
          <a:xfrm>
            <a:off x="3603555" y="2447657"/>
            <a:ext cx="133336" cy="133336"/>
          </a:xfrm>
          <a:prstGeom prst="ellipse">
            <a:avLst/>
          </a:prstGeom>
          <a:solidFill>
            <a:srgbClr val="38A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4"/>
          <p:cNvSpPr/>
          <p:nvPr/>
        </p:nvSpPr>
        <p:spPr>
          <a:xfrm>
            <a:off x="3736891" y="2504838"/>
            <a:ext cx="2555927" cy="18973"/>
          </a:xfrm>
          <a:prstGeom prst="rect">
            <a:avLst/>
          </a:prstGeom>
          <a:solidFill>
            <a:srgbClr val="38AFD8">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4"/>
          <p:cNvSpPr/>
          <p:nvPr/>
        </p:nvSpPr>
        <p:spPr>
          <a:xfrm>
            <a:off x="6521369" y="2504838"/>
            <a:ext cx="2527380" cy="18973"/>
          </a:xfrm>
          <a:prstGeom prst="rect">
            <a:avLst/>
          </a:prstGeom>
          <a:solidFill>
            <a:srgbClr val="38AFD8">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4"/>
          <p:cNvSpPr/>
          <p:nvPr/>
        </p:nvSpPr>
        <p:spPr>
          <a:xfrm>
            <a:off x="9048749" y="2419110"/>
            <a:ext cx="190430" cy="190430"/>
          </a:xfrm>
          <a:prstGeom prst="ellipse">
            <a:avLst/>
          </a:prstGeom>
          <a:solidFill>
            <a:srgbClr val="38AFD8"/>
          </a:solidFill>
          <a:ln>
            <a:noFill/>
          </a:ln>
          <a:effectLst>
            <a:outerShdw blurRad="101600" rotWithShape="0" algn="bl" dir="16200000" dist="50800">
              <a:srgbClr val="38AFD8">
                <a:alpha val="1607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4"/>
          <p:cNvSpPr/>
          <p:nvPr/>
        </p:nvSpPr>
        <p:spPr>
          <a:xfrm>
            <a:off x="9239180" y="2504838"/>
            <a:ext cx="2527380" cy="18973"/>
          </a:xfrm>
          <a:prstGeom prst="rect">
            <a:avLst/>
          </a:prstGeom>
          <a:solidFill>
            <a:srgbClr val="38AFD8">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14"/>
          <p:cNvSpPr/>
          <p:nvPr/>
        </p:nvSpPr>
        <p:spPr>
          <a:xfrm>
            <a:off x="11995111" y="2504838"/>
            <a:ext cx="2555840" cy="18973"/>
          </a:xfrm>
          <a:prstGeom prst="rect">
            <a:avLst/>
          </a:prstGeom>
          <a:solidFill>
            <a:srgbClr val="38AFD8">
              <a:alpha val="90196"/>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4"/>
          <p:cNvSpPr/>
          <p:nvPr/>
        </p:nvSpPr>
        <p:spPr>
          <a:xfrm>
            <a:off x="14550951" y="2447657"/>
            <a:ext cx="133336" cy="133336"/>
          </a:xfrm>
          <a:prstGeom prst="ellipse">
            <a:avLst/>
          </a:prstGeom>
          <a:solidFill>
            <a:srgbClr val="38A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4"/>
          <p:cNvSpPr/>
          <p:nvPr/>
        </p:nvSpPr>
        <p:spPr>
          <a:xfrm>
            <a:off x="14684287" y="2504838"/>
            <a:ext cx="2555927" cy="18973"/>
          </a:xfrm>
          <a:prstGeom prst="rect">
            <a:avLst/>
          </a:prstGeom>
          <a:solidFill>
            <a:srgbClr val="38AFD8">
              <a:alpha val="2196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4"/>
          <p:cNvSpPr/>
          <p:nvPr/>
        </p:nvSpPr>
        <p:spPr>
          <a:xfrm>
            <a:off x="1047715" y="2780910"/>
            <a:ext cx="5241361" cy="3489367"/>
          </a:xfrm>
          <a:prstGeom prst="roundRect">
            <a:avLst>
              <a:gd fmla="val 4368" name="adj"/>
            </a:avLst>
          </a:prstGeom>
          <a:solidFill>
            <a:srgbClr val="F1F3F5"/>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4"/>
          <p:cNvSpPr/>
          <p:nvPr/>
        </p:nvSpPr>
        <p:spPr>
          <a:xfrm>
            <a:off x="1377052" y="3091273"/>
            <a:ext cx="5040956" cy="419135"/>
          </a:xfrm>
          <a:prstGeom prst="rect">
            <a:avLst/>
          </a:prstGeom>
          <a:noFill/>
          <a:ln>
            <a:noFill/>
          </a:ln>
        </p:spPr>
        <p:txBody>
          <a:bodyPr anchorCtr="0" anchor="t" bIns="25400" lIns="25400" spcFirstLastPara="1" rIns="25400" wrap="square" tIns="25400">
            <a:normAutofit/>
          </a:bodyPr>
          <a:lstStyle/>
          <a:p>
            <a:pPr indent="0" lvl="0" marL="0" marR="0" rtl="0" algn="l">
              <a:lnSpc>
                <a:spcPct val="88000"/>
              </a:lnSpc>
              <a:spcBef>
                <a:spcPts val="0"/>
              </a:spcBef>
              <a:spcAft>
                <a:spcPts val="0"/>
              </a:spcAft>
              <a:buClr>
                <a:srgbClr val="38AFD8"/>
              </a:buClr>
              <a:buSzPts val="3000"/>
              <a:buFont typeface="Georgia"/>
              <a:buNone/>
            </a:pPr>
            <a:r>
              <a:rPr b="0" i="0" lang="en-US" sz="3000" u="none" cap="none" strike="noStrike">
                <a:solidFill>
                  <a:srgbClr val="38AFD8"/>
                </a:solidFill>
                <a:latin typeface="Georgia"/>
                <a:ea typeface="Georgia"/>
                <a:cs typeface="Georgia"/>
                <a:sym typeface="Georgia"/>
              </a:rPr>
              <a:t>01</a:t>
            </a:r>
            <a:endParaRPr b="0" i="0" sz="3000" u="none" cap="none" strike="noStrike">
              <a:solidFill>
                <a:schemeClr val="dk1"/>
              </a:solidFill>
              <a:latin typeface="Calibri"/>
              <a:ea typeface="Calibri"/>
              <a:cs typeface="Calibri"/>
              <a:sym typeface="Calibri"/>
            </a:endParaRPr>
          </a:p>
        </p:txBody>
      </p:sp>
      <p:sp>
        <p:nvSpPr>
          <p:cNvPr id="347" name="Google Shape;347;p14"/>
          <p:cNvSpPr/>
          <p:nvPr/>
        </p:nvSpPr>
        <p:spPr>
          <a:xfrm>
            <a:off x="1377052" y="3605644"/>
            <a:ext cx="5040956" cy="39459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1522"/>
              </a:buClr>
              <a:buSzPts val="2400"/>
              <a:buFont typeface="Arial"/>
              <a:buNone/>
            </a:pPr>
            <a:r>
              <a:rPr b="1" i="0" lang="en-US" sz="2400" u="none" cap="none" strike="noStrike">
                <a:solidFill>
                  <a:srgbClr val="0A1522"/>
                </a:solidFill>
                <a:latin typeface="Arial"/>
                <a:ea typeface="Arial"/>
                <a:cs typeface="Arial"/>
                <a:sym typeface="Arial"/>
              </a:rPr>
              <a:t>Select process &amp; objective</a:t>
            </a:r>
            <a:endParaRPr b="0" i="0" sz="2400" u="none" cap="none" strike="noStrike">
              <a:solidFill>
                <a:schemeClr val="dk1"/>
              </a:solidFill>
              <a:latin typeface="Calibri"/>
              <a:ea typeface="Calibri"/>
              <a:cs typeface="Calibri"/>
              <a:sym typeface="Calibri"/>
            </a:endParaRPr>
          </a:p>
        </p:txBody>
      </p:sp>
      <p:sp>
        <p:nvSpPr>
          <p:cNvPr id="348" name="Google Shape;348;p14"/>
          <p:cNvSpPr/>
          <p:nvPr/>
        </p:nvSpPr>
        <p:spPr>
          <a:xfrm>
            <a:off x="1377052" y="4057350"/>
            <a:ext cx="4720168" cy="1118018"/>
          </a:xfrm>
          <a:prstGeom prst="rect">
            <a:avLst/>
          </a:prstGeom>
          <a:noFill/>
          <a:ln>
            <a:noFill/>
          </a:ln>
        </p:spPr>
        <p:txBody>
          <a:bodyPr anchorCtr="0" anchor="t" bIns="25400" lIns="25400" spcFirstLastPara="1" rIns="25400" wrap="square" tIns="25400">
            <a:normAutofit/>
          </a:bodyPr>
          <a:lstStyle/>
          <a:p>
            <a:pPr indent="0" lvl="0" marL="0" marR="0" rtl="0" algn="l">
              <a:lnSpc>
                <a:spcPct val="118000"/>
              </a:lnSpc>
              <a:spcBef>
                <a:spcPts val="0"/>
              </a:spcBef>
              <a:spcAft>
                <a:spcPts val="0"/>
              </a:spcAft>
              <a:buClr>
                <a:srgbClr val="2E3A46"/>
              </a:buClr>
              <a:buSzPts val="2100"/>
              <a:buFont typeface="Arial"/>
              <a:buNone/>
            </a:pPr>
            <a:r>
              <a:rPr b="0" i="0" lang="en-US" sz="2100" u="none" cap="none" strike="noStrike">
                <a:solidFill>
                  <a:srgbClr val="2E3A46"/>
                </a:solidFill>
                <a:latin typeface="Arial"/>
                <a:ea typeface="Arial"/>
                <a:cs typeface="Arial"/>
                <a:sym typeface="Arial"/>
              </a:rPr>
              <a:t>One fermentation or cell-culture process, one clearly defined objective, one development team.</a:t>
            </a:r>
            <a:endParaRPr b="0" i="0" sz="2100" u="none" cap="none" strike="noStrike">
              <a:solidFill>
                <a:schemeClr val="dk1"/>
              </a:solidFill>
              <a:latin typeface="Calibri"/>
              <a:ea typeface="Calibri"/>
              <a:cs typeface="Calibri"/>
              <a:sym typeface="Calibri"/>
            </a:endParaRPr>
          </a:p>
        </p:txBody>
      </p:sp>
      <p:sp>
        <p:nvSpPr>
          <p:cNvPr id="349" name="Google Shape;349;p14"/>
          <p:cNvSpPr/>
          <p:nvPr/>
        </p:nvSpPr>
        <p:spPr>
          <a:xfrm>
            <a:off x="6517627" y="2780910"/>
            <a:ext cx="5252588" cy="3489367"/>
          </a:xfrm>
          <a:prstGeom prst="roundRect">
            <a:avLst>
              <a:gd fmla="val 4368" name="adj"/>
            </a:avLst>
          </a:prstGeom>
          <a:solidFill>
            <a:srgbClr val="F1F3F5"/>
          </a:solidFill>
          <a:ln cap="flat" cmpd="sng" w="11125">
            <a:solidFill>
              <a:srgbClr val="38AFD8"/>
            </a:solidFill>
            <a:prstDash val="solid"/>
            <a:round/>
            <a:headEnd len="sm" w="sm" type="none"/>
            <a:tailEnd len="sm" w="sm" type="none"/>
          </a:ln>
          <a:effectLst>
            <a:outerShdw blurRad="101600" rotWithShape="0" algn="bl" dir="16200000" dist="50800">
              <a:srgbClr val="38AFD8">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4"/>
          <p:cNvSpPr/>
          <p:nvPr/>
        </p:nvSpPr>
        <p:spPr>
          <a:xfrm>
            <a:off x="6852534" y="3143406"/>
            <a:ext cx="510935" cy="419135"/>
          </a:xfrm>
          <a:prstGeom prst="rect">
            <a:avLst/>
          </a:prstGeom>
          <a:noFill/>
          <a:ln>
            <a:noFill/>
          </a:ln>
        </p:spPr>
        <p:txBody>
          <a:bodyPr anchorCtr="0" anchor="t" bIns="25400" lIns="25400" spcFirstLastPara="1" rIns="25400" wrap="square" tIns="25400">
            <a:normAutofit/>
          </a:bodyPr>
          <a:lstStyle/>
          <a:p>
            <a:pPr indent="0" lvl="0" marL="0" marR="0" rtl="0" algn="l">
              <a:lnSpc>
                <a:spcPct val="88000"/>
              </a:lnSpc>
              <a:spcBef>
                <a:spcPts val="0"/>
              </a:spcBef>
              <a:spcAft>
                <a:spcPts val="0"/>
              </a:spcAft>
              <a:buClr>
                <a:srgbClr val="38AFD8"/>
              </a:buClr>
              <a:buSzPts val="3000"/>
              <a:buFont typeface="Georgia"/>
              <a:buNone/>
            </a:pPr>
            <a:r>
              <a:rPr b="0" i="0" lang="en-US" sz="3000" u="none" cap="none" strike="noStrike">
                <a:solidFill>
                  <a:srgbClr val="38AFD8"/>
                </a:solidFill>
                <a:latin typeface="Georgia"/>
                <a:ea typeface="Georgia"/>
                <a:cs typeface="Georgia"/>
                <a:sym typeface="Georgia"/>
              </a:rPr>
              <a:t>02</a:t>
            </a:r>
            <a:endParaRPr b="0" i="0" sz="3000" u="none" cap="none" strike="noStrike">
              <a:solidFill>
                <a:schemeClr val="dk1"/>
              </a:solidFill>
              <a:latin typeface="Calibri"/>
              <a:ea typeface="Calibri"/>
              <a:cs typeface="Calibri"/>
              <a:sym typeface="Calibri"/>
            </a:endParaRPr>
          </a:p>
        </p:txBody>
      </p:sp>
      <p:sp>
        <p:nvSpPr>
          <p:cNvPr id="351" name="Google Shape;351;p14"/>
          <p:cNvSpPr/>
          <p:nvPr/>
        </p:nvSpPr>
        <p:spPr>
          <a:xfrm>
            <a:off x="9391577" y="3096843"/>
            <a:ext cx="2043732" cy="474161"/>
          </a:xfrm>
          <a:prstGeom prst="roundRect">
            <a:avLst>
              <a:gd fmla="val 50000" name="adj"/>
            </a:avLst>
          </a:prstGeom>
          <a:solidFill>
            <a:srgbClr val="38AFD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4"/>
          <p:cNvSpPr/>
          <p:nvPr/>
        </p:nvSpPr>
        <p:spPr>
          <a:xfrm>
            <a:off x="9582077" y="3173043"/>
            <a:ext cx="1738932" cy="359861"/>
          </a:xfrm>
          <a:prstGeom prst="rect">
            <a:avLst/>
          </a:prstGeom>
          <a:noFill/>
          <a:ln>
            <a:noFill/>
          </a:ln>
        </p:spPr>
        <p:txBody>
          <a:bodyPr anchorCtr="0" anchor="t" bIns="25400" lIns="25400" spcFirstLastPara="1" rIns="25400" wrap="square" tIns="25400">
            <a:normAutofit/>
          </a:bodyPr>
          <a:lstStyle/>
          <a:p>
            <a:pPr indent="0" lvl="0" marL="0" marR="0" rtl="0" algn="l">
              <a:lnSpc>
                <a:spcPct val="116000"/>
              </a:lnSpc>
              <a:spcBef>
                <a:spcPts val="0"/>
              </a:spcBef>
              <a:spcAft>
                <a:spcPts val="0"/>
              </a:spcAft>
              <a:buClr>
                <a:srgbClr val="FFFFFF"/>
              </a:buClr>
              <a:buSzPts val="1950"/>
              <a:buFont typeface="Arial"/>
              <a:buNone/>
            </a:pPr>
            <a:r>
              <a:rPr b="1" i="0" lang="en-US" sz="1950" u="none" cap="none" strike="noStrike">
                <a:solidFill>
                  <a:srgbClr val="FFFFFF"/>
                </a:solidFill>
                <a:latin typeface="Arial"/>
                <a:ea typeface="Arial"/>
                <a:cs typeface="Arial"/>
                <a:sym typeface="Arial"/>
              </a:rPr>
              <a:t>8–12 WEEKS</a:t>
            </a:r>
            <a:endParaRPr b="0" i="0" sz="1950" u="none" cap="none" strike="noStrike">
              <a:solidFill>
                <a:schemeClr val="dk1"/>
              </a:solidFill>
              <a:latin typeface="Calibri"/>
              <a:ea typeface="Calibri"/>
              <a:cs typeface="Calibri"/>
              <a:sym typeface="Calibri"/>
            </a:endParaRPr>
          </a:p>
        </p:txBody>
      </p:sp>
      <p:sp>
        <p:nvSpPr>
          <p:cNvPr id="353" name="Google Shape;353;p14"/>
          <p:cNvSpPr/>
          <p:nvPr/>
        </p:nvSpPr>
        <p:spPr>
          <a:xfrm>
            <a:off x="6852534" y="3704340"/>
            <a:ext cx="5041052" cy="39459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1522"/>
              </a:buClr>
              <a:buSzPts val="2400"/>
              <a:buFont typeface="Arial"/>
              <a:buNone/>
            </a:pPr>
            <a:r>
              <a:rPr b="1" i="0" lang="en-US" sz="2400" u="none" cap="none" strike="noStrike">
                <a:solidFill>
                  <a:srgbClr val="0A1522"/>
                </a:solidFill>
                <a:latin typeface="Arial"/>
                <a:ea typeface="Arial"/>
                <a:cs typeface="Arial"/>
                <a:sym typeface="Arial"/>
              </a:rPr>
              <a:t>Run a focused Trellis pilot</a:t>
            </a:r>
            <a:endParaRPr b="0" i="0" sz="2400" u="none" cap="none" strike="noStrike">
              <a:solidFill>
                <a:schemeClr val="dk1"/>
              </a:solidFill>
              <a:latin typeface="Calibri"/>
              <a:ea typeface="Calibri"/>
              <a:cs typeface="Calibri"/>
              <a:sym typeface="Calibri"/>
            </a:endParaRPr>
          </a:p>
        </p:txBody>
      </p:sp>
      <p:sp>
        <p:nvSpPr>
          <p:cNvPr id="354" name="Google Shape;354;p14"/>
          <p:cNvSpPr/>
          <p:nvPr/>
        </p:nvSpPr>
        <p:spPr>
          <a:xfrm>
            <a:off x="6852534" y="4156047"/>
            <a:ext cx="4720258" cy="758045"/>
          </a:xfrm>
          <a:prstGeom prst="rect">
            <a:avLst/>
          </a:prstGeom>
          <a:noFill/>
          <a:ln>
            <a:noFill/>
          </a:ln>
        </p:spPr>
        <p:txBody>
          <a:bodyPr anchorCtr="0" anchor="t" bIns="25400" lIns="25400" spcFirstLastPara="1" rIns="25400" wrap="square" tIns="25400">
            <a:normAutofit/>
          </a:bodyPr>
          <a:lstStyle/>
          <a:p>
            <a:pPr indent="0" lvl="0" marL="0" marR="0" rtl="0" algn="l">
              <a:lnSpc>
                <a:spcPct val="118000"/>
              </a:lnSpc>
              <a:spcBef>
                <a:spcPts val="0"/>
              </a:spcBef>
              <a:spcAft>
                <a:spcPts val="0"/>
              </a:spcAft>
              <a:buClr>
                <a:srgbClr val="0A1522"/>
              </a:buClr>
              <a:buSzPts val="2100"/>
              <a:buFont typeface="Arial"/>
              <a:buNone/>
            </a:pPr>
            <a:r>
              <a:rPr b="0" i="0" lang="en-US" sz="2100" u="none" cap="none" strike="noStrike">
                <a:solidFill>
                  <a:srgbClr val="0A1522"/>
                </a:solidFill>
                <a:latin typeface="Arial"/>
                <a:ea typeface="Arial"/>
                <a:cs typeface="Arial"/>
                <a:sym typeface="Arial"/>
              </a:rPr>
              <a:t>Trellis configured to the real workflow, against KPIs agreed before kickoff.</a:t>
            </a:r>
            <a:endParaRPr b="0" i="0" sz="2100" u="none" cap="none" strike="noStrike">
              <a:solidFill>
                <a:schemeClr val="dk1"/>
              </a:solidFill>
              <a:latin typeface="Calibri"/>
              <a:ea typeface="Calibri"/>
              <a:cs typeface="Calibri"/>
              <a:sym typeface="Calibri"/>
            </a:endParaRPr>
          </a:p>
        </p:txBody>
      </p:sp>
      <p:sp>
        <p:nvSpPr>
          <p:cNvPr id="355" name="Google Shape;355;p14"/>
          <p:cNvSpPr/>
          <p:nvPr/>
        </p:nvSpPr>
        <p:spPr>
          <a:xfrm>
            <a:off x="11998766" y="2780910"/>
            <a:ext cx="5241448" cy="3489367"/>
          </a:xfrm>
          <a:prstGeom prst="roundRect">
            <a:avLst>
              <a:gd fmla="val 4368" name="adj"/>
            </a:avLst>
          </a:prstGeom>
          <a:solidFill>
            <a:srgbClr val="F1F3F5"/>
          </a:solidFill>
          <a:ln cap="flat" cmpd="sng" w="9525">
            <a:solidFill>
              <a:srgbClr val="0A1522">
                <a:alpha val="12157"/>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4"/>
          <p:cNvSpPr/>
          <p:nvPr/>
        </p:nvSpPr>
        <p:spPr>
          <a:xfrm>
            <a:off x="12328103" y="3091273"/>
            <a:ext cx="5041052" cy="419135"/>
          </a:xfrm>
          <a:prstGeom prst="rect">
            <a:avLst/>
          </a:prstGeom>
          <a:noFill/>
          <a:ln>
            <a:noFill/>
          </a:ln>
        </p:spPr>
        <p:txBody>
          <a:bodyPr anchorCtr="0" anchor="t" bIns="25400" lIns="25400" spcFirstLastPara="1" rIns="25400" wrap="square" tIns="25400">
            <a:normAutofit/>
          </a:bodyPr>
          <a:lstStyle/>
          <a:p>
            <a:pPr indent="0" lvl="0" marL="0" marR="0" rtl="0" algn="l">
              <a:lnSpc>
                <a:spcPct val="88000"/>
              </a:lnSpc>
              <a:spcBef>
                <a:spcPts val="0"/>
              </a:spcBef>
              <a:spcAft>
                <a:spcPts val="0"/>
              </a:spcAft>
              <a:buClr>
                <a:srgbClr val="38AFD8"/>
              </a:buClr>
              <a:buSzPts val="3000"/>
              <a:buFont typeface="Georgia"/>
              <a:buNone/>
            </a:pPr>
            <a:r>
              <a:rPr b="0" i="0" lang="en-US" sz="3000" u="none" cap="none" strike="noStrike">
                <a:solidFill>
                  <a:srgbClr val="38AFD8"/>
                </a:solidFill>
                <a:latin typeface="Georgia"/>
                <a:ea typeface="Georgia"/>
                <a:cs typeface="Georgia"/>
                <a:sym typeface="Georgia"/>
              </a:rPr>
              <a:t>03</a:t>
            </a:r>
            <a:endParaRPr b="0" i="0" sz="3000" u="none" cap="none" strike="noStrike">
              <a:solidFill>
                <a:schemeClr val="dk1"/>
              </a:solidFill>
              <a:latin typeface="Calibri"/>
              <a:ea typeface="Calibri"/>
              <a:cs typeface="Calibri"/>
              <a:sym typeface="Calibri"/>
            </a:endParaRPr>
          </a:p>
        </p:txBody>
      </p:sp>
      <p:sp>
        <p:nvSpPr>
          <p:cNvPr id="357" name="Google Shape;357;p14"/>
          <p:cNvSpPr/>
          <p:nvPr/>
        </p:nvSpPr>
        <p:spPr>
          <a:xfrm>
            <a:off x="12328103" y="3605644"/>
            <a:ext cx="5041052" cy="394591"/>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1522"/>
              </a:buClr>
              <a:buSzPts val="2400"/>
              <a:buFont typeface="Arial"/>
              <a:buNone/>
            </a:pPr>
            <a:r>
              <a:rPr b="1" i="0" lang="en-US" sz="2400" u="none" cap="none" strike="noStrike">
                <a:solidFill>
                  <a:srgbClr val="0A1522"/>
                </a:solidFill>
                <a:latin typeface="Arial"/>
                <a:ea typeface="Arial"/>
                <a:cs typeface="Arial"/>
                <a:sym typeface="Arial"/>
              </a:rPr>
              <a:t>Decide whether to expand</a:t>
            </a:r>
            <a:endParaRPr b="0" i="0" sz="2400" u="none" cap="none" strike="noStrike">
              <a:solidFill>
                <a:schemeClr val="dk1"/>
              </a:solidFill>
              <a:latin typeface="Calibri"/>
              <a:ea typeface="Calibri"/>
              <a:cs typeface="Calibri"/>
              <a:sym typeface="Calibri"/>
            </a:endParaRPr>
          </a:p>
        </p:txBody>
      </p:sp>
      <p:sp>
        <p:nvSpPr>
          <p:cNvPr id="358" name="Google Shape;358;p14"/>
          <p:cNvSpPr/>
          <p:nvPr/>
        </p:nvSpPr>
        <p:spPr>
          <a:xfrm>
            <a:off x="12328103" y="4057350"/>
            <a:ext cx="4720258" cy="1118018"/>
          </a:xfrm>
          <a:prstGeom prst="rect">
            <a:avLst/>
          </a:prstGeom>
          <a:noFill/>
          <a:ln>
            <a:noFill/>
          </a:ln>
        </p:spPr>
        <p:txBody>
          <a:bodyPr anchorCtr="0" anchor="t" bIns="25400" lIns="25400" spcFirstLastPara="1" rIns="25400" wrap="square" tIns="25400">
            <a:normAutofit/>
          </a:bodyPr>
          <a:lstStyle/>
          <a:p>
            <a:pPr indent="0" lvl="0" marL="0" marR="0" rtl="0" algn="l">
              <a:lnSpc>
                <a:spcPct val="118000"/>
              </a:lnSpc>
              <a:spcBef>
                <a:spcPts val="0"/>
              </a:spcBef>
              <a:spcAft>
                <a:spcPts val="0"/>
              </a:spcAft>
              <a:buClr>
                <a:srgbClr val="2E3A46"/>
              </a:buClr>
              <a:buSzPts val="2100"/>
              <a:buFont typeface="Arial"/>
              <a:buNone/>
            </a:pPr>
            <a:r>
              <a:rPr b="0" i="0" lang="en-US" sz="2100" u="none" cap="none" strike="noStrike">
                <a:solidFill>
                  <a:srgbClr val="2E3A46"/>
                </a:solidFill>
                <a:latin typeface="Arial"/>
                <a:ea typeface="Arial"/>
                <a:cs typeface="Arial"/>
                <a:sym typeface="Arial"/>
              </a:rPr>
              <a:t>Final readout with measured impact and a next-step roadmap toward broader deployment.</a:t>
            </a:r>
            <a:endParaRPr b="0" i="0" sz="2100" u="none" cap="none" strike="noStrike">
              <a:solidFill>
                <a:schemeClr val="dk1"/>
              </a:solidFill>
              <a:latin typeface="Calibri"/>
              <a:ea typeface="Calibri"/>
              <a:cs typeface="Calibri"/>
              <a:sym typeface="Calibri"/>
            </a:endParaRPr>
          </a:p>
        </p:txBody>
      </p:sp>
      <p:sp>
        <p:nvSpPr>
          <p:cNvPr id="359" name="Google Shape;359;p14"/>
          <p:cNvSpPr/>
          <p:nvPr/>
        </p:nvSpPr>
        <p:spPr>
          <a:xfrm>
            <a:off x="1047715" y="6651224"/>
            <a:ext cx="16192499" cy="9525"/>
          </a:xfrm>
          <a:prstGeom prst="rect">
            <a:avLst/>
          </a:prstGeom>
          <a:solidFill>
            <a:srgbClr val="0A1522">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4"/>
          <p:cNvSpPr/>
          <p:nvPr/>
        </p:nvSpPr>
        <p:spPr>
          <a:xfrm>
            <a:off x="1047715" y="6980561"/>
            <a:ext cx="12130097" cy="35716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0A1522"/>
              </a:buClr>
              <a:buSzPts val="1875"/>
              <a:buFont typeface="Arial"/>
              <a:buNone/>
            </a:pPr>
            <a:r>
              <a:rPr b="1" i="0" lang="en-US" sz="1875" u="none" cap="none" strike="noStrike">
                <a:solidFill>
                  <a:srgbClr val="0A1522"/>
                </a:solidFill>
                <a:latin typeface="Arial"/>
                <a:ea typeface="Arial"/>
                <a:cs typeface="Arial"/>
                <a:sym typeface="Arial"/>
              </a:rPr>
              <a:t>PARTNERSHIP INPUTS AND PROTECTIONS</a:t>
            </a:r>
            <a:endParaRPr b="0" i="0" sz="1875" u="none" cap="none" strike="noStrike">
              <a:solidFill>
                <a:schemeClr val="dk1"/>
              </a:solidFill>
              <a:latin typeface="Calibri"/>
              <a:ea typeface="Calibri"/>
              <a:cs typeface="Calibri"/>
              <a:sym typeface="Calibri"/>
            </a:endParaRPr>
          </a:p>
        </p:txBody>
      </p:sp>
      <p:sp>
        <p:nvSpPr>
          <p:cNvPr id="361" name="Google Shape;361;p14"/>
          <p:cNvSpPr/>
          <p:nvPr/>
        </p:nvSpPr>
        <p:spPr>
          <a:xfrm>
            <a:off x="1047715" y="7452024"/>
            <a:ext cx="3568707" cy="316609"/>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You provide</a:t>
            </a:r>
            <a:endParaRPr b="0" i="0" sz="1950" u="none" cap="none" strike="noStrike">
              <a:solidFill>
                <a:schemeClr val="dk1"/>
              </a:solidFill>
              <a:latin typeface="Calibri"/>
              <a:ea typeface="Calibri"/>
              <a:cs typeface="Calibri"/>
              <a:sym typeface="Calibri"/>
            </a:endParaRPr>
          </a:p>
        </p:txBody>
      </p:sp>
      <p:sp>
        <p:nvSpPr>
          <p:cNvPr id="362" name="Google Shape;362;p14"/>
          <p:cNvSpPr/>
          <p:nvPr/>
        </p:nvSpPr>
        <p:spPr>
          <a:xfrm>
            <a:off x="1047715" y="7787627"/>
            <a:ext cx="3341607" cy="666659"/>
          </a:xfrm>
          <a:prstGeom prst="rect">
            <a:avLst/>
          </a:prstGeom>
          <a:noFill/>
          <a:ln>
            <a:noFill/>
          </a:ln>
        </p:spPr>
        <p:txBody>
          <a:bodyPr anchorCtr="0" anchor="t" bIns="25400" lIns="25400" spcFirstLastPara="1" rIns="25400" wrap="square" tIns="25400">
            <a:normAutofit/>
          </a:bodyPr>
          <a:lstStyle/>
          <a:p>
            <a:pPr indent="0" lvl="0" marL="0" marR="0" rtl="0" algn="l">
              <a:lnSpc>
                <a:spcPct val="115000"/>
              </a:lnSpc>
              <a:spcBef>
                <a:spcPts val="0"/>
              </a:spcBef>
              <a:spcAft>
                <a:spcPts val="0"/>
              </a:spcAft>
              <a:buClr>
                <a:srgbClr val="2E3A46"/>
              </a:buClr>
              <a:buSzPts val="1875"/>
              <a:buFont typeface="Arial"/>
              <a:buNone/>
            </a:pPr>
            <a:r>
              <a:rPr b="0" i="0" lang="en-US" sz="1875" u="none" cap="none" strike="noStrike">
                <a:solidFill>
                  <a:srgbClr val="2E3A46"/>
                </a:solidFill>
                <a:latin typeface="Arial"/>
                <a:ea typeface="Arial"/>
                <a:cs typeface="Arial"/>
                <a:sym typeface="Arial"/>
              </a:rPr>
              <a:t>Data, team time and materials for one process.</a:t>
            </a:r>
            <a:endParaRPr b="0" i="0" sz="1875" u="none" cap="none" strike="noStrike">
              <a:solidFill>
                <a:schemeClr val="dk1"/>
              </a:solidFill>
              <a:latin typeface="Calibri"/>
              <a:ea typeface="Calibri"/>
              <a:cs typeface="Calibri"/>
              <a:sym typeface="Calibri"/>
            </a:endParaRPr>
          </a:p>
        </p:txBody>
      </p:sp>
      <p:sp>
        <p:nvSpPr>
          <p:cNvPr id="363" name="Google Shape;363;p14"/>
          <p:cNvSpPr/>
          <p:nvPr/>
        </p:nvSpPr>
        <p:spPr>
          <a:xfrm>
            <a:off x="4711063" y="7452024"/>
            <a:ext cx="3568707" cy="316609"/>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You keep</a:t>
            </a:r>
            <a:endParaRPr b="0" i="0" sz="1950" u="none" cap="none" strike="noStrike">
              <a:solidFill>
                <a:schemeClr val="dk1"/>
              </a:solidFill>
              <a:latin typeface="Calibri"/>
              <a:ea typeface="Calibri"/>
              <a:cs typeface="Calibri"/>
              <a:sym typeface="Calibri"/>
            </a:endParaRPr>
          </a:p>
        </p:txBody>
      </p:sp>
      <p:sp>
        <p:nvSpPr>
          <p:cNvPr id="364" name="Google Shape;364;p14"/>
          <p:cNvSpPr/>
          <p:nvPr/>
        </p:nvSpPr>
        <p:spPr>
          <a:xfrm>
            <a:off x="4711063" y="7787627"/>
            <a:ext cx="3341607" cy="666659"/>
          </a:xfrm>
          <a:prstGeom prst="rect">
            <a:avLst/>
          </a:prstGeom>
          <a:noFill/>
          <a:ln>
            <a:noFill/>
          </a:ln>
        </p:spPr>
        <p:txBody>
          <a:bodyPr anchorCtr="0" anchor="t" bIns="25400" lIns="25400" spcFirstLastPara="1" rIns="25400" wrap="square" tIns="25400">
            <a:normAutofit/>
          </a:bodyPr>
          <a:lstStyle/>
          <a:p>
            <a:pPr indent="0" lvl="0" marL="0" marR="0" rtl="0" algn="l">
              <a:lnSpc>
                <a:spcPct val="115000"/>
              </a:lnSpc>
              <a:spcBef>
                <a:spcPts val="0"/>
              </a:spcBef>
              <a:spcAft>
                <a:spcPts val="0"/>
              </a:spcAft>
              <a:buClr>
                <a:srgbClr val="2E3A46"/>
              </a:buClr>
              <a:buSzPts val="1875"/>
              <a:buFont typeface="Arial"/>
              <a:buNone/>
            </a:pPr>
            <a:r>
              <a:rPr b="0" i="0" lang="en-US" sz="1875" u="none" cap="none" strike="noStrike">
                <a:solidFill>
                  <a:srgbClr val="2E3A46"/>
                </a:solidFill>
                <a:latin typeface="Arial"/>
                <a:ea typeface="Arial"/>
                <a:cs typeface="Arial"/>
                <a:sym typeface="Arial"/>
              </a:rPr>
              <a:t>Your data, models, workflows and findings.</a:t>
            </a:r>
            <a:endParaRPr b="0" i="0" sz="1875" u="none" cap="none" strike="noStrike">
              <a:solidFill>
                <a:schemeClr val="dk1"/>
              </a:solidFill>
              <a:latin typeface="Calibri"/>
              <a:ea typeface="Calibri"/>
              <a:cs typeface="Calibri"/>
              <a:sym typeface="Calibri"/>
            </a:endParaRPr>
          </a:p>
        </p:txBody>
      </p:sp>
      <p:sp>
        <p:nvSpPr>
          <p:cNvPr id="365" name="Google Shape;365;p14"/>
          <p:cNvSpPr/>
          <p:nvPr/>
        </p:nvSpPr>
        <p:spPr>
          <a:xfrm>
            <a:off x="8374410" y="7452024"/>
            <a:ext cx="4104070" cy="316609"/>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How we protect it</a:t>
            </a:r>
            <a:endParaRPr b="0" i="0" sz="1950" u="none" cap="none" strike="noStrike">
              <a:solidFill>
                <a:schemeClr val="dk1"/>
              </a:solidFill>
              <a:latin typeface="Calibri"/>
              <a:ea typeface="Calibri"/>
              <a:cs typeface="Calibri"/>
              <a:sym typeface="Calibri"/>
            </a:endParaRPr>
          </a:p>
        </p:txBody>
      </p:sp>
      <p:sp>
        <p:nvSpPr>
          <p:cNvPr id="366" name="Google Shape;366;p14"/>
          <p:cNvSpPr/>
          <p:nvPr/>
        </p:nvSpPr>
        <p:spPr>
          <a:xfrm>
            <a:off x="8374410" y="7787627"/>
            <a:ext cx="3842902" cy="980939"/>
          </a:xfrm>
          <a:prstGeom prst="rect">
            <a:avLst/>
          </a:prstGeom>
          <a:noFill/>
          <a:ln>
            <a:noFill/>
          </a:ln>
        </p:spPr>
        <p:txBody>
          <a:bodyPr anchorCtr="0" anchor="t" bIns="25400" lIns="25400" spcFirstLastPara="1" rIns="25400" wrap="square" tIns="25400">
            <a:normAutofit/>
          </a:bodyPr>
          <a:lstStyle/>
          <a:p>
            <a:pPr indent="0" lvl="0" marL="0" marR="0" rtl="0" algn="l">
              <a:lnSpc>
                <a:spcPct val="115000"/>
              </a:lnSpc>
              <a:spcBef>
                <a:spcPts val="0"/>
              </a:spcBef>
              <a:spcAft>
                <a:spcPts val="0"/>
              </a:spcAft>
              <a:buClr>
                <a:srgbClr val="2E3A46"/>
              </a:buClr>
              <a:buSzPts val="1875"/>
              <a:buFont typeface="Arial"/>
              <a:buNone/>
            </a:pPr>
            <a:r>
              <a:rPr b="0" i="0" lang="en-US" sz="1875" u="none" cap="none" strike="noStrike">
                <a:solidFill>
                  <a:srgbClr val="2E3A46"/>
                </a:solidFill>
                <a:latin typeface="Arial"/>
                <a:ea typeface="Arial"/>
                <a:cs typeface="Arial"/>
                <a:sym typeface="Arial"/>
              </a:rPr>
              <a:t>Process IP stays yours; we learn only within agreed confidentiality boundaries.</a:t>
            </a:r>
            <a:endParaRPr b="0" i="0" sz="1875" u="none" cap="none" strike="noStrike">
              <a:solidFill>
                <a:schemeClr val="dk1"/>
              </a:solidFill>
              <a:latin typeface="Calibri"/>
              <a:ea typeface="Calibri"/>
              <a:cs typeface="Calibri"/>
              <a:sym typeface="Calibri"/>
            </a:endParaRPr>
          </a:p>
        </p:txBody>
      </p:sp>
      <p:sp>
        <p:nvSpPr>
          <p:cNvPr id="367" name="Google Shape;367;p14"/>
          <p:cNvSpPr/>
          <p:nvPr/>
        </p:nvSpPr>
        <p:spPr>
          <a:xfrm>
            <a:off x="12562573" y="6980561"/>
            <a:ext cx="9525" cy="1847471"/>
          </a:xfrm>
          <a:prstGeom prst="rect">
            <a:avLst/>
          </a:prstGeom>
          <a:solidFill>
            <a:srgbClr val="0A1522">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4"/>
          <p:cNvSpPr/>
          <p:nvPr/>
        </p:nvSpPr>
        <p:spPr>
          <a:xfrm>
            <a:off x="12987212" y="6980561"/>
            <a:ext cx="4644966" cy="35716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0A1522"/>
              </a:buClr>
              <a:buSzPts val="1875"/>
              <a:buFont typeface="Arial"/>
              <a:buNone/>
            </a:pPr>
            <a:r>
              <a:rPr b="1" i="0" lang="en-US" sz="1875" u="none" cap="none" strike="noStrike">
                <a:solidFill>
                  <a:srgbClr val="0A1522"/>
                </a:solidFill>
                <a:latin typeface="Arial"/>
                <a:ea typeface="Arial"/>
                <a:cs typeface="Arial"/>
                <a:sym typeface="Arial"/>
              </a:rPr>
              <a:t>COMMERCIAL SHAPE</a:t>
            </a:r>
            <a:endParaRPr b="0" i="0" sz="1875" u="none" cap="none" strike="noStrike">
              <a:solidFill>
                <a:schemeClr val="dk1"/>
              </a:solidFill>
              <a:latin typeface="Calibri"/>
              <a:ea typeface="Calibri"/>
              <a:cs typeface="Calibri"/>
              <a:sym typeface="Calibri"/>
            </a:endParaRPr>
          </a:p>
        </p:txBody>
      </p:sp>
      <p:sp>
        <p:nvSpPr>
          <p:cNvPr id="369" name="Google Shape;369;p14"/>
          <p:cNvSpPr/>
          <p:nvPr/>
        </p:nvSpPr>
        <p:spPr>
          <a:xfrm>
            <a:off x="12987212" y="7452024"/>
            <a:ext cx="4678303" cy="316609"/>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Fixed fee</a:t>
            </a:r>
            <a:endParaRPr b="0" i="0" sz="1950" u="none" cap="none" strike="noStrike">
              <a:solidFill>
                <a:schemeClr val="dk1"/>
              </a:solidFill>
              <a:latin typeface="Calibri"/>
              <a:ea typeface="Calibri"/>
              <a:cs typeface="Calibri"/>
              <a:sym typeface="Calibri"/>
            </a:endParaRPr>
          </a:p>
        </p:txBody>
      </p:sp>
      <p:sp>
        <p:nvSpPr>
          <p:cNvPr id="370" name="Google Shape;370;p14"/>
          <p:cNvSpPr/>
          <p:nvPr/>
        </p:nvSpPr>
        <p:spPr>
          <a:xfrm>
            <a:off x="12987212" y="7825748"/>
            <a:ext cx="4678303" cy="316609"/>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Defined scope</a:t>
            </a:r>
            <a:endParaRPr b="0" i="0" sz="1950" u="none" cap="none" strike="noStrike">
              <a:solidFill>
                <a:schemeClr val="dk1"/>
              </a:solidFill>
              <a:latin typeface="Calibri"/>
              <a:ea typeface="Calibri"/>
              <a:cs typeface="Calibri"/>
              <a:sym typeface="Calibri"/>
            </a:endParaRPr>
          </a:p>
        </p:txBody>
      </p:sp>
      <p:sp>
        <p:nvSpPr>
          <p:cNvPr id="371" name="Google Shape;371;p14"/>
          <p:cNvSpPr/>
          <p:nvPr/>
        </p:nvSpPr>
        <p:spPr>
          <a:xfrm>
            <a:off x="12987212" y="8199472"/>
            <a:ext cx="4380593" cy="666659"/>
          </a:xfrm>
          <a:prstGeom prst="rect">
            <a:avLst/>
          </a:prstGeom>
          <a:noFill/>
          <a:ln>
            <a:noFill/>
          </a:ln>
        </p:spPr>
        <p:txBody>
          <a:bodyPr anchorCtr="0" anchor="t" bIns="25400" lIns="25400" spcFirstLastPara="1" rIns="25400" wrap="square" tIns="25400">
            <a:normAutofit/>
          </a:bodyPr>
          <a:lstStyle/>
          <a:p>
            <a:pPr indent="0" lvl="0" marL="0" marR="0" rtl="0" algn="l">
              <a:lnSpc>
                <a:spcPct val="115000"/>
              </a:lnSpc>
              <a:spcBef>
                <a:spcPts val="0"/>
              </a:spcBef>
              <a:spcAft>
                <a:spcPts val="0"/>
              </a:spcAft>
              <a:buClr>
                <a:srgbClr val="2E3A46"/>
              </a:buClr>
              <a:buSzPts val="1875"/>
              <a:buFont typeface="Arial"/>
              <a:buNone/>
            </a:pPr>
            <a:r>
              <a:rPr b="0" i="0" lang="en-US" sz="1875" u="none" cap="none" strike="noStrike">
                <a:solidFill>
                  <a:srgbClr val="2E3A46"/>
                </a:solidFill>
                <a:latin typeface="Arial"/>
                <a:ea typeface="Arial"/>
                <a:cs typeface="Arial"/>
                <a:sym typeface="Arial"/>
              </a:rPr>
              <a:t>Agreed before kickoff, with no open-ended commitment.</a:t>
            </a:r>
            <a:endParaRPr b="0" i="0" sz="1875" u="none" cap="none" strike="noStrike">
              <a:solidFill>
                <a:schemeClr val="dk1"/>
              </a:solidFill>
              <a:latin typeface="Calibri"/>
              <a:ea typeface="Calibri"/>
              <a:cs typeface="Calibri"/>
              <a:sym typeface="Calibri"/>
            </a:endParaRPr>
          </a:p>
        </p:txBody>
      </p:sp>
      <p:sp>
        <p:nvSpPr>
          <p:cNvPr id="372" name="Google Shape;372;p14"/>
          <p:cNvSpPr/>
          <p:nvPr/>
        </p:nvSpPr>
        <p:spPr>
          <a:xfrm>
            <a:off x="1047715" y="9258327"/>
            <a:ext cx="17811749" cy="495290"/>
          </a:xfrm>
          <a:prstGeom prst="rect">
            <a:avLst/>
          </a:prstGeom>
          <a:noFill/>
          <a:ln>
            <a:noFill/>
          </a:ln>
        </p:spPr>
        <p:txBody>
          <a:bodyPr anchorCtr="0" anchor="t" bIns="25400" lIns="25400" spcFirstLastPara="1" rIns="25400" wrap="square" tIns="25400">
            <a:normAutofit/>
          </a:bodyPr>
          <a:lstStyle/>
          <a:p>
            <a:pPr indent="0" lvl="0" marL="0" marR="0" rtl="0" algn="l">
              <a:lnSpc>
                <a:spcPct val="105000"/>
              </a:lnSpc>
              <a:spcBef>
                <a:spcPts val="0"/>
              </a:spcBef>
              <a:spcAft>
                <a:spcPts val="0"/>
              </a:spcAft>
              <a:buClr>
                <a:srgbClr val="0A1522"/>
              </a:buClr>
              <a:buSzPts val="3000"/>
              <a:buFont typeface="Georgia"/>
              <a:buNone/>
            </a:pPr>
            <a:r>
              <a:rPr b="0" i="0" lang="en-US" sz="3000" u="none" cap="none" strike="noStrike">
                <a:solidFill>
                  <a:srgbClr val="0A1522"/>
                </a:solidFill>
                <a:latin typeface="Georgia"/>
                <a:ea typeface="Georgia"/>
                <a:cs typeface="Georgia"/>
                <a:sym typeface="Georgia"/>
              </a:rPr>
              <a:t>One process. One high-value objective. </a:t>
            </a:r>
            <a:r>
              <a:rPr b="0" i="0" lang="en-US" sz="3000" u="none" cap="none" strike="noStrike">
                <a:solidFill>
                  <a:srgbClr val="38AFD8"/>
                </a:solidFill>
                <a:latin typeface="Georgia"/>
                <a:ea typeface="Georgia"/>
                <a:cs typeface="Georgia"/>
                <a:sym typeface="Georgia"/>
              </a:rPr>
              <a:t>One controlled paid pilot.</a:t>
            </a:r>
            <a:endParaRPr b="0" i="0" sz="3000" u="none" cap="none" strike="noStrike">
              <a:solidFill>
                <a:schemeClr val="dk1"/>
              </a:solidFill>
              <a:latin typeface="Calibri"/>
              <a:ea typeface="Calibri"/>
              <a:cs typeface="Calibri"/>
              <a:sym typeface="Calibri"/>
            </a:endParaRPr>
          </a:p>
        </p:txBody>
      </p:sp>
      <p:pic>
        <p:nvPicPr>
          <p:cNvPr descr="preencoded.png" id="373" name="Google Shape;373;p14"/>
          <p:cNvPicPr preferRelativeResize="0"/>
          <p:nvPr/>
        </p:nvPicPr>
        <p:blipFill rotWithShape="1">
          <a:blip r:embed="rId3">
            <a:alphaModFix amt="72000"/>
          </a:blip>
          <a:srcRect b="0" l="0" r="0" t="0"/>
          <a:stretch/>
        </p:blipFill>
        <p:spPr>
          <a:xfrm>
            <a:off x="1047715" y="9772699"/>
            <a:ext cx="1317434" cy="38094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8" name="Shape 378"/>
        <p:cNvGrpSpPr/>
        <p:nvPr/>
      </p:nvGrpSpPr>
      <p:grpSpPr>
        <a:xfrm>
          <a:off x="0" y="0"/>
          <a:ext cx="0" cy="0"/>
          <a:chOff x="0" y="0"/>
          <a:chExt cx="0" cy="0"/>
        </a:xfrm>
      </p:grpSpPr>
      <p:sp>
        <p:nvSpPr>
          <p:cNvPr id="379" name="Google Shape;379;p15"/>
          <p:cNvSpPr/>
          <p:nvPr/>
        </p:nvSpPr>
        <p:spPr>
          <a:xfrm>
            <a:off x="1047715" y="628647"/>
            <a:ext cx="17779745" cy="335321"/>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PILOT KPIS</a:t>
            </a:r>
            <a:endParaRPr b="0" i="0" sz="1800" u="none" cap="none" strike="noStrike">
              <a:solidFill>
                <a:schemeClr val="dk1"/>
              </a:solidFill>
              <a:latin typeface="Calibri"/>
              <a:ea typeface="Calibri"/>
              <a:cs typeface="Calibri"/>
              <a:sym typeface="Calibri"/>
            </a:endParaRPr>
          </a:p>
        </p:txBody>
      </p:sp>
      <p:sp>
        <p:nvSpPr>
          <p:cNvPr id="380" name="Google Shape;380;p15"/>
          <p:cNvSpPr/>
          <p:nvPr/>
        </p:nvSpPr>
        <p:spPr>
          <a:xfrm>
            <a:off x="1047715" y="1097237"/>
            <a:ext cx="15893343" cy="998085"/>
          </a:xfrm>
          <a:prstGeom prst="rect">
            <a:avLst/>
          </a:prstGeom>
          <a:noFill/>
          <a:ln>
            <a:noFill/>
          </a:ln>
        </p:spPr>
        <p:txBody>
          <a:bodyPr anchorCtr="0" anchor="t" bIns="25400" lIns="25400" spcFirstLastPara="1" rIns="25400" wrap="square" tIns="25400">
            <a:normAutofit/>
          </a:bodyPr>
          <a:lstStyle/>
          <a:p>
            <a:pPr indent="0" lvl="0" marL="0" marR="0" rtl="0" algn="l">
              <a:lnSpc>
                <a:spcPct val="93000"/>
              </a:lnSpc>
              <a:spcBef>
                <a:spcPts val="0"/>
              </a:spcBef>
              <a:spcAft>
                <a:spcPts val="0"/>
              </a:spcAft>
              <a:buClr>
                <a:srgbClr val="0A1522"/>
              </a:buClr>
              <a:buSzPts val="3600"/>
              <a:buFont typeface="Georgia"/>
              <a:buNone/>
            </a:pPr>
            <a:r>
              <a:rPr b="0" i="0" lang="en-US" sz="3600" u="none" cap="none" strike="noStrike">
                <a:solidFill>
                  <a:srgbClr val="0A1522"/>
                </a:solidFill>
                <a:latin typeface="Georgia"/>
                <a:ea typeface="Georgia"/>
                <a:cs typeface="Georgia"/>
                <a:sym typeface="Georgia"/>
              </a:rPr>
              <a:t>A pilot should prove faster learning, better models and stronger process decisions</a:t>
            </a:r>
            <a:endParaRPr b="0" i="0" sz="3600" u="none" cap="none" strike="noStrike">
              <a:solidFill>
                <a:schemeClr val="dk1"/>
              </a:solidFill>
              <a:latin typeface="Calibri"/>
              <a:ea typeface="Calibri"/>
              <a:cs typeface="Calibri"/>
              <a:sym typeface="Calibri"/>
            </a:endParaRPr>
          </a:p>
        </p:txBody>
      </p:sp>
      <p:sp>
        <p:nvSpPr>
          <p:cNvPr id="381" name="Google Shape;381;p15"/>
          <p:cNvSpPr/>
          <p:nvPr/>
        </p:nvSpPr>
        <p:spPr>
          <a:xfrm>
            <a:off x="1047715" y="2304834"/>
            <a:ext cx="16192499" cy="602014"/>
          </a:xfrm>
          <a:custGeom>
            <a:rect b="b" l="l" r="r" t="t"/>
            <a:pathLst>
              <a:path extrusionOk="0" h="602014" w="16192499">
                <a:moveTo>
                  <a:pt x="114300" y="0"/>
                </a:moveTo>
                <a:lnTo>
                  <a:pt x="16078199" y="0"/>
                </a:lnTo>
                <a:cubicBezTo>
                  <a:pt x="16108513" y="0"/>
                  <a:pt x="16137586" y="12042"/>
                  <a:pt x="16159021" y="33478"/>
                </a:cubicBezTo>
                <a:cubicBezTo>
                  <a:pt x="16180457" y="54913"/>
                  <a:pt x="16192499" y="83986"/>
                  <a:pt x="16192499" y="114300"/>
                </a:cubicBezTo>
                <a:lnTo>
                  <a:pt x="16192499" y="602014"/>
                </a:lnTo>
                <a:lnTo>
                  <a:pt x="0" y="602014"/>
                </a:lnTo>
                <a:lnTo>
                  <a:pt x="0" y="114300"/>
                </a:lnTo>
                <a:cubicBezTo>
                  <a:pt x="0" y="51174"/>
                  <a:pt x="51174" y="0"/>
                  <a:pt x="114300" y="0"/>
                </a:cubicBezTo>
                <a:close/>
              </a:path>
            </a:pathLst>
          </a:custGeom>
          <a:solidFill>
            <a:srgbClr val="0A152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5"/>
          <p:cNvSpPr/>
          <p:nvPr/>
        </p:nvSpPr>
        <p:spPr>
          <a:xfrm>
            <a:off x="1314387" y="2457231"/>
            <a:ext cx="3785141" cy="335321"/>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KPI</a:t>
            </a:r>
            <a:endParaRPr b="0" i="0" sz="1800" u="none" cap="none" strike="noStrike">
              <a:solidFill>
                <a:schemeClr val="dk1"/>
              </a:solidFill>
              <a:latin typeface="Calibri"/>
              <a:ea typeface="Calibri"/>
              <a:cs typeface="Calibri"/>
              <a:sym typeface="Calibri"/>
            </a:endParaRPr>
          </a:p>
        </p:txBody>
      </p:sp>
      <p:sp>
        <p:nvSpPr>
          <p:cNvPr id="383" name="Google Shape;383;p15"/>
          <p:cNvSpPr/>
          <p:nvPr/>
        </p:nvSpPr>
        <p:spPr>
          <a:xfrm>
            <a:off x="4974950" y="2457231"/>
            <a:ext cx="6108784" cy="335321"/>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WHAT WE MEASURE</a:t>
            </a:r>
            <a:endParaRPr b="0" i="0" sz="1800" u="none" cap="none" strike="noStrike">
              <a:solidFill>
                <a:schemeClr val="dk1"/>
              </a:solidFill>
              <a:latin typeface="Calibri"/>
              <a:ea typeface="Calibri"/>
              <a:cs typeface="Calibri"/>
              <a:sym typeface="Calibri"/>
            </a:endParaRPr>
          </a:p>
        </p:txBody>
      </p:sp>
      <p:sp>
        <p:nvSpPr>
          <p:cNvPr id="384" name="Google Shape;384;p15"/>
          <p:cNvSpPr/>
          <p:nvPr/>
        </p:nvSpPr>
        <p:spPr>
          <a:xfrm>
            <a:off x="10597036" y="2457231"/>
            <a:ext cx="3319311" cy="335321"/>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BASELINE AT KICKOFF</a:t>
            </a:r>
            <a:endParaRPr b="0" i="0" sz="1800" u="none" cap="none" strike="noStrike">
              <a:solidFill>
                <a:schemeClr val="dk1"/>
              </a:solidFill>
              <a:latin typeface="Calibri"/>
              <a:ea typeface="Calibri"/>
              <a:cs typeface="Calibri"/>
              <a:sym typeface="Calibri"/>
            </a:endParaRPr>
          </a:p>
        </p:txBody>
      </p:sp>
      <p:sp>
        <p:nvSpPr>
          <p:cNvPr id="385" name="Google Shape;385;p15"/>
          <p:cNvSpPr/>
          <p:nvPr/>
        </p:nvSpPr>
        <p:spPr>
          <a:xfrm>
            <a:off x="13805022" y="2457231"/>
            <a:ext cx="3319311" cy="335321"/>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PILOT READOUT</a:t>
            </a:r>
            <a:endParaRPr b="0" i="0" sz="1800" u="none" cap="none" strike="noStrike">
              <a:solidFill>
                <a:schemeClr val="dk1"/>
              </a:solidFill>
              <a:latin typeface="Calibri"/>
              <a:ea typeface="Calibri"/>
              <a:cs typeface="Calibri"/>
              <a:sym typeface="Calibri"/>
            </a:endParaRPr>
          </a:p>
        </p:txBody>
      </p:sp>
      <p:sp>
        <p:nvSpPr>
          <p:cNvPr id="386" name="Google Shape;386;p15"/>
          <p:cNvSpPr/>
          <p:nvPr/>
        </p:nvSpPr>
        <p:spPr>
          <a:xfrm>
            <a:off x="1047715" y="2906848"/>
            <a:ext cx="16192499" cy="5420999"/>
          </a:xfrm>
          <a:custGeom>
            <a:rect b="b" l="l" r="r" t="t"/>
            <a:pathLst>
              <a:path extrusionOk="0" h="5420999" w="16192499">
                <a:moveTo>
                  <a:pt x="0" y="0"/>
                </a:moveTo>
                <a:lnTo>
                  <a:pt x="16192499" y="0"/>
                </a:lnTo>
                <a:lnTo>
                  <a:pt x="16192499" y="5306699"/>
                </a:lnTo>
                <a:cubicBezTo>
                  <a:pt x="16192499" y="5369825"/>
                  <a:pt x="16141325" y="5420999"/>
                  <a:pt x="16078199" y="5420999"/>
                </a:cubicBezTo>
                <a:lnTo>
                  <a:pt x="114300" y="5420999"/>
                </a:lnTo>
                <a:cubicBezTo>
                  <a:pt x="51174" y="5420999"/>
                  <a:pt x="0" y="5369825"/>
                  <a:pt x="0" y="5306699"/>
                </a:cubicBezTo>
                <a:lnTo>
                  <a:pt x="0" y="0"/>
                </a:lnTo>
                <a:close/>
              </a:path>
            </a:pathLst>
          </a:custGeom>
          <a:solidFill>
            <a:srgbClr val="F1F3F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5"/>
          <p:cNvSpPr/>
          <p:nvPr/>
        </p:nvSpPr>
        <p:spPr>
          <a:xfrm>
            <a:off x="1047715" y="8322277"/>
            <a:ext cx="16192499" cy="9525"/>
          </a:xfrm>
          <a:prstGeom prst="rect">
            <a:avLst/>
          </a:prstGeom>
          <a:solidFill>
            <a:srgbClr val="0A1522">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5"/>
          <p:cNvSpPr/>
          <p:nvPr/>
        </p:nvSpPr>
        <p:spPr>
          <a:xfrm>
            <a:off x="1047715" y="2906848"/>
            <a:ext cx="9525" cy="5420999"/>
          </a:xfrm>
          <a:prstGeom prst="rect">
            <a:avLst/>
          </a:prstGeom>
          <a:solidFill>
            <a:srgbClr val="0A1522">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5"/>
          <p:cNvSpPr/>
          <p:nvPr/>
        </p:nvSpPr>
        <p:spPr>
          <a:xfrm>
            <a:off x="17234644" y="2906848"/>
            <a:ext cx="9525" cy="5420999"/>
          </a:xfrm>
          <a:prstGeom prst="rect">
            <a:avLst/>
          </a:prstGeom>
          <a:solidFill>
            <a:srgbClr val="0A1522">
              <a:alpha val="12157"/>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5"/>
          <p:cNvSpPr/>
          <p:nvPr/>
        </p:nvSpPr>
        <p:spPr>
          <a:xfrm>
            <a:off x="1053285" y="2906848"/>
            <a:ext cx="16181359" cy="424639"/>
          </a:xfrm>
          <a:prstGeom prst="rect">
            <a:avLst/>
          </a:prstGeom>
          <a:solidFill>
            <a:srgbClr val="38AFD8">
              <a:alpha val="1686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5"/>
          <p:cNvSpPr/>
          <p:nvPr/>
        </p:nvSpPr>
        <p:spPr>
          <a:xfrm>
            <a:off x="1053285" y="3325917"/>
            <a:ext cx="16181359" cy="9525"/>
          </a:xfrm>
          <a:prstGeom prst="rect">
            <a:avLst/>
          </a:prstGeom>
          <a:solidFill>
            <a:srgbClr val="0A1522">
              <a:alpha val="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5"/>
          <p:cNvSpPr/>
          <p:nvPr/>
        </p:nvSpPr>
        <p:spPr>
          <a:xfrm>
            <a:off x="1319958" y="2956806"/>
            <a:ext cx="3537667" cy="35716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0A1522"/>
              </a:buClr>
              <a:buSzPts val="1875"/>
              <a:buFont typeface="Arial"/>
              <a:buNone/>
            </a:pPr>
            <a:r>
              <a:rPr b="1" i="0" lang="en-US" sz="1875" u="none" cap="none" strike="noStrike">
                <a:solidFill>
                  <a:srgbClr val="0A1522"/>
                </a:solidFill>
                <a:latin typeface="Arial"/>
                <a:ea typeface="Arial"/>
                <a:cs typeface="Arial"/>
                <a:sym typeface="Arial"/>
              </a:rPr>
              <a:t>OUTCOME AND SPEED</a:t>
            </a:r>
            <a:endParaRPr b="0" i="0" sz="1875" u="none" cap="none" strike="noStrike">
              <a:solidFill>
                <a:schemeClr val="dk1"/>
              </a:solidFill>
              <a:latin typeface="Calibri"/>
              <a:ea typeface="Calibri"/>
              <a:cs typeface="Calibri"/>
              <a:sym typeface="Calibri"/>
            </a:endParaRPr>
          </a:p>
        </p:txBody>
      </p:sp>
      <p:sp>
        <p:nvSpPr>
          <p:cNvPr id="393" name="Google Shape;393;p15"/>
          <p:cNvSpPr/>
          <p:nvPr/>
        </p:nvSpPr>
        <p:spPr>
          <a:xfrm>
            <a:off x="1053285" y="3918357"/>
            <a:ext cx="16181359" cy="9525"/>
          </a:xfrm>
          <a:prstGeom prst="rect">
            <a:avLst/>
          </a:prstGeom>
          <a:solidFill>
            <a:srgbClr val="0A1522">
              <a:alpha val="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5"/>
          <p:cNvSpPr/>
          <p:nvPr/>
        </p:nvSpPr>
        <p:spPr>
          <a:xfrm>
            <a:off x="1319958" y="3471438"/>
            <a:ext cx="3814369" cy="345069"/>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Process outcome</a:t>
            </a:r>
            <a:endParaRPr b="0" i="0" sz="1950" u="none" cap="none" strike="noStrike">
              <a:solidFill>
                <a:schemeClr val="dk1"/>
              </a:solidFill>
              <a:latin typeface="Calibri"/>
              <a:ea typeface="Calibri"/>
              <a:cs typeface="Calibri"/>
              <a:sym typeface="Calibri"/>
            </a:endParaRPr>
          </a:p>
        </p:txBody>
      </p:sp>
      <p:sp>
        <p:nvSpPr>
          <p:cNvPr id="395" name="Google Shape;395;p15"/>
          <p:cNvSpPr/>
          <p:nvPr/>
        </p:nvSpPr>
        <p:spPr>
          <a:xfrm>
            <a:off x="4977996" y="3472482"/>
            <a:ext cx="6136192" cy="342893"/>
          </a:xfrm>
          <a:prstGeom prst="rect">
            <a:avLst/>
          </a:prstGeom>
          <a:noFill/>
          <a:ln>
            <a:noFill/>
          </a:ln>
        </p:spPr>
        <p:txBody>
          <a:bodyPr anchorCtr="0" anchor="t" bIns="25400" lIns="25400" spcFirstLastPara="1" rIns="25400" wrap="square" tIns="25400">
            <a:normAutofit/>
          </a:bodyPr>
          <a:lstStyle/>
          <a:p>
            <a:pPr indent="0" lvl="0" marL="0" marR="0" rtl="0" algn="l">
              <a:lnSpc>
                <a:spcPct val="112000"/>
              </a:lnSpc>
              <a:spcBef>
                <a:spcPts val="0"/>
              </a:spcBef>
              <a:spcAft>
                <a:spcPts val="0"/>
              </a:spcAft>
              <a:buClr>
                <a:srgbClr val="2E3A46"/>
              </a:buClr>
              <a:buSzPts val="1875"/>
              <a:buFont typeface="Arial"/>
              <a:buNone/>
            </a:pPr>
            <a:r>
              <a:rPr b="0" i="0" lang="en-US" sz="1875" u="none" cap="none" strike="noStrike">
                <a:solidFill>
                  <a:srgbClr val="2E3A46"/>
                </a:solidFill>
                <a:latin typeface="Arial"/>
                <a:ea typeface="Arial"/>
                <a:cs typeface="Arial"/>
                <a:sym typeface="Arial"/>
              </a:rPr>
              <a:t>Improvement toward the agreed objective</a:t>
            </a:r>
            <a:endParaRPr b="0" i="0" sz="1875" u="none" cap="none" strike="noStrike">
              <a:solidFill>
                <a:schemeClr val="dk1"/>
              </a:solidFill>
              <a:latin typeface="Calibri"/>
              <a:ea typeface="Calibri"/>
              <a:cs typeface="Calibri"/>
              <a:sym typeface="Calibri"/>
            </a:endParaRPr>
          </a:p>
        </p:txBody>
      </p:sp>
      <p:sp>
        <p:nvSpPr>
          <p:cNvPr id="396" name="Google Shape;396;p15"/>
          <p:cNvSpPr/>
          <p:nvPr/>
        </p:nvSpPr>
        <p:spPr>
          <a:xfrm>
            <a:off x="10596013" y="3477269"/>
            <a:ext cx="3316918" cy="333319"/>
          </a:xfrm>
          <a:prstGeom prst="rect">
            <a:avLst/>
          </a:prstGeom>
          <a:noFill/>
          <a:ln>
            <a:noFill/>
          </a:ln>
        </p:spPr>
        <p:txBody>
          <a:bodyPr anchorCtr="0" anchor="t" bIns="25400" lIns="25400" spcFirstLastPara="1" rIns="25400" wrap="square" tIns="25400">
            <a:normAutofit/>
          </a:bodyPr>
          <a:lstStyle/>
          <a:p>
            <a:pPr indent="0" lvl="0" marL="0" marR="0" rtl="0" algn="ctr">
              <a:lnSpc>
                <a:spcPct val="108000"/>
              </a:lnSpc>
              <a:spcBef>
                <a:spcPts val="0"/>
              </a:spcBef>
              <a:spcAft>
                <a:spcPts val="0"/>
              </a:spcAft>
              <a:buClr>
                <a:srgbClr val="0A1522"/>
              </a:buClr>
              <a:buSzPts val="1875"/>
              <a:buFont typeface="Arial"/>
              <a:buNone/>
            </a:pPr>
            <a:r>
              <a:rPr b="0" i="0" lang="en-US" sz="1875" u="none" cap="none" strike="noStrike">
                <a:solidFill>
                  <a:srgbClr val="0A1522"/>
                </a:solidFill>
                <a:latin typeface="Arial"/>
                <a:ea typeface="Arial"/>
                <a:cs typeface="Arial"/>
                <a:sym typeface="Arial"/>
              </a:rPr>
              <a:t>Agreed reference run</a:t>
            </a:r>
            <a:endParaRPr b="0" i="0" sz="1875" u="none" cap="none" strike="noStrike">
              <a:solidFill>
                <a:schemeClr val="dk1"/>
              </a:solidFill>
              <a:latin typeface="Calibri"/>
              <a:ea typeface="Calibri"/>
              <a:cs typeface="Calibri"/>
              <a:sym typeface="Calibri"/>
            </a:endParaRPr>
          </a:p>
        </p:txBody>
      </p:sp>
      <p:sp>
        <p:nvSpPr>
          <p:cNvPr id="397" name="Google Shape;397;p15"/>
          <p:cNvSpPr/>
          <p:nvPr/>
        </p:nvSpPr>
        <p:spPr>
          <a:xfrm>
            <a:off x="13801824" y="3477269"/>
            <a:ext cx="3316918" cy="333319"/>
          </a:xfrm>
          <a:prstGeom prst="rect">
            <a:avLst/>
          </a:prstGeom>
          <a:noFill/>
          <a:ln>
            <a:noFill/>
          </a:ln>
        </p:spPr>
        <p:txBody>
          <a:bodyPr anchorCtr="0" anchor="t" bIns="25400" lIns="25400" spcFirstLastPara="1" rIns="25400" wrap="square" tIns="25400">
            <a:normAutofit/>
          </a:bodyPr>
          <a:lstStyle/>
          <a:p>
            <a:pPr indent="0" lvl="0" marL="0" marR="0" rtl="0" algn="ctr">
              <a:lnSpc>
                <a:spcPct val="108000"/>
              </a:lnSpc>
              <a:spcBef>
                <a:spcPts val="0"/>
              </a:spcBef>
              <a:spcAft>
                <a:spcPts val="0"/>
              </a:spcAft>
              <a:buClr>
                <a:srgbClr val="38AFD8"/>
              </a:buClr>
              <a:buSzPts val="1875"/>
              <a:buFont typeface="Arial"/>
              <a:buNone/>
            </a:pPr>
            <a:r>
              <a:rPr b="1" i="0" lang="en-US" sz="1875" u="none" cap="none" strike="noStrike">
                <a:solidFill>
                  <a:srgbClr val="38AFD8"/>
                </a:solidFill>
                <a:latin typeface="Arial"/>
                <a:ea typeface="Arial"/>
                <a:cs typeface="Arial"/>
                <a:sym typeface="Arial"/>
              </a:rPr>
              <a:t>Measured change</a:t>
            </a:r>
            <a:endParaRPr b="0" i="0" sz="1875" u="none" cap="none" strike="noStrike">
              <a:solidFill>
                <a:schemeClr val="dk1"/>
              </a:solidFill>
              <a:latin typeface="Calibri"/>
              <a:ea typeface="Calibri"/>
              <a:cs typeface="Calibri"/>
              <a:sym typeface="Calibri"/>
            </a:endParaRPr>
          </a:p>
        </p:txBody>
      </p:sp>
      <p:sp>
        <p:nvSpPr>
          <p:cNvPr id="398" name="Google Shape;398;p15"/>
          <p:cNvSpPr/>
          <p:nvPr/>
        </p:nvSpPr>
        <p:spPr>
          <a:xfrm>
            <a:off x="1053285" y="4510798"/>
            <a:ext cx="16181359" cy="9525"/>
          </a:xfrm>
          <a:prstGeom prst="rect">
            <a:avLst/>
          </a:prstGeom>
          <a:solidFill>
            <a:srgbClr val="0A1522">
              <a:alpha val="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5"/>
          <p:cNvSpPr/>
          <p:nvPr/>
        </p:nvSpPr>
        <p:spPr>
          <a:xfrm>
            <a:off x="1319958" y="4063878"/>
            <a:ext cx="3814369" cy="345069"/>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Analysis cycle time</a:t>
            </a:r>
            <a:endParaRPr b="0" i="0" sz="1950" u="none" cap="none" strike="noStrike">
              <a:solidFill>
                <a:schemeClr val="dk1"/>
              </a:solidFill>
              <a:latin typeface="Calibri"/>
              <a:ea typeface="Calibri"/>
              <a:cs typeface="Calibri"/>
              <a:sym typeface="Calibri"/>
            </a:endParaRPr>
          </a:p>
        </p:txBody>
      </p:sp>
      <p:sp>
        <p:nvSpPr>
          <p:cNvPr id="400" name="Google Shape;400;p15"/>
          <p:cNvSpPr/>
          <p:nvPr/>
        </p:nvSpPr>
        <p:spPr>
          <a:xfrm>
            <a:off x="4977996" y="4064923"/>
            <a:ext cx="6136192" cy="342893"/>
          </a:xfrm>
          <a:prstGeom prst="rect">
            <a:avLst/>
          </a:prstGeom>
          <a:noFill/>
          <a:ln>
            <a:noFill/>
          </a:ln>
        </p:spPr>
        <p:txBody>
          <a:bodyPr anchorCtr="0" anchor="t" bIns="25400" lIns="25400" spcFirstLastPara="1" rIns="25400" wrap="square" tIns="25400">
            <a:normAutofit/>
          </a:bodyPr>
          <a:lstStyle/>
          <a:p>
            <a:pPr indent="0" lvl="0" marL="0" marR="0" rtl="0" algn="l">
              <a:lnSpc>
                <a:spcPct val="112000"/>
              </a:lnSpc>
              <a:spcBef>
                <a:spcPts val="0"/>
              </a:spcBef>
              <a:spcAft>
                <a:spcPts val="0"/>
              </a:spcAft>
              <a:buClr>
                <a:srgbClr val="2E3A46"/>
              </a:buClr>
              <a:buSzPts val="1875"/>
              <a:buFont typeface="Arial"/>
              <a:buNone/>
            </a:pPr>
            <a:r>
              <a:rPr b="0" i="0" lang="en-US" sz="1875" u="none" cap="none" strike="noStrike">
                <a:solidFill>
                  <a:srgbClr val="2E3A46"/>
                </a:solidFill>
                <a:latin typeface="Arial"/>
                <a:ea typeface="Arial"/>
                <a:cs typeface="Arial"/>
                <a:sym typeface="Arial"/>
              </a:rPr>
              <a:t>Experiment completion to interpreted result</a:t>
            </a:r>
            <a:endParaRPr b="0" i="0" sz="1875" u="none" cap="none" strike="noStrike">
              <a:solidFill>
                <a:schemeClr val="dk1"/>
              </a:solidFill>
              <a:latin typeface="Calibri"/>
              <a:ea typeface="Calibri"/>
              <a:cs typeface="Calibri"/>
              <a:sym typeface="Calibri"/>
            </a:endParaRPr>
          </a:p>
        </p:txBody>
      </p:sp>
      <p:sp>
        <p:nvSpPr>
          <p:cNvPr id="401" name="Google Shape;401;p15"/>
          <p:cNvSpPr/>
          <p:nvPr/>
        </p:nvSpPr>
        <p:spPr>
          <a:xfrm>
            <a:off x="10596013" y="4069709"/>
            <a:ext cx="3316918" cy="333319"/>
          </a:xfrm>
          <a:prstGeom prst="rect">
            <a:avLst/>
          </a:prstGeom>
          <a:noFill/>
          <a:ln>
            <a:noFill/>
          </a:ln>
        </p:spPr>
        <p:txBody>
          <a:bodyPr anchorCtr="0" anchor="t" bIns="25400" lIns="25400" spcFirstLastPara="1" rIns="25400" wrap="square" tIns="25400">
            <a:normAutofit/>
          </a:bodyPr>
          <a:lstStyle/>
          <a:p>
            <a:pPr indent="0" lvl="0" marL="0" marR="0" rtl="0" algn="ctr">
              <a:lnSpc>
                <a:spcPct val="108000"/>
              </a:lnSpc>
              <a:spcBef>
                <a:spcPts val="0"/>
              </a:spcBef>
              <a:spcAft>
                <a:spcPts val="0"/>
              </a:spcAft>
              <a:buClr>
                <a:srgbClr val="0A1522"/>
              </a:buClr>
              <a:buSzPts val="1875"/>
              <a:buFont typeface="Arial"/>
              <a:buNone/>
            </a:pPr>
            <a:r>
              <a:rPr b="0" i="0" lang="en-US" sz="1875" u="none" cap="none" strike="noStrike">
                <a:solidFill>
                  <a:srgbClr val="0A1522"/>
                </a:solidFill>
                <a:latin typeface="Arial"/>
                <a:ea typeface="Arial"/>
                <a:cs typeface="Arial"/>
                <a:sym typeface="Arial"/>
              </a:rPr>
              <a:t>Current turnaround</a:t>
            </a:r>
            <a:endParaRPr b="0" i="0" sz="1875" u="none" cap="none" strike="noStrike">
              <a:solidFill>
                <a:schemeClr val="dk1"/>
              </a:solidFill>
              <a:latin typeface="Calibri"/>
              <a:ea typeface="Calibri"/>
              <a:cs typeface="Calibri"/>
              <a:sym typeface="Calibri"/>
            </a:endParaRPr>
          </a:p>
        </p:txBody>
      </p:sp>
      <p:sp>
        <p:nvSpPr>
          <p:cNvPr id="402" name="Google Shape;402;p15"/>
          <p:cNvSpPr/>
          <p:nvPr/>
        </p:nvSpPr>
        <p:spPr>
          <a:xfrm>
            <a:off x="13801824" y="4069709"/>
            <a:ext cx="3316918" cy="333319"/>
          </a:xfrm>
          <a:prstGeom prst="rect">
            <a:avLst/>
          </a:prstGeom>
          <a:noFill/>
          <a:ln>
            <a:noFill/>
          </a:ln>
        </p:spPr>
        <p:txBody>
          <a:bodyPr anchorCtr="0" anchor="t" bIns="25400" lIns="25400" spcFirstLastPara="1" rIns="25400" wrap="square" tIns="25400">
            <a:normAutofit/>
          </a:bodyPr>
          <a:lstStyle/>
          <a:p>
            <a:pPr indent="0" lvl="0" marL="0" marR="0" rtl="0" algn="ctr">
              <a:lnSpc>
                <a:spcPct val="108000"/>
              </a:lnSpc>
              <a:spcBef>
                <a:spcPts val="0"/>
              </a:spcBef>
              <a:spcAft>
                <a:spcPts val="0"/>
              </a:spcAft>
              <a:buClr>
                <a:srgbClr val="38AFD8"/>
              </a:buClr>
              <a:buSzPts val="1875"/>
              <a:buFont typeface="Arial"/>
              <a:buNone/>
            </a:pPr>
            <a:r>
              <a:rPr b="1" i="0" lang="en-US" sz="1875" u="none" cap="none" strike="noStrike">
                <a:solidFill>
                  <a:srgbClr val="38AFD8"/>
                </a:solidFill>
                <a:latin typeface="Arial"/>
                <a:ea typeface="Arial"/>
                <a:cs typeface="Arial"/>
                <a:sym typeface="Arial"/>
              </a:rPr>
              <a:t>Timed in pilot</a:t>
            </a:r>
            <a:endParaRPr b="0" i="0" sz="1875" u="none" cap="none" strike="noStrike">
              <a:solidFill>
                <a:schemeClr val="dk1"/>
              </a:solidFill>
              <a:latin typeface="Calibri"/>
              <a:ea typeface="Calibri"/>
              <a:cs typeface="Calibri"/>
              <a:sym typeface="Calibri"/>
            </a:endParaRPr>
          </a:p>
        </p:txBody>
      </p:sp>
      <p:sp>
        <p:nvSpPr>
          <p:cNvPr id="403" name="Google Shape;403;p15"/>
          <p:cNvSpPr/>
          <p:nvPr/>
        </p:nvSpPr>
        <p:spPr>
          <a:xfrm>
            <a:off x="1053285" y="5103238"/>
            <a:ext cx="16181359" cy="9525"/>
          </a:xfrm>
          <a:prstGeom prst="rect">
            <a:avLst/>
          </a:prstGeom>
          <a:solidFill>
            <a:srgbClr val="0A1522">
              <a:alpha val="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5"/>
          <p:cNvSpPr/>
          <p:nvPr/>
        </p:nvSpPr>
        <p:spPr>
          <a:xfrm>
            <a:off x="1319958" y="4656318"/>
            <a:ext cx="3814369" cy="345069"/>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Experimental efficiency</a:t>
            </a:r>
            <a:endParaRPr b="0" i="0" sz="1950" u="none" cap="none" strike="noStrike">
              <a:solidFill>
                <a:schemeClr val="dk1"/>
              </a:solidFill>
              <a:latin typeface="Calibri"/>
              <a:ea typeface="Calibri"/>
              <a:cs typeface="Calibri"/>
              <a:sym typeface="Calibri"/>
            </a:endParaRPr>
          </a:p>
        </p:txBody>
      </p:sp>
      <p:sp>
        <p:nvSpPr>
          <p:cNvPr id="405" name="Google Shape;405;p15"/>
          <p:cNvSpPr/>
          <p:nvPr/>
        </p:nvSpPr>
        <p:spPr>
          <a:xfrm>
            <a:off x="4977996" y="4657363"/>
            <a:ext cx="6136192" cy="342893"/>
          </a:xfrm>
          <a:prstGeom prst="rect">
            <a:avLst/>
          </a:prstGeom>
          <a:noFill/>
          <a:ln>
            <a:noFill/>
          </a:ln>
        </p:spPr>
        <p:txBody>
          <a:bodyPr anchorCtr="0" anchor="t" bIns="25400" lIns="25400" spcFirstLastPara="1" rIns="25400" wrap="square" tIns="25400">
            <a:normAutofit/>
          </a:bodyPr>
          <a:lstStyle/>
          <a:p>
            <a:pPr indent="0" lvl="0" marL="0" marR="0" rtl="0" algn="l">
              <a:lnSpc>
                <a:spcPct val="112000"/>
              </a:lnSpc>
              <a:spcBef>
                <a:spcPts val="0"/>
              </a:spcBef>
              <a:spcAft>
                <a:spcPts val="0"/>
              </a:spcAft>
              <a:buClr>
                <a:srgbClr val="2E3A46"/>
              </a:buClr>
              <a:buSzPts val="1875"/>
              <a:buFont typeface="Arial"/>
              <a:buNone/>
            </a:pPr>
            <a:r>
              <a:rPr b="0" i="0" lang="en-US" sz="1875" u="none" cap="none" strike="noStrike">
                <a:solidFill>
                  <a:srgbClr val="2E3A46"/>
                </a:solidFill>
                <a:latin typeface="Arial"/>
                <a:ea typeface="Arial"/>
                <a:cs typeface="Arial"/>
                <a:sym typeface="Arial"/>
              </a:rPr>
              <a:t>Runs required to reach the objective</a:t>
            </a:r>
            <a:endParaRPr b="0" i="0" sz="1875" u="none" cap="none" strike="noStrike">
              <a:solidFill>
                <a:schemeClr val="dk1"/>
              </a:solidFill>
              <a:latin typeface="Calibri"/>
              <a:ea typeface="Calibri"/>
              <a:cs typeface="Calibri"/>
              <a:sym typeface="Calibri"/>
            </a:endParaRPr>
          </a:p>
        </p:txBody>
      </p:sp>
      <p:sp>
        <p:nvSpPr>
          <p:cNvPr id="406" name="Google Shape;406;p15"/>
          <p:cNvSpPr/>
          <p:nvPr/>
        </p:nvSpPr>
        <p:spPr>
          <a:xfrm>
            <a:off x="10596013" y="4662150"/>
            <a:ext cx="3316918" cy="333319"/>
          </a:xfrm>
          <a:prstGeom prst="rect">
            <a:avLst/>
          </a:prstGeom>
          <a:noFill/>
          <a:ln>
            <a:noFill/>
          </a:ln>
        </p:spPr>
        <p:txBody>
          <a:bodyPr anchorCtr="0" anchor="t" bIns="25400" lIns="25400" spcFirstLastPara="1" rIns="25400" wrap="square" tIns="25400">
            <a:normAutofit/>
          </a:bodyPr>
          <a:lstStyle/>
          <a:p>
            <a:pPr indent="0" lvl="0" marL="0" marR="0" rtl="0" algn="ctr">
              <a:lnSpc>
                <a:spcPct val="108000"/>
              </a:lnSpc>
              <a:spcBef>
                <a:spcPts val="0"/>
              </a:spcBef>
              <a:spcAft>
                <a:spcPts val="0"/>
              </a:spcAft>
              <a:buClr>
                <a:srgbClr val="0A1522"/>
              </a:buClr>
              <a:buSzPts val="1875"/>
              <a:buFont typeface="Arial"/>
              <a:buNone/>
            </a:pPr>
            <a:r>
              <a:rPr b="0" i="0" lang="en-US" sz="1875" u="none" cap="none" strike="noStrike">
                <a:solidFill>
                  <a:srgbClr val="0A1522"/>
                </a:solidFill>
                <a:latin typeface="Arial"/>
                <a:ea typeface="Arial"/>
                <a:cs typeface="Arial"/>
                <a:sym typeface="Arial"/>
              </a:rPr>
              <a:t>Historic rounds</a:t>
            </a:r>
            <a:endParaRPr b="0" i="0" sz="1875" u="none" cap="none" strike="noStrike">
              <a:solidFill>
                <a:schemeClr val="dk1"/>
              </a:solidFill>
              <a:latin typeface="Calibri"/>
              <a:ea typeface="Calibri"/>
              <a:cs typeface="Calibri"/>
              <a:sym typeface="Calibri"/>
            </a:endParaRPr>
          </a:p>
        </p:txBody>
      </p:sp>
      <p:sp>
        <p:nvSpPr>
          <p:cNvPr id="407" name="Google Shape;407;p15"/>
          <p:cNvSpPr/>
          <p:nvPr/>
        </p:nvSpPr>
        <p:spPr>
          <a:xfrm>
            <a:off x="13801824" y="4662150"/>
            <a:ext cx="3316918" cy="333319"/>
          </a:xfrm>
          <a:prstGeom prst="rect">
            <a:avLst/>
          </a:prstGeom>
          <a:noFill/>
          <a:ln>
            <a:noFill/>
          </a:ln>
        </p:spPr>
        <p:txBody>
          <a:bodyPr anchorCtr="0" anchor="t" bIns="25400" lIns="25400" spcFirstLastPara="1" rIns="25400" wrap="square" tIns="25400">
            <a:normAutofit/>
          </a:bodyPr>
          <a:lstStyle/>
          <a:p>
            <a:pPr indent="0" lvl="0" marL="0" marR="0" rtl="0" algn="ctr">
              <a:lnSpc>
                <a:spcPct val="108000"/>
              </a:lnSpc>
              <a:spcBef>
                <a:spcPts val="0"/>
              </a:spcBef>
              <a:spcAft>
                <a:spcPts val="0"/>
              </a:spcAft>
              <a:buClr>
                <a:srgbClr val="38AFD8"/>
              </a:buClr>
              <a:buSzPts val="1875"/>
              <a:buFont typeface="Arial"/>
              <a:buNone/>
            </a:pPr>
            <a:r>
              <a:rPr b="1" i="0" lang="en-US" sz="1875" u="none" cap="none" strike="noStrike">
                <a:solidFill>
                  <a:srgbClr val="38AFD8"/>
                </a:solidFill>
                <a:latin typeface="Arial"/>
                <a:ea typeface="Arial"/>
                <a:cs typeface="Arial"/>
                <a:sym typeface="Arial"/>
              </a:rPr>
              <a:t>Rounds used</a:t>
            </a:r>
            <a:endParaRPr b="0" i="0" sz="1875" u="none" cap="none" strike="noStrike">
              <a:solidFill>
                <a:schemeClr val="dk1"/>
              </a:solidFill>
              <a:latin typeface="Calibri"/>
              <a:ea typeface="Calibri"/>
              <a:cs typeface="Calibri"/>
              <a:sym typeface="Calibri"/>
            </a:endParaRPr>
          </a:p>
        </p:txBody>
      </p:sp>
      <p:sp>
        <p:nvSpPr>
          <p:cNvPr id="408" name="Google Shape;408;p15"/>
          <p:cNvSpPr/>
          <p:nvPr/>
        </p:nvSpPr>
        <p:spPr>
          <a:xfrm>
            <a:off x="1053285" y="5108808"/>
            <a:ext cx="16181359" cy="424639"/>
          </a:xfrm>
          <a:prstGeom prst="rect">
            <a:avLst/>
          </a:prstGeom>
          <a:solidFill>
            <a:srgbClr val="38AFD8">
              <a:alpha val="1686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5"/>
          <p:cNvSpPr/>
          <p:nvPr/>
        </p:nvSpPr>
        <p:spPr>
          <a:xfrm>
            <a:off x="1053285" y="5527877"/>
            <a:ext cx="16181359" cy="9525"/>
          </a:xfrm>
          <a:prstGeom prst="rect">
            <a:avLst/>
          </a:prstGeom>
          <a:solidFill>
            <a:srgbClr val="0A1522">
              <a:alpha val="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5"/>
          <p:cNvSpPr/>
          <p:nvPr/>
        </p:nvSpPr>
        <p:spPr>
          <a:xfrm>
            <a:off x="1319958" y="5158765"/>
            <a:ext cx="4718109" cy="35716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0A1522"/>
              </a:buClr>
              <a:buSzPts val="1875"/>
              <a:buFont typeface="Arial"/>
              <a:buNone/>
            </a:pPr>
            <a:r>
              <a:rPr b="1" i="0" lang="en-US" sz="1875" u="none" cap="none" strike="noStrike">
                <a:solidFill>
                  <a:srgbClr val="0A1522"/>
                </a:solidFill>
                <a:latin typeface="Arial"/>
                <a:ea typeface="Arial"/>
                <a:cs typeface="Arial"/>
                <a:sym typeface="Arial"/>
              </a:rPr>
              <a:t>MODEL AND UNDERSTANDING</a:t>
            </a:r>
            <a:endParaRPr b="0" i="0" sz="1875" u="none" cap="none" strike="noStrike">
              <a:solidFill>
                <a:schemeClr val="dk1"/>
              </a:solidFill>
              <a:latin typeface="Calibri"/>
              <a:ea typeface="Calibri"/>
              <a:cs typeface="Calibri"/>
              <a:sym typeface="Calibri"/>
            </a:endParaRPr>
          </a:p>
        </p:txBody>
      </p:sp>
      <p:sp>
        <p:nvSpPr>
          <p:cNvPr id="411" name="Google Shape;411;p15"/>
          <p:cNvSpPr/>
          <p:nvPr/>
        </p:nvSpPr>
        <p:spPr>
          <a:xfrm>
            <a:off x="1053285" y="6120317"/>
            <a:ext cx="16181359" cy="9525"/>
          </a:xfrm>
          <a:prstGeom prst="rect">
            <a:avLst/>
          </a:prstGeom>
          <a:solidFill>
            <a:srgbClr val="0A1522">
              <a:alpha val="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5"/>
          <p:cNvSpPr/>
          <p:nvPr/>
        </p:nvSpPr>
        <p:spPr>
          <a:xfrm>
            <a:off x="1319958" y="5673397"/>
            <a:ext cx="3814369" cy="345069"/>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Model quality</a:t>
            </a:r>
            <a:endParaRPr b="0" i="0" sz="1950" u="none" cap="none" strike="noStrike">
              <a:solidFill>
                <a:schemeClr val="dk1"/>
              </a:solidFill>
              <a:latin typeface="Calibri"/>
              <a:ea typeface="Calibri"/>
              <a:cs typeface="Calibri"/>
              <a:sym typeface="Calibri"/>
            </a:endParaRPr>
          </a:p>
        </p:txBody>
      </p:sp>
      <p:sp>
        <p:nvSpPr>
          <p:cNvPr id="413" name="Google Shape;413;p15"/>
          <p:cNvSpPr/>
          <p:nvPr/>
        </p:nvSpPr>
        <p:spPr>
          <a:xfrm>
            <a:off x="4977996" y="5674442"/>
            <a:ext cx="6136192" cy="342893"/>
          </a:xfrm>
          <a:prstGeom prst="rect">
            <a:avLst/>
          </a:prstGeom>
          <a:noFill/>
          <a:ln>
            <a:noFill/>
          </a:ln>
        </p:spPr>
        <p:txBody>
          <a:bodyPr anchorCtr="0" anchor="t" bIns="25400" lIns="25400" spcFirstLastPara="1" rIns="25400" wrap="square" tIns="25400">
            <a:normAutofit/>
          </a:bodyPr>
          <a:lstStyle/>
          <a:p>
            <a:pPr indent="0" lvl="0" marL="0" marR="0" rtl="0" algn="l">
              <a:lnSpc>
                <a:spcPct val="112000"/>
              </a:lnSpc>
              <a:spcBef>
                <a:spcPts val="0"/>
              </a:spcBef>
              <a:spcAft>
                <a:spcPts val="0"/>
              </a:spcAft>
              <a:buClr>
                <a:srgbClr val="2E3A46"/>
              </a:buClr>
              <a:buSzPts val="1875"/>
              <a:buFont typeface="Arial"/>
              <a:buNone/>
            </a:pPr>
            <a:r>
              <a:rPr b="0" i="0" lang="en-US" sz="1875" u="none" cap="none" strike="noStrike">
                <a:solidFill>
                  <a:srgbClr val="2E3A46"/>
                </a:solidFill>
                <a:latin typeface="Arial"/>
                <a:ea typeface="Arial"/>
                <a:cs typeface="Arial"/>
                <a:sym typeface="Arial"/>
              </a:rPr>
              <a:t>Predictive accuracy and uncertainty calibration</a:t>
            </a:r>
            <a:endParaRPr b="0" i="0" sz="1875" u="none" cap="none" strike="noStrike">
              <a:solidFill>
                <a:schemeClr val="dk1"/>
              </a:solidFill>
              <a:latin typeface="Calibri"/>
              <a:ea typeface="Calibri"/>
              <a:cs typeface="Calibri"/>
              <a:sym typeface="Calibri"/>
            </a:endParaRPr>
          </a:p>
        </p:txBody>
      </p:sp>
      <p:sp>
        <p:nvSpPr>
          <p:cNvPr id="414" name="Google Shape;414;p15"/>
          <p:cNvSpPr/>
          <p:nvPr/>
        </p:nvSpPr>
        <p:spPr>
          <a:xfrm>
            <a:off x="10596013" y="5679229"/>
            <a:ext cx="3316918" cy="333319"/>
          </a:xfrm>
          <a:prstGeom prst="rect">
            <a:avLst/>
          </a:prstGeom>
          <a:noFill/>
          <a:ln>
            <a:noFill/>
          </a:ln>
        </p:spPr>
        <p:txBody>
          <a:bodyPr anchorCtr="0" anchor="t" bIns="25400" lIns="25400" spcFirstLastPara="1" rIns="25400" wrap="square" tIns="25400">
            <a:normAutofit/>
          </a:bodyPr>
          <a:lstStyle/>
          <a:p>
            <a:pPr indent="0" lvl="0" marL="0" marR="0" rtl="0" algn="ctr">
              <a:lnSpc>
                <a:spcPct val="108000"/>
              </a:lnSpc>
              <a:spcBef>
                <a:spcPts val="0"/>
              </a:spcBef>
              <a:spcAft>
                <a:spcPts val="0"/>
              </a:spcAft>
              <a:buClr>
                <a:srgbClr val="0A1522"/>
              </a:buClr>
              <a:buSzPts val="1875"/>
              <a:buFont typeface="Arial"/>
              <a:buNone/>
            </a:pPr>
            <a:r>
              <a:rPr b="0" i="0" lang="en-US" sz="1875" u="none" cap="none" strike="noStrike">
                <a:solidFill>
                  <a:srgbClr val="0A1522"/>
                </a:solidFill>
                <a:latin typeface="Arial"/>
                <a:ea typeface="Arial"/>
                <a:cs typeface="Arial"/>
                <a:sym typeface="Arial"/>
              </a:rPr>
              <a:t>No model</a:t>
            </a:r>
            <a:endParaRPr b="0" i="0" sz="1875" u="none" cap="none" strike="noStrike">
              <a:solidFill>
                <a:schemeClr val="dk1"/>
              </a:solidFill>
              <a:latin typeface="Calibri"/>
              <a:ea typeface="Calibri"/>
              <a:cs typeface="Calibri"/>
              <a:sym typeface="Calibri"/>
            </a:endParaRPr>
          </a:p>
        </p:txBody>
      </p:sp>
      <p:sp>
        <p:nvSpPr>
          <p:cNvPr id="415" name="Google Shape;415;p15"/>
          <p:cNvSpPr/>
          <p:nvPr/>
        </p:nvSpPr>
        <p:spPr>
          <a:xfrm>
            <a:off x="13801824" y="5679229"/>
            <a:ext cx="3316918" cy="333319"/>
          </a:xfrm>
          <a:prstGeom prst="rect">
            <a:avLst/>
          </a:prstGeom>
          <a:noFill/>
          <a:ln>
            <a:noFill/>
          </a:ln>
        </p:spPr>
        <p:txBody>
          <a:bodyPr anchorCtr="0" anchor="t" bIns="25400" lIns="25400" spcFirstLastPara="1" rIns="25400" wrap="square" tIns="25400">
            <a:normAutofit/>
          </a:bodyPr>
          <a:lstStyle/>
          <a:p>
            <a:pPr indent="0" lvl="0" marL="0" marR="0" rtl="0" algn="ctr">
              <a:lnSpc>
                <a:spcPct val="108000"/>
              </a:lnSpc>
              <a:spcBef>
                <a:spcPts val="0"/>
              </a:spcBef>
              <a:spcAft>
                <a:spcPts val="0"/>
              </a:spcAft>
              <a:buClr>
                <a:srgbClr val="38AFD8"/>
              </a:buClr>
              <a:buSzPts val="1875"/>
              <a:buFont typeface="Arial"/>
              <a:buNone/>
            </a:pPr>
            <a:r>
              <a:rPr b="1" i="0" lang="en-US" sz="1875" u="none" cap="none" strike="noStrike">
                <a:solidFill>
                  <a:srgbClr val="38AFD8"/>
                </a:solidFill>
                <a:latin typeface="Arial"/>
                <a:ea typeface="Arial"/>
                <a:cs typeface="Arial"/>
                <a:sym typeface="Arial"/>
              </a:rPr>
              <a:t>Validated model</a:t>
            </a:r>
            <a:endParaRPr b="0" i="0" sz="1875" u="none" cap="none" strike="noStrike">
              <a:solidFill>
                <a:schemeClr val="dk1"/>
              </a:solidFill>
              <a:latin typeface="Calibri"/>
              <a:ea typeface="Calibri"/>
              <a:cs typeface="Calibri"/>
              <a:sym typeface="Calibri"/>
            </a:endParaRPr>
          </a:p>
        </p:txBody>
      </p:sp>
      <p:sp>
        <p:nvSpPr>
          <p:cNvPr id="416" name="Google Shape;416;p15"/>
          <p:cNvSpPr/>
          <p:nvPr/>
        </p:nvSpPr>
        <p:spPr>
          <a:xfrm>
            <a:off x="1053285" y="6712757"/>
            <a:ext cx="16181359" cy="9525"/>
          </a:xfrm>
          <a:prstGeom prst="rect">
            <a:avLst/>
          </a:prstGeom>
          <a:solidFill>
            <a:srgbClr val="0A1522">
              <a:alpha val="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5"/>
          <p:cNvSpPr/>
          <p:nvPr/>
        </p:nvSpPr>
        <p:spPr>
          <a:xfrm>
            <a:off x="1319958" y="6265838"/>
            <a:ext cx="3814369" cy="345069"/>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Process understanding</a:t>
            </a:r>
            <a:endParaRPr b="0" i="0" sz="1950" u="none" cap="none" strike="noStrike">
              <a:solidFill>
                <a:schemeClr val="dk1"/>
              </a:solidFill>
              <a:latin typeface="Calibri"/>
              <a:ea typeface="Calibri"/>
              <a:cs typeface="Calibri"/>
              <a:sym typeface="Calibri"/>
            </a:endParaRPr>
          </a:p>
        </p:txBody>
      </p:sp>
      <p:sp>
        <p:nvSpPr>
          <p:cNvPr id="418" name="Google Shape;418;p15"/>
          <p:cNvSpPr/>
          <p:nvPr/>
        </p:nvSpPr>
        <p:spPr>
          <a:xfrm>
            <a:off x="4977996" y="6266882"/>
            <a:ext cx="6136192" cy="342893"/>
          </a:xfrm>
          <a:prstGeom prst="rect">
            <a:avLst/>
          </a:prstGeom>
          <a:noFill/>
          <a:ln>
            <a:noFill/>
          </a:ln>
        </p:spPr>
        <p:txBody>
          <a:bodyPr anchorCtr="0" anchor="t" bIns="25400" lIns="25400" spcFirstLastPara="1" rIns="25400" wrap="square" tIns="25400">
            <a:normAutofit/>
          </a:bodyPr>
          <a:lstStyle/>
          <a:p>
            <a:pPr indent="0" lvl="0" marL="0" marR="0" rtl="0" algn="l">
              <a:lnSpc>
                <a:spcPct val="112000"/>
              </a:lnSpc>
              <a:spcBef>
                <a:spcPts val="0"/>
              </a:spcBef>
              <a:spcAft>
                <a:spcPts val="0"/>
              </a:spcAft>
              <a:buClr>
                <a:srgbClr val="2E3A46"/>
              </a:buClr>
              <a:buSzPts val="1875"/>
              <a:buFont typeface="Arial"/>
              <a:buNone/>
            </a:pPr>
            <a:r>
              <a:rPr b="0" i="0" lang="en-US" sz="1875" u="none" cap="none" strike="noStrike">
                <a:solidFill>
                  <a:srgbClr val="2E3A46"/>
                </a:solidFill>
                <a:latin typeface="Arial"/>
                <a:ea typeface="Arial"/>
                <a:cs typeface="Arial"/>
                <a:sym typeface="Arial"/>
              </a:rPr>
              <a:t>Critical parameters and interactions identified</a:t>
            </a:r>
            <a:endParaRPr b="0" i="0" sz="1875" u="none" cap="none" strike="noStrike">
              <a:solidFill>
                <a:schemeClr val="dk1"/>
              </a:solidFill>
              <a:latin typeface="Calibri"/>
              <a:ea typeface="Calibri"/>
              <a:cs typeface="Calibri"/>
              <a:sym typeface="Calibri"/>
            </a:endParaRPr>
          </a:p>
        </p:txBody>
      </p:sp>
      <p:sp>
        <p:nvSpPr>
          <p:cNvPr id="419" name="Google Shape;419;p15"/>
          <p:cNvSpPr/>
          <p:nvPr/>
        </p:nvSpPr>
        <p:spPr>
          <a:xfrm>
            <a:off x="10596013" y="6271669"/>
            <a:ext cx="3316918" cy="333319"/>
          </a:xfrm>
          <a:prstGeom prst="rect">
            <a:avLst/>
          </a:prstGeom>
          <a:noFill/>
          <a:ln>
            <a:noFill/>
          </a:ln>
        </p:spPr>
        <p:txBody>
          <a:bodyPr anchorCtr="0" anchor="t" bIns="25400" lIns="25400" spcFirstLastPara="1" rIns="25400" wrap="square" tIns="25400">
            <a:normAutofit/>
          </a:bodyPr>
          <a:lstStyle/>
          <a:p>
            <a:pPr indent="0" lvl="0" marL="0" marR="0" rtl="0" algn="ctr">
              <a:lnSpc>
                <a:spcPct val="108000"/>
              </a:lnSpc>
              <a:spcBef>
                <a:spcPts val="0"/>
              </a:spcBef>
              <a:spcAft>
                <a:spcPts val="0"/>
              </a:spcAft>
              <a:buClr>
                <a:srgbClr val="0A1522"/>
              </a:buClr>
              <a:buSzPts val="1875"/>
              <a:buFont typeface="Arial"/>
              <a:buNone/>
            </a:pPr>
            <a:r>
              <a:rPr b="0" i="0" lang="en-US" sz="1875" u="none" cap="none" strike="noStrike">
                <a:solidFill>
                  <a:srgbClr val="0A1522"/>
                </a:solidFill>
                <a:latin typeface="Arial"/>
                <a:ea typeface="Arial"/>
                <a:cs typeface="Arial"/>
                <a:sym typeface="Arial"/>
              </a:rPr>
              <a:t>Partly tacit</a:t>
            </a:r>
            <a:endParaRPr b="0" i="0" sz="1875" u="none" cap="none" strike="noStrike">
              <a:solidFill>
                <a:schemeClr val="dk1"/>
              </a:solidFill>
              <a:latin typeface="Calibri"/>
              <a:ea typeface="Calibri"/>
              <a:cs typeface="Calibri"/>
              <a:sym typeface="Calibri"/>
            </a:endParaRPr>
          </a:p>
        </p:txBody>
      </p:sp>
      <p:sp>
        <p:nvSpPr>
          <p:cNvPr id="420" name="Google Shape;420;p15"/>
          <p:cNvSpPr/>
          <p:nvPr/>
        </p:nvSpPr>
        <p:spPr>
          <a:xfrm>
            <a:off x="13801824" y="6271669"/>
            <a:ext cx="3316918" cy="333319"/>
          </a:xfrm>
          <a:prstGeom prst="rect">
            <a:avLst/>
          </a:prstGeom>
          <a:noFill/>
          <a:ln>
            <a:noFill/>
          </a:ln>
        </p:spPr>
        <p:txBody>
          <a:bodyPr anchorCtr="0" anchor="t" bIns="25400" lIns="25400" spcFirstLastPara="1" rIns="25400" wrap="square" tIns="25400">
            <a:normAutofit/>
          </a:bodyPr>
          <a:lstStyle/>
          <a:p>
            <a:pPr indent="0" lvl="0" marL="0" marR="0" rtl="0" algn="ctr">
              <a:lnSpc>
                <a:spcPct val="108000"/>
              </a:lnSpc>
              <a:spcBef>
                <a:spcPts val="0"/>
              </a:spcBef>
              <a:spcAft>
                <a:spcPts val="0"/>
              </a:spcAft>
              <a:buClr>
                <a:srgbClr val="38AFD8"/>
              </a:buClr>
              <a:buSzPts val="1875"/>
              <a:buFont typeface="Arial"/>
              <a:buNone/>
            </a:pPr>
            <a:r>
              <a:rPr b="1" i="0" lang="en-US" sz="1875" u="none" cap="none" strike="noStrike">
                <a:solidFill>
                  <a:srgbClr val="38AFD8"/>
                </a:solidFill>
                <a:latin typeface="Arial"/>
                <a:ea typeface="Arial"/>
                <a:cs typeface="Arial"/>
                <a:sym typeface="Arial"/>
              </a:rPr>
              <a:t>Documented</a:t>
            </a:r>
            <a:endParaRPr b="0" i="0" sz="1875" u="none" cap="none" strike="noStrike">
              <a:solidFill>
                <a:schemeClr val="dk1"/>
              </a:solidFill>
              <a:latin typeface="Calibri"/>
              <a:ea typeface="Calibri"/>
              <a:cs typeface="Calibri"/>
              <a:sym typeface="Calibri"/>
            </a:endParaRPr>
          </a:p>
        </p:txBody>
      </p:sp>
      <p:sp>
        <p:nvSpPr>
          <p:cNvPr id="421" name="Google Shape;421;p15"/>
          <p:cNvSpPr/>
          <p:nvPr/>
        </p:nvSpPr>
        <p:spPr>
          <a:xfrm>
            <a:off x="1053285" y="6718328"/>
            <a:ext cx="16181359" cy="424639"/>
          </a:xfrm>
          <a:prstGeom prst="rect">
            <a:avLst/>
          </a:prstGeom>
          <a:solidFill>
            <a:srgbClr val="38AFD8">
              <a:alpha val="1686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5"/>
          <p:cNvSpPr/>
          <p:nvPr/>
        </p:nvSpPr>
        <p:spPr>
          <a:xfrm>
            <a:off x="1053285" y="7137396"/>
            <a:ext cx="16181359" cy="9525"/>
          </a:xfrm>
          <a:prstGeom prst="rect">
            <a:avLst/>
          </a:prstGeom>
          <a:solidFill>
            <a:srgbClr val="0A1522">
              <a:alpha val="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5"/>
          <p:cNvSpPr/>
          <p:nvPr/>
        </p:nvSpPr>
        <p:spPr>
          <a:xfrm>
            <a:off x="1319958" y="6768285"/>
            <a:ext cx="5964801" cy="357167"/>
          </a:xfrm>
          <a:prstGeom prst="rect">
            <a:avLst/>
          </a:prstGeom>
          <a:noFill/>
          <a:ln>
            <a:noFill/>
          </a:ln>
        </p:spPr>
        <p:txBody>
          <a:bodyPr anchorCtr="0" anchor="t" bIns="25400" lIns="25400" spcFirstLastPara="1" rIns="25400" wrap="square" tIns="25400">
            <a:normAutofit/>
          </a:bodyPr>
          <a:lstStyle/>
          <a:p>
            <a:pPr indent="0" lvl="0" marL="0" marR="0" rtl="0" algn="l">
              <a:lnSpc>
                <a:spcPct val="117000"/>
              </a:lnSpc>
              <a:spcBef>
                <a:spcPts val="0"/>
              </a:spcBef>
              <a:spcAft>
                <a:spcPts val="0"/>
              </a:spcAft>
              <a:buClr>
                <a:srgbClr val="0A1522"/>
              </a:buClr>
              <a:buSzPts val="1875"/>
              <a:buFont typeface="Arial"/>
              <a:buNone/>
            </a:pPr>
            <a:r>
              <a:rPr b="1" i="0" lang="en-US" sz="1875" u="none" cap="none" strike="noStrike">
                <a:solidFill>
                  <a:srgbClr val="0A1522"/>
                </a:solidFill>
                <a:latin typeface="Arial"/>
                <a:ea typeface="Arial"/>
                <a:cs typeface="Arial"/>
                <a:sym typeface="Arial"/>
              </a:rPr>
              <a:t>ROBUSTNESS AND REPRODUCIBILITY</a:t>
            </a:r>
            <a:endParaRPr b="0" i="0" sz="1875" u="none" cap="none" strike="noStrike">
              <a:solidFill>
                <a:schemeClr val="dk1"/>
              </a:solidFill>
              <a:latin typeface="Calibri"/>
              <a:ea typeface="Calibri"/>
              <a:cs typeface="Calibri"/>
              <a:sym typeface="Calibri"/>
            </a:endParaRPr>
          </a:p>
        </p:txBody>
      </p:sp>
      <p:sp>
        <p:nvSpPr>
          <p:cNvPr id="424" name="Google Shape;424;p15"/>
          <p:cNvSpPr/>
          <p:nvPr/>
        </p:nvSpPr>
        <p:spPr>
          <a:xfrm>
            <a:off x="1053285" y="7729837"/>
            <a:ext cx="16181359" cy="9525"/>
          </a:xfrm>
          <a:prstGeom prst="rect">
            <a:avLst/>
          </a:prstGeom>
          <a:solidFill>
            <a:srgbClr val="0A1522">
              <a:alpha val="705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5"/>
          <p:cNvSpPr/>
          <p:nvPr/>
        </p:nvSpPr>
        <p:spPr>
          <a:xfrm>
            <a:off x="1319958" y="7282917"/>
            <a:ext cx="3814369" cy="345069"/>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Robustness confidence</a:t>
            </a:r>
            <a:endParaRPr b="0" i="0" sz="1950" u="none" cap="none" strike="noStrike">
              <a:solidFill>
                <a:schemeClr val="dk1"/>
              </a:solidFill>
              <a:latin typeface="Calibri"/>
              <a:ea typeface="Calibri"/>
              <a:cs typeface="Calibri"/>
              <a:sym typeface="Calibri"/>
            </a:endParaRPr>
          </a:p>
        </p:txBody>
      </p:sp>
      <p:sp>
        <p:nvSpPr>
          <p:cNvPr id="426" name="Google Shape;426;p15"/>
          <p:cNvSpPr/>
          <p:nvPr/>
        </p:nvSpPr>
        <p:spPr>
          <a:xfrm>
            <a:off x="4977996" y="7283961"/>
            <a:ext cx="6136192" cy="342893"/>
          </a:xfrm>
          <a:prstGeom prst="rect">
            <a:avLst/>
          </a:prstGeom>
          <a:noFill/>
          <a:ln>
            <a:noFill/>
          </a:ln>
        </p:spPr>
        <p:txBody>
          <a:bodyPr anchorCtr="0" anchor="t" bIns="25400" lIns="25400" spcFirstLastPara="1" rIns="25400" wrap="square" tIns="25400">
            <a:normAutofit/>
          </a:bodyPr>
          <a:lstStyle/>
          <a:p>
            <a:pPr indent="0" lvl="0" marL="0" marR="0" rtl="0" algn="l">
              <a:lnSpc>
                <a:spcPct val="112000"/>
              </a:lnSpc>
              <a:spcBef>
                <a:spcPts val="0"/>
              </a:spcBef>
              <a:spcAft>
                <a:spcPts val="0"/>
              </a:spcAft>
              <a:buClr>
                <a:srgbClr val="2E3A46"/>
              </a:buClr>
              <a:buSzPts val="1875"/>
              <a:buFont typeface="Arial"/>
              <a:buNone/>
            </a:pPr>
            <a:r>
              <a:rPr b="0" i="0" lang="en-US" sz="1875" u="none" cap="none" strike="noStrike">
                <a:solidFill>
                  <a:srgbClr val="2E3A46"/>
                </a:solidFill>
                <a:latin typeface="Arial"/>
                <a:ea typeface="Arial"/>
                <a:cs typeface="Arial"/>
                <a:sym typeface="Arial"/>
              </a:rPr>
              <a:t>Operating region and disturbance sensitivity</a:t>
            </a:r>
            <a:endParaRPr b="0" i="0" sz="1875" u="none" cap="none" strike="noStrike">
              <a:solidFill>
                <a:schemeClr val="dk1"/>
              </a:solidFill>
              <a:latin typeface="Calibri"/>
              <a:ea typeface="Calibri"/>
              <a:cs typeface="Calibri"/>
              <a:sym typeface="Calibri"/>
            </a:endParaRPr>
          </a:p>
        </p:txBody>
      </p:sp>
      <p:sp>
        <p:nvSpPr>
          <p:cNvPr id="427" name="Google Shape;427;p15"/>
          <p:cNvSpPr/>
          <p:nvPr/>
        </p:nvSpPr>
        <p:spPr>
          <a:xfrm>
            <a:off x="10596013" y="7288748"/>
            <a:ext cx="3316918" cy="333319"/>
          </a:xfrm>
          <a:prstGeom prst="rect">
            <a:avLst/>
          </a:prstGeom>
          <a:noFill/>
          <a:ln>
            <a:noFill/>
          </a:ln>
        </p:spPr>
        <p:txBody>
          <a:bodyPr anchorCtr="0" anchor="t" bIns="25400" lIns="25400" spcFirstLastPara="1" rIns="25400" wrap="square" tIns="25400">
            <a:normAutofit/>
          </a:bodyPr>
          <a:lstStyle/>
          <a:p>
            <a:pPr indent="0" lvl="0" marL="0" marR="0" rtl="0" algn="ctr">
              <a:lnSpc>
                <a:spcPct val="108000"/>
              </a:lnSpc>
              <a:spcBef>
                <a:spcPts val="0"/>
              </a:spcBef>
              <a:spcAft>
                <a:spcPts val="0"/>
              </a:spcAft>
              <a:buClr>
                <a:srgbClr val="0A1522"/>
              </a:buClr>
              <a:buSzPts val="1875"/>
              <a:buFont typeface="Arial"/>
              <a:buNone/>
            </a:pPr>
            <a:r>
              <a:rPr b="0" i="0" lang="en-US" sz="1875" u="none" cap="none" strike="noStrike">
                <a:solidFill>
                  <a:srgbClr val="0A1522"/>
                </a:solidFill>
                <a:latin typeface="Arial"/>
                <a:ea typeface="Arial"/>
                <a:cs typeface="Arial"/>
                <a:sym typeface="Arial"/>
              </a:rPr>
              <a:t>Region undefined</a:t>
            </a:r>
            <a:endParaRPr b="0" i="0" sz="1875" u="none" cap="none" strike="noStrike">
              <a:solidFill>
                <a:schemeClr val="dk1"/>
              </a:solidFill>
              <a:latin typeface="Calibri"/>
              <a:ea typeface="Calibri"/>
              <a:cs typeface="Calibri"/>
              <a:sym typeface="Calibri"/>
            </a:endParaRPr>
          </a:p>
        </p:txBody>
      </p:sp>
      <p:sp>
        <p:nvSpPr>
          <p:cNvPr id="428" name="Google Shape;428;p15"/>
          <p:cNvSpPr/>
          <p:nvPr/>
        </p:nvSpPr>
        <p:spPr>
          <a:xfrm>
            <a:off x="13801824" y="7288748"/>
            <a:ext cx="3316918" cy="333319"/>
          </a:xfrm>
          <a:prstGeom prst="rect">
            <a:avLst/>
          </a:prstGeom>
          <a:noFill/>
          <a:ln>
            <a:noFill/>
          </a:ln>
        </p:spPr>
        <p:txBody>
          <a:bodyPr anchorCtr="0" anchor="t" bIns="25400" lIns="25400" spcFirstLastPara="1" rIns="25400" wrap="square" tIns="25400">
            <a:normAutofit/>
          </a:bodyPr>
          <a:lstStyle/>
          <a:p>
            <a:pPr indent="0" lvl="0" marL="0" marR="0" rtl="0" algn="ctr">
              <a:lnSpc>
                <a:spcPct val="108000"/>
              </a:lnSpc>
              <a:spcBef>
                <a:spcPts val="0"/>
              </a:spcBef>
              <a:spcAft>
                <a:spcPts val="0"/>
              </a:spcAft>
              <a:buClr>
                <a:srgbClr val="38AFD8"/>
              </a:buClr>
              <a:buSzPts val="1875"/>
              <a:buFont typeface="Arial"/>
              <a:buNone/>
            </a:pPr>
            <a:r>
              <a:rPr b="1" i="0" lang="en-US" sz="1875" u="none" cap="none" strike="noStrike">
                <a:solidFill>
                  <a:srgbClr val="38AFD8"/>
                </a:solidFill>
                <a:latin typeface="Arial"/>
                <a:ea typeface="Arial"/>
                <a:cs typeface="Arial"/>
                <a:sym typeface="Arial"/>
              </a:rPr>
              <a:t>Candidate window</a:t>
            </a:r>
            <a:endParaRPr b="0" i="0" sz="1875" u="none" cap="none" strike="noStrike">
              <a:solidFill>
                <a:schemeClr val="dk1"/>
              </a:solidFill>
              <a:latin typeface="Calibri"/>
              <a:ea typeface="Calibri"/>
              <a:cs typeface="Calibri"/>
              <a:sym typeface="Calibri"/>
            </a:endParaRPr>
          </a:p>
        </p:txBody>
      </p:sp>
      <p:sp>
        <p:nvSpPr>
          <p:cNvPr id="429" name="Google Shape;429;p15"/>
          <p:cNvSpPr/>
          <p:nvPr/>
        </p:nvSpPr>
        <p:spPr>
          <a:xfrm>
            <a:off x="1319958" y="7875358"/>
            <a:ext cx="3814369" cy="345069"/>
          </a:xfrm>
          <a:prstGeom prst="rect">
            <a:avLst/>
          </a:prstGeom>
          <a:noFill/>
          <a:ln>
            <a:noFill/>
          </a:ln>
        </p:spPr>
        <p:txBody>
          <a:bodyPr anchorCtr="0" anchor="t" bIns="25400" lIns="25400" spcFirstLastPara="1" rIns="25400" wrap="square" tIns="25400">
            <a:normAutofit/>
          </a:bodyPr>
          <a:lstStyle/>
          <a:p>
            <a:pPr indent="0" lvl="0" marL="0" marR="0" rtl="0" algn="l">
              <a:lnSpc>
                <a:spcPct val="110000"/>
              </a:lnSpc>
              <a:spcBef>
                <a:spcPts val="0"/>
              </a:spcBef>
              <a:spcAft>
                <a:spcPts val="0"/>
              </a:spcAft>
              <a:buClr>
                <a:srgbClr val="0A1522"/>
              </a:buClr>
              <a:buSzPts val="1950"/>
              <a:buFont typeface="Arial"/>
              <a:buNone/>
            </a:pPr>
            <a:r>
              <a:rPr b="1" i="0" lang="en-US" sz="1950" u="none" cap="none" strike="noStrike">
                <a:solidFill>
                  <a:srgbClr val="0A1522"/>
                </a:solidFill>
                <a:latin typeface="Arial"/>
                <a:ea typeface="Arial"/>
                <a:cs typeface="Arial"/>
                <a:sym typeface="Arial"/>
              </a:rPr>
              <a:t>Workflow reproducibility</a:t>
            </a:r>
            <a:endParaRPr b="0" i="0" sz="1950" u="none" cap="none" strike="noStrike">
              <a:solidFill>
                <a:schemeClr val="dk1"/>
              </a:solidFill>
              <a:latin typeface="Calibri"/>
              <a:ea typeface="Calibri"/>
              <a:cs typeface="Calibri"/>
              <a:sym typeface="Calibri"/>
            </a:endParaRPr>
          </a:p>
        </p:txBody>
      </p:sp>
      <p:sp>
        <p:nvSpPr>
          <p:cNvPr id="430" name="Google Shape;430;p15"/>
          <p:cNvSpPr/>
          <p:nvPr/>
        </p:nvSpPr>
        <p:spPr>
          <a:xfrm>
            <a:off x="4977996" y="7876402"/>
            <a:ext cx="6136192" cy="342893"/>
          </a:xfrm>
          <a:prstGeom prst="rect">
            <a:avLst/>
          </a:prstGeom>
          <a:noFill/>
          <a:ln>
            <a:noFill/>
          </a:ln>
        </p:spPr>
        <p:txBody>
          <a:bodyPr anchorCtr="0" anchor="t" bIns="25400" lIns="25400" spcFirstLastPara="1" rIns="25400" wrap="square" tIns="25400">
            <a:normAutofit/>
          </a:bodyPr>
          <a:lstStyle/>
          <a:p>
            <a:pPr indent="0" lvl="0" marL="0" marR="0" rtl="0" algn="l">
              <a:lnSpc>
                <a:spcPct val="112000"/>
              </a:lnSpc>
              <a:spcBef>
                <a:spcPts val="0"/>
              </a:spcBef>
              <a:spcAft>
                <a:spcPts val="0"/>
              </a:spcAft>
              <a:buClr>
                <a:srgbClr val="2E3A46"/>
              </a:buClr>
              <a:buSzPts val="1875"/>
              <a:buFont typeface="Arial"/>
              <a:buNone/>
            </a:pPr>
            <a:r>
              <a:rPr b="0" i="0" lang="en-US" sz="1875" u="none" cap="none" strike="noStrike">
                <a:solidFill>
                  <a:srgbClr val="2E3A46"/>
                </a:solidFill>
                <a:latin typeface="Arial"/>
                <a:ea typeface="Arial"/>
                <a:cs typeface="Arial"/>
                <a:sym typeface="Arial"/>
              </a:rPr>
              <a:t>Analysis, assumptions and decision history</a:t>
            </a:r>
            <a:endParaRPr b="0" i="0" sz="1875" u="none" cap="none" strike="noStrike">
              <a:solidFill>
                <a:schemeClr val="dk1"/>
              </a:solidFill>
              <a:latin typeface="Calibri"/>
              <a:ea typeface="Calibri"/>
              <a:cs typeface="Calibri"/>
              <a:sym typeface="Calibri"/>
            </a:endParaRPr>
          </a:p>
        </p:txBody>
      </p:sp>
      <p:sp>
        <p:nvSpPr>
          <p:cNvPr id="431" name="Google Shape;431;p15"/>
          <p:cNvSpPr/>
          <p:nvPr/>
        </p:nvSpPr>
        <p:spPr>
          <a:xfrm>
            <a:off x="10596013" y="7881189"/>
            <a:ext cx="3316918" cy="333319"/>
          </a:xfrm>
          <a:prstGeom prst="rect">
            <a:avLst/>
          </a:prstGeom>
          <a:noFill/>
          <a:ln>
            <a:noFill/>
          </a:ln>
        </p:spPr>
        <p:txBody>
          <a:bodyPr anchorCtr="0" anchor="t" bIns="25400" lIns="25400" spcFirstLastPara="1" rIns="25400" wrap="square" tIns="25400">
            <a:normAutofit/>
          </a:bodyPr>
          <a:lstStyle/>
          <a:p>
            <a:pPr indent="0" lvl="0" marL="0" marR="0" rtl="0" algn="ctr">
              <a:lnSpc>
                <a:spcPct val="108000"/>
              </a:lnSpc>
              <a:spcBef>
                <a:spcPts val="0"/>
              </a:spcBef>
              <a:spcAft>
                <a:spcPts val="0"/>
              </a:spcAft>
              <a:buClr>
                <a:srgbClr val="0A1522"/>
              </a:buClr>
              <a:buSzPts val="1875"/>
              <a:buFont typeface="Arial"/>
              <a:buNone/>
            </a:pPr>
            <a:r>
              <a:rPr b="0" i="0" lang="en-US" sz="1875" u="none" cap="none" strike="noStrike">
                <a:solidFill>
                  <a:srgbClr val="0A1522"/>
                </a:solidFill>
                <a:latin typeface="Arial"/>
                <a:ea typeface="Arial"/>
                <a:cs typeface="Arial"/>
                <a:sym typeface="Arial"/>
              </a:rPr>
              <a:t>Manual hand-offs</a:t>
            </a:r>
            <a:endParaRPr b="0" i="0" sz="1875" u="none" cap="none" strike="noStrike">
              <a:solidFill>
                <a:schemeClr val="dk1"/>
              </a:solidFill>
              <a:latin typeface="Calibri"/>
              <a:ea typeface="Calibri"/>
              <a:cs typeface="Calibri"/>
              <a:sym typeface="Calibri"/>
            </a:endParaRPr>
          </a:p>
        </p:txBody>
      </p:sp>
      <p:sp>
        <p:nvSpPr>
          <p:cNvPr id="432" name="Google Shape;432;p15"/>
          <p:cNvSpPr/>
          <p:nvPr/>
        </p:nvSpPr>
        <p:spPr>
          <a:xfrm>
            <a:off x="13801824" y="7881189"/>
            <a:ext cx="3316918" cy="333319"/>
          </a:xfrm>
          <a:prstGeom prst="rect">
            <a:avLst/>
          </a:prstGeom>
          <a:noFill/>
          <a:ln>
            <a:noFill/>
          </a:ln>
        </p:spPr>
        <p:txBody>
          <a:bodyPr anchorCtr="0" anchor="t" bIns="25400" lIns="25400" spcFirstLastPara="1" rIns="25400" wrap="square" tIns="25400">
            <a:normAutofit/>
          </a:bodyPr>
          <a:lstStyle/>
          <a:p>
            <a:pPr indent="0" lvl="0" marL="0" marR="0" rtl="0" algn="ctr">
              <a:lnSpc>
                <a:spcPct val="108000"/>
              </a:lnSpc>
              <a:spcBef>
                <a:spcPts val="0"/>
              </a:spcBef>
              <a:spcAft>
                <a:spcPts val="0"/>
              </a:spcAft>
              <a:buClr>
                <a:srgbClr val="38AFD8"/>
              </a:buClr>
              <a:buSzPts val="1875"/>
              <a:buFont typeface="Arial"/>
              <a:buNone/>
            </a:pPr>
            <a:r>
              <a:rPr b="1" i="0" lang="en-US" sz="1875" u="none" cap="none" strike="noStrike">
                <a:solidFill>
                  <a:srgbClr val="38AFD8"/>
                </a:solidFill>
                <a:latin typeface="Arial"/>
                <a:ea typeface="Arial"/>
                <a:cs typeface="Arial"/>
                <a:sym typeface="Arial"/>
              </a:rPr>
              <a:t>Versioned context</a:t>
            </a:r>
            <a:endParaRPr b="0" i="0" sz="1875" u="none" cap="none" strike="noStrike">
              <a:solidFill>
                <a:schemeClr val="dk1"/>
              </a:solidFill>
              <a:latin typeface="Calibri"/>
              <a:ea typeface="Calibri"/>
              <a:cs typeface="Calibri"/>
              <a:sym typeface="Calibri"/>
            </a:endParaRPr>
          </a:p>
        </p:txBody>
      </p:sp>
      <p:sp>
        <p:nvSpPr>
          <p:cNvPr id="433" name="Google Shape;433;p15"/>
          <p:cNvSpPr/>
          <p:nvPr/>
        </p:nvSpPr>
        <p:spPr>
          <a:xfrm>
            <a:off x="1047715" y="8651614"/>
            <a:ext cx="16192499" cy="1063903"/>
          </a:xfrm>
          <a:prstGeom prst="roundRect">
            <a:avLst>
              <a:gd fmla="val 10743" name="adj"/>
            </a:avLst>
          </a:prstGeom>
          <a:solidFill>
            <a:srgbClr val="38AFD8">
              <a:alpha val="7059"/>
            </a:srgbClr>
          </a:solidFill>
          <a:ln cap="flat" cmpd="sng" w="9525">
            <a:solidFill>
              <a:srgbClr val="38AFD8">
                <a:alpha val="2392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5"/>
          <p:cNvSpPr/>
          <p:nvPr/>
        </p:nvSpPr>
        <p:spPr>
          <a:xfrm>
            <a:off x="1319958" y="9034911"/>
            <a:ext cx="2672634" cy="335321"/>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BUSINESS VALUE</a:t>
            </a:r>
            <a:endParaRPr b="0" i="0" sz="1800" u="none" cap="none" strike="noStrike">
              <a:solidFill>
                <a:schemeClr val="dk1"/>
              </a:solidFill>
              <a:latin typeface="Calibri"/>
              <a:ea typeface="Calibri"/>
              <a:cs typeface="Calibri"/>
              <a:sym typeface="Calibri"/>
            </a:endParaRPr>
          </a:p>
        </p:txBody>
      </p:sp>
      <p:sp>
        <p:nvSpPr>
          <p:cNvPr id="435" name="Google Shape;435;p15"/>
          <p:cNvSpPr/>
          <p:nvPr/>
        </p:nvSpPr>
        <p:spPr>
          <a:xfrm>
            <a:off x="4291684" y="9025076"/>
            <a:ext cx="3122233" cy="354991"/>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0A1522"/>
              </a:buClr>
              <a:buSzPts val="1950"/>
              <a:buFont typeface="Arial"/>
              <a:buNone/>
            </a:pPr>
            <a:r>
              <a:rPr b="0" i="0" lang="en-US" sz="1950" u="none" cap="none" strike="noStrike">
                <a:solidFill>
                  <a:srgbClr val="0A1522"/>
                </a:solidFill>
                <a:latin typeface="Arial"/>
                <a:ea typeface="Arial"/>
                <a:cs typeface="Arial"/>
                <a:sym typeface="Arial"/>
              </a:rPr>
              <a:t>Shorter decision cycles</a:t>
            </a:r>
            <a:endParaRPr b="0" i="0" sz="1950" u="none" cap="none" strike="noStrike">
              <a:solidFill>
                <a:schemeClr val="dk1"/>
              </a:solidFill>
              <a:latin typeface="Calibri"/>
              <a:ea typeface="Calibri"/>
              <a:cs typeface="Calibri"/>
              <a:sym typeface="Calibri"/>
            </a:endParaRPr>
          </a:p>
        </p:txBody>
      </p:sp>
      <p:sp>
        <p:nvSpPr>
          <p:cNvPr id="436" name="Google Shape;436;p15"/>
          <p:cNvSpPr/>
          <p:nvPr/>
        </p:nvSpPr>
        <p:spPr>
          <a:xfrm>
            <a:off x="7332701" y="8866674"/>
            <a:ext cx="9525" cy="633782"/>
          </a:xfrm>
          <a:prstGeom prst="rect">
            <a:avLst/>
          </a:prstGeom>
          <a:solidFill>
            <a:srgbClr val="38AFD8">
              <a:alpha val="2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5"/>
          <p:cNvSpPr/>
          <p:nvPr/>
        </p:nvSpPr>
        <p:spPr>
          <a:xfrm>
            <a:off x="7585921" y="8866674"/>
            <a:ext cx="2892283" cy="671882"/>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0A1522"/>
              </a:buClr>
              <a:buSzPts val="1950"/>
              <a:buFont typeface="Arial"/>
              <a:buNone/>
            </a:pPr>
            <a:r>
              <a:rPr b="0" i="0" lang="en-US" sz="1950" u="none" cap="none" strike="noStrike">
                <a:solidFill>
                  <a:srgbClr val="0A1522"/>
                </a:solidFill>
                <a:latin typeface="Arial"/>
                <a:ea typeface="Arial"/>
                <a:cs typeface="Arial"/>
                <a:sym typeface="Arial"/>
              </a:rPr>
              <a:t>Fewer low-information experiments</a:t>
            </a:r>
            <a:endParaRPr b="0" i="0" sz="1950" u="none" cap="none" strike="noStrike">
              <a:solidFill>
                <a:schemeClr val="dk1"/>
              </a:solidFill>
              <a:latin typeface="Calibri"/>
              <a:ea typeface="Calibri"/>
              <a:cs typeface="Calibri"/>
              <a:sym typeface="Calibri"/>
            </a:endParaRPr>
          </a:p>
        </p:txBody>
      </p:sp>
      <p:sp>
        <p:nvSpPr>
          <p:cNvPr id="438" name="Google Shape;438;p15"/>
          <p:cNvSpPr/>
          <p:nvPr/>
        </p:nvSpPr>
        <p:spPr>
          <a:xfrm>
            <a:off x="10627023" y="8866674"/>
            <a:ext cx="9525" cy="633782"/>
          </a:xfrm>
          <a:prstGeom prst="rect">
            <a:avLst/>
          </a:prstGeom>
          <a:solidFill>
            <a:srgbClr val="38AFD8">
              <a:alpha val="2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5"/>
          <p:cNvSpPr/>
          <p:nvPr/>
        </p:nvSpPr>
        <p:spPr>
          <a:xfrm>
            <a:off x="10880244" y="8866674"/>
            <a:ext cx="2892193" cy="671882"/>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0A1522"/>
              </a:buClr>
              <a:buSzPts val="1950"/>
              <a:buFont typeface="Arial"/>
              <a:buNone/>
            </a:pPr>
            <a:r>
              <a:rPr b="0" i="0" lang="en-US" sz="1950" u="none" cap="none" strike="noStrike">
                <a:solidFill>
                  <a:srgbClr val="0A1522"/>
                </a:solidFill>
                <a:latin typeface="Arial"/>
                <a:ea typeface="Arial"/>
                <a:cs typeface="Arial"/>
                <a:sym typeface="Arial"/>
              </a:rPr>
              <a:t>Greater confidence before scale-up</a:t>
            </a:r>
            <a:endParaRPr b="0" i="0" sz="1950" u="none" cap="none" strike="noStrike">
              <a:solidFill>
                <a:schemeClr val="dk1"/>
              </a:solidFill>
              <a:latin typeface="Calibri"/>
              <a:ea typeface="Calibri"/>
              <a:cs typeface="Calibri"/>
              <a:sym typeface="Calibri"/>
            </a:endParaRPr>
          </a:p>
        </p:txBody>
      </p:sp>
      <p:sp>
        <p:nvSpPr>
          <p:cNvPr id="440" name="Google Shape;440;p15"/>
          <p:cNvSpPr/>
          <p:nvPr/>
        </p:nvSpPr>
        <p:spPr>
          <a:xfrm>
            <a:off x="13921261" y="8866674"/>
            <a:ext cx="9525" cy="633782"/>
          </a:xfrm>
          <a:prstGeom prst="rect">
            <a:avLst/>
          </a:prstGeom>
          <a:solidFill>
            <a:srgbClr val="38AFD8">
              <a:alpha val="2784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5"/>
          <p:cNvSpPr/>
          <p:nvPr/>
        </p:nvSpPr>
        <p:spPr>
          <a:xfrm>
            <a:off x="14174481" y="8866674"/>
            <a:ext cx="2884893" cy="671882"/>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0A1522"/>
              </a:buClr>
              <a:buSzPts val="1950"/>
              <a:buFont typeface="Arial"/>
              <a:buNone/>
            </a:pPr>
            <a:r>
              <a:rPr b="0" i="0" lang="en-US" sz="1950" u="none" cap="none" strike="noStrike">
                <a:solidFill>
                  <a:srgbClr val="0A1522"/>
                </a:solidFill>
                <a:latin typeface="Arial"/>
                <a:ea typeface="Arial"/>
                <a:cs typeface="Arial"/>
                <a:sym typeface="Arial"/>
              </a:rPr>
              <a:t>Knowledge preserved across teams</a:t>
            </a:r>
            <a:endParaRPr b="0" i="0" sz="1950" u="none" cap="none" strike="noStrike">
              <a:solidFill>
                <a:schemeClr val="dk1"/>
              </a:solidFill>
              <a:latin typeface="Calibri"/>
              <a:ea typeface="Calibri"/>
              <a:cs typeface="Calibri"/>
              <a:sym typeface="Calibri"/>
            </a:endParaRPr>
          </a:p>
        </p:txBody>
      </p:sp>
      <p:pic>
        <p:nvPicPr>
          <p:cNvPr descr="preencoded.png" id="442" name="Google Shape;442;p15"/>
          <p:cNvPicPr preferRelativeResize="0"/>
          <p:nvPr/>
        </p:nvPicPr>
        <p:blipFill rotWithShape="1">
          <a:blip r:embed="rId3">
            <a:alphaModFix amt="72000"/>
          </a:blip>
          <a:srcRect b="0" l="0" r="0" t="0"/>
          <a:stretch/>
        </p:blipFill>
        <p:spPr>
          <a:xfrm>
            <a:off x="1047715" y="9772699"/>
            <a:ext cx="1317434" cy="38094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1522"/>
        </a:solidFill>
      </p:bgPr>
    </p:bg>
    <p:spTree>
      <p:nvGrpSpPr>
        <p:cNvPr id="447" name="Shape 447"/>
        <p:cNvGrpSpPr/>
        <p:nvPr/>
      </p:nvGrpSpPr>
      <p:grpSpPr>
        <a:xfrm>
          <a:off x="0" y="0"/>
          <a:ext cx="0" cy="0"/>
          <a:chOff x="0" y="0"/>
          <a:chExt cx="0" cy="0"/>
        </a:xfrm>
      </p:grpSpPr>
      <p:sp>
        <p:nvSpPr>
          <p:cNvPr id="448" name="Google Shape;448;p16"/>
          <p:cNvSpPr/>
          <p:nvPr/>
        </p:nvSpPr>
        <p:spPr>
          <a:xfrm>
            <a:off x="1047715" y="2093690"/>
            <a:ext cx="17779745" cy="335321"/>
          </a:xfrm>
          <a:prstGeom prst="rect">
            <a:avLst/>
          </a:prstGeom>
          <a:noFill/>
          <a:ln>
            <a:noFill/>
          </a:ln>
        </p:spPr>
        <p:txBody>
          <a:bodyPr anchorCtr="0" anchor="t" bIns="25400" lIns="25400" spcFirstLastPara="1" rIns="25400" wrap="square" tIns="25400">
            <a:normAutofit/>
          </a:bodyPr>
          <a:lstStyle/>
          <a:p>
            <a:pPr indent="0" lvl="0" marL="0" marR="0" rtl="0" algn="l">
              <a:lnSpc>
                <a:spcPct val="114000"/>
              </a:lnSpc>
              <a:spcBef>
                <a:spcPts val="0"/>
              </a:spcBef>
              <a:spcAft>
                <a:spcPts val="0"/>
              </a:spcAft>
              <a:buClr>
                <a:srgbClr val="38AFD8"/>
              </a:buClr>
              <a:buSzPts val="1800"/>
              <a:buFont typeface="Arial"/>
              <a:buNone/>
            </a:pPr>
            <a:r>
              <a:rPr b="1" i="0" lang="en-US" sz="1800" u="none" cap="none" strike="noStrike">
                <a:solidFill>
                  <a:srgbClr val="38AFD8"/>
                </a:solidFill>
                <a:latin typeface="Arial"/>
                <a:ea typeface="Arial"/>
                <a:cs typeface="Arial"/>
                <a:sym typeface="Arial"/>
              </a:rPr>
              <a:t>THE ASK</a:t>
            </a:r>
            <a:endParaRPr b="0" i="0" sz="1800" u="none" cap="none" strike="noStrike">
              <a:solidFill>
                <a:schemeClr val="dk1"/>
              </a:solidFill>
              <a:latin typeface="Calibri"/>
              <a:ea typeface="Calibri"/>
              <a:cs typeface="Calibri"/>
              <a:sym typeface="Calibri"/>
            </a:endParaRPr>
          </a:p>
        </p:txBody>
      </p:sp>
      <p:sp>
        <p:nvSpPr>
          <p:cNvPr id="449" name="Google Shape;449;p16"/>
          <p:cNvSpPr/>
          <p:nvPr/>
        </p:nvSpPr>
        <p:spPr>
          <a:xfrm>
            <a:off x="1047715" y="2600401"/>
            <a:ext cx="14716124" cy="1488956"/>
          </a:xfrm>
          <a:prstGeom prst="rect">
            <a:avLst/>
          </a:prstGeom>
          <a:noFill/>
          <a:ln>
            <a:noFill/>
          </a:ln>
        </p:spPr>
        <p:txBody>
          <a:bodyPr anchorCtr="0" anchor="t" bIns="25400" lIns="25400" spcFirstLastPara="1" rIns="25400" wrap="square" tIns="25400">
            <a:normAutofit/>
          </a:bodyPr>
          <a:lstStyle/>
          <a:p>
            <a:pPr indent="0" lvl="0" marL="0" marR="0" rtl="0" algn="l">
              <a:lnSpc>
                <a:spcPct val="99000"/>
              </a:lnSpc>
              <a:spcBef>
                <a:spcPts val="0"/>
              </a:spcBef>
              <a:spcAft>
                <a:spcPts val="0"/>
              </a:spcAft>
              <a:buClr>
                <a:srgbClr val="FFFFFF"/>
              </a:buClr>
              <a:buSzPts val="5100"/>
              <a:buFont typeface="Georgia"/>
              <a:buNone/>
            </a:pPr>
            <a:r>
              <a:rPr b="0" i="0" lang="en-US" sz="5100" u="none" cap="none" strike="noStrike">
                <a:solidFill>
                  <a:srgbClr val="FFFFFF"/>
                </a:solidFill>
                <a:latin typeface="Georgia"/>
                <a:ea typeface="Georgia"/>
                <a:cs typeface="Georgia"/>
                <a:sym typeface="Georgia"/>
              </a:rPr>
              <a:t>Start with one process, one objective and one focused paid pilot.</a:t>
            </a:r>
            <a:endParaRPr b="0" i="0" sz="5100" u="none" cap="none" strike="noStrike">
              <a:solidFill>
                <a:schemeClr val="dk1"/>
              </a:solidFill>
              <a:latin typeface="Calibri"/>
              <a:ea typeface="Calibri"/>
              <a:cs typeface="Calibri"/>
              <a:sym typeface="Calibri"/>
            </a:endParaRPr>
          </a:p>
        </p:txBody>
      </p:sp>
      <p:sp>
        <p:nvSpPr>
          <p:cNvPr id="450" name="Google Shape;450;p16"/>
          <p:cNvSpPr/>
          <p:nvPr/>
        </p:nvSpPr>
        <p:spPr>
          <a:xfrm>
            <a:off x="1047715" y="4241688"/>
            <a:ext cx="12950118" cy="815139"/>
          </a:xfrm>
          <a:prstGeom prst="rect">
            <a:avLst/>
          </a:prstGeom>
          <a:noFill/>
          <a:ln>
            <a:noFill/>
          </a:ln>
        </p:spPr>
        <p:txBody>
          <a:bodyPr anchorCtr="0" anchor="t" bIns="25400" lIns="25400" spcFirstLastPara="1" rIns="25400" wrap="square" tIns="25400">
            <a:normAutofit/>
          </a:bodyPr>
          <a:lstStyle/>
          <a:p>
            <a:pPr indent="0" lvl="0" marL="0" marR="0" rtl="0" algn="l">
              <a:lnSpc>
                <a:spcPct val="118000"/>
              </a:lnSpc>
              <a:spcBef>
                <a:spcPts val="0"/>
              </a:spcBef>
              <a:spcAft>
                <a:spcPts val="0"/>
              </a:spcAft>
              <a:buClr>
                <a:srgbClr val="FFFFFF"/>
              </a:buClr>
              <a:buSzPts val="2250"/>
              <a:buFont typeface="Arial"/>
              <a:buNone/>
            </a:pPr>
            <a:r>
              <a:rPr b="0" i="0" lang="en-US" sz="2250" u="none" cap="none" strike="noStrike">
                <a:solidFill>
                  <a:srgbClr val="FFFFFF"/>
                </a:solidFill>
                <a:latin typeface="Arial"/>
                <a:ea typeface="Arial"/>
                <a:cs typeface="Arial"/>
                <a:sym typeface="Arial"/>
              </a:rPr>
              <a:t>Configure Trellis around a real development workflow, measure the impact, and decide whether to expand.</a:t>
            </a:r>
            <a:endParaRPr b="0" i="0" sz="2250" u="none" cap="none" strike="noStrike">
              <a:solidFill>
                <a:schemeClr val="dk1"/>
              </a:solidFill>
              <a:latin typeface="Calibri"/>
              <a:ea typeface="Calibri"/>
              <a:cs typeface="Calibri"/>
              <a:sym typeface="Calibri"/>
            </a:endParaRPr>
          </a:p>
        </p:txBody>
      </p:sp>
      <p:sp>
        <p:nvSpPr>
          <p:cNvPr id="451" name="Google Shape;451;p16"/>
          <p:cNvSpPr/>
          <p:nvPr/>
        </p:nvSpPr>
        <p:spPr>
          <a:xfrm>
            <a:off x="1047715" y="6891177"/>
            <a:ext cx="16192499" cy="9525"/>
          </a:xfrm>
          <a:prstGeom prst="rect">
            <a:avLst/>
          </a:prstGeom>
          <a:solidFill>
            <a:srgbClr val="FFFFFF">
              <a:alpha val="2196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6"/>
          <p:cNvSpPr/>
          <p:nvPr/>
        </p:nvSpPr>
        <p:spPr>
          <a:xfrm>
            <a:off x="1047715" y="5628314"/>
            <a:ext cx="16192499" cy="9525"/>
          </a:xfrm>
          <a:prstGeom prst="rect">
            <a:avLst/>
          </a:prstGeom>
          <a:solidFill>
            <a:srgbClr val="FFFFFF">
              <a:alpha val="2196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6"/>
          <p:cNvSpPr/>
          <p:nvPr/>
        </p:nvSpPr>
        <p:spPr>
          <a:xfrm>
            <a:off x="1047715" y="6061743"/>
            <a:ext cx="3087667" cy="439675"/>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FFFFFF"/>
              </a:buClr>
              <a:buSzPts val="2550"/>
              <a:buFont typeface="Arial"/>
              <a:buNone/>
            </a:pPr>
            <a:r>
              <a:rPr b="1" i="0" lang="en-US" sz="2550" u="none" cap="none" strike="noStrike">
                <a:solidFill>
                  <a:srgbClr val="FFFFFF"/>
                </a:solidFill>
                <a:latin typeface="Arial"/>
                <a:ea typeface="Arial"/>
                <a:cs typeface="Arial"/>
                <a:sym typeface="Arial"/>
              </a:rPr>
              <a:t>ONE PROCESS</a:t>
            </a:r>
            <a:endParaRPr b="0" i="0" sz="2550" u="none" cap="none" strike="noStrike">
              <a:solidFill>
                <a:schemeClr val="dk1"/>
              </a:solidFill>
              <a:latin typeface="Calibri"/>
              <a:ea typeface="Calibri"/>
              <a:cs typeface="Calibri"/>
              <a:sym typeface="Calibri"/>
            </a:endParaRPr>
          </a:p>
        </p:txBody>
      </p:sp>
      <p:sp>
        <p:nvSpPr>
          <p:cNvPr id="454" name="Google Shape;454;p16"/>
          <p:cNvSpPr/>
          <p:nvPr/>
        </p:nvSpPr>
        <p:spPr>
          <a:xfrm>
            <a:off x="6263662" y="5633884"/>
            <a:ext cx="9525" cy="1257293"/>
          </a:xfrm>
          <a:prstGeom prst="rect">
            <a:avLst/>
          </a:prstGeom>
          <a:solidFill>
            <a:srgbClr val="FFFFFF">
              <a:alpha val="2196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6"/>
          <p:cNvSpPr/>
          <p:nvPr/>
        </p:nvSpPr>
        <p:spPr>
          <a:xfrm>
            <a:off x="6802577" y="5860956"/>
            <a:ext cx="4777831" cy="841250"/>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FFFFFF"/>
              </a:buClr>
              <a:buSzPts val="2550"/>
              <a:buFont typeface="Arial"/>
              <a:buNone/>
            </a:pPr>
            <a:r>
              <a:rPr b="1" i="0" lang="en-US" sz="2550" u="none" cap="none" strike="noStrike">
                <a:solidFill>
                  <a:srgbClr val="FFFFFF"/>
                </a:solidFill>
                <a:latin typeface="Arial"/>
                <a:ea typeface="Arial"/>
                <a:cs typeface="Arial"/>
                <a:sym typeface="Arial"/>
              </a:rPr>
              <a:t>ONE HIGH-VALUE OBJECTIVE</a:t>
            </a:r>
            <a:endParaRPr b="0" i="0" sz="2550" u="none" cap="none" strike="noStrike">
              <a:solidFill>
                <a:schemeClr val="dk1"/>
              </a:solidFill>
              <a:latin typeface="Calibri"/>
              <a:ea typeface="Calibri"/>
              <a:cs typeface="Calibri"/>
              <a:sym typeface="Calibri"/>
            </a:endParaRPr>
          </a:p>
        </p:txBody>
      </p:sp>
      <p:sp>
        <p:nvSpPr>
          <p:cNvPr id="456" name="Google Shape;456;p16"/>
          <p:cNvSpPr/>
          <p:nvPr/>
        </p:nvSpPr>
        <p:spPr>
          <a:xfrm>
            <a:off x="12018611" y="5633884"/>
            <a:ext cx="9525" cy="1257293"/>
          </a:xfrm>
          <a:prstGeom prst="rect">
            <a:avLst/>
          </a:prstGeom>
          <a:solidFill>
            <a:srgbClr val="FFFFFF">
              <a:alpha val="2196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6"/>
          <p:cNvSpPr/>
          <p:nvPr/>
        </p:nvSpPr>
        <p:spPr>
          <a:xfrm>
            <a:off x="12557525" y="6061743"/>
            <a:ext cx="4832289" cy="439675"/>
          </a:xfrm>
          <a:prstGeom prst="rect">
            <a:avLst/>
          </a:prstGeom>
          <a:noFill/>
          <a:ln>
            <a:noFill/>
          </a:ln>
        </p:spPr>
        <p:txBody>
          <a:bodyPr anchorCtr="0" anchor="t" bIns="25400" lIns="25400" spcFirstLastPara="1" rIns="25400" wrap="square" tIns="25400">
            <a:normAutofit/>
          </a:bodyPr>
          <a:lstStyle/>
          <a:p>
            <a:pPr indent="0" lvl="0" marL="0" marR="0" rtl="0" algn="l">
              <a:lnSpc>
                <a:spcPct val="108000"/>
              </a:lnSpc>
              <a:spcBef>
                <a:spcPts val="0"/>
              </a:spcBef>
              <a:spcAft>
                <a:spcPts val="0"/>
              </a:spcAft>
              <a:buClr>
                <a:srgbClr val="FFFFFF"/>
              </a:buClr>
              <a:buSzPts val="2550"/>
              <a:buFont typeface="Arial"/>
              <a:buNone/>
            </a:pPr>
            <a:r>
              <a:rPr b="1" i="0" lang="en-US" sz="2550" u="none" cap="none" strike="noStrike">
                <a:solidFill>
                  <a:srgbClr val="FFFFFF"/>
                </a:solidFill>
                <a:latin typeface="Arial"/>
                <a:ea typeface="Arial"/>
                <a:cs typeface="Arial"/>
                <a:sym typeface="Arial"/>
              </a:rPr>
              <a:t>8–12 WEEK PAID PILOT</a:t>
            </a:r>
            <a:endParaRPr b="0" i="0" sz="2550" u="none" cap="none" strike="noStrike">
              <a:solidFill>
                <a:schemeClr val="dk1"/>
              </a:solidFill>
              <a:latin typeface="Calibri"/>
              <a:ea typeface="Calibri"/>
              <a:cs typeface="Calibri"/>
              <a:sym typeface="Calibri"/>
            </a:endParaRPr>
          </a:p>
        </p:txBody>
      </p:sp>
      <p:sp>
        <p:nvSpPr>
          <p:cNvPr id="458" name="Google Shape;458;p16"/>
          <p:cNvSpPr/>
          <p:nvPr/>
        </p:nvSpPr>
        <p:spPr>
          <a:xfrm>
            <a:off x="1047715" y="7620609"/>
            <a:ext cx="17811749" cy="667878"/>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38AFD8"/>
              </a:buClr>
              <a:buSzPts val="4350"/>
              <a:buFont typeface="Georgia"/>
              <a:buNone/>
            </a:pPr>
            <a:r>
              <a:rPr b="0" i="0" lang="en-US" sz="4350" u="none" cap="none" strike="noStrike">
                <a:solidFill>
                  <a:srgbClr val="38AFD8"/>
                </a:solidFill>
                <a:latin typeface="Georgia"/>
                <a:ea typeface="Georgia"/>
                <a:cs typeface="Georgia"/>
                <a:sym typeface="Georgia"/>
              </a:rPr>
              <a:t>Select the first process-development problem.</a:t>
            </a:r>
            <a:endParaRPr b="0" i="0" sz="4350" u="none" cap="none" strike="noStrike">
              <a:solidFill>
                <a:schemeClr val="dk1"/>
              </a:solidFill>
              <a:latin typeface="Calibri"/>
              <a:ea typeface="Calibri"/>
              <a:cs typeface="Calibri"/>
              <a:sym typeface="Calibri"/>
            </a:endParaRPr>
          </a:p>
        </p:txBody>
      </p:sp>
      <p:pic>
        <p:nvPicPr>
          <p:cNvPr descr="preencoded.png" id="459" name="Google Shape;459;p16"/>
          <p:cNvPicPr preferRelativeResize="0"/>
          <p:nvPr/>
        </p:nvPicPr>
        <p:blipFill rotWithShape="1">
          <a:blip r:embed="rId3">
            <a:alphaModFix amt="80000"/>
          </a:blip>
          <a:srcRect b="0" l="0" r="0" t="0"/>
          <a:stretch/>
        </p:blipFill>
        <p:spPr>
          <a:xfrm>
            <a:off x="1047715" y="9772699"/>
            <a:ext cx="1317434" cy="38094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2026-07-29T18:30:00Z</dcterms:created>
  <dc:creator>PptxGenJS</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1CB46D789EE945E293227441FC27E602_13</vt:lpwstr>
  </property>
</Properties>
</file>